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1097280"/>
            <a:ext cx="8046720" cy="365760"/>
          </a:xfrm>
          <a:prstGeom prst="rect">
            <a:avLst/>
          </a:prstGeom>
          <a:noFill/>
          <a:ln/>
        </p:spPr>
        <p:txBody>
          <a:bodyPr wrap="square" rtlCol="0" anchor="ctr"/>
          <a:lstStyle/>
          <a:p>
            <a:pPr indent="0" marL="0">
              <a:buNone/>
            </a:pPr>
            <a:r>
              <a:rPr lang="en-US" sz="1200" b="1" dirty="0">
                <a:solidFill>
                  <a:srgbClr val="D93025"/>
                </a:solidFill>
                <a:latin typeface="Helvetica Neue" pitchFamily="34" charset="0"/>
                <a:ea typeface="Helvetica Neue" pitchFamily="34" charset="-122"/>
                <a:cs typeface="Helvetica Neue" pitchFamily="34" charset="-120"/>
              </a:rPr>
              <a:t>LENS PROJECT</a:t>
            </a:r>
            <a:endParaRPr lang="en-US" sz="1200" dirty="0"/>
          </a:p>
        </p:txBody>
      </p:sp>
      <p:sp>
        <p:nvSpPr>
          <p:cNvPr id="3" name="Text 1"/>
          <p:cNvSpPr/>
          <p:nvPr/>
        </p:nvSpPr>
        <p:spPr>
          <a:xfrm>
            <a:off x="548640" y="1554480"/>
            <a:ext cx="8046720" cy="731520"/>
          </a:xfrm>
          <a:prstGeom prst="rect">
            <a:avLst/>
          </a:prstGeom>
          <a:noFill/>
          <a:ln/>
        </p:spPr>
        <p:txBody>
          <a:bodyPr wrap="square" rtlCol="0" anchor="ctr"/>
          <a:lstStyle/>
          <a:p>
            <a:pPr indent="0" marL="0">
              <a:buNone/>
            </a:pPr>
            <a:r>
              <a:rPr lang="en-US" sz="3600" b="1" dirty="0">
                <a:solidFill>
                  <a:srgbClr val="F2F2F2"/>
                </a:solidFill>
                <a:latin typeface="Helvetica Neue" pitchFamily="34" charset="0"/>
                <a:ea typeface="Helvetica Neue" pitchFamily="34" charset="-122"/>
                <a:cs typeface="Helvetica Neue" pitchFamily="34" charset="-120"/>
              </a:rPr>
              <a:t>The Moat Argument</a:t>
            </a:r>
            <a:endParaRPr lang="en-US" sz="3600" dirty="0"/>
          </a:p>
        </p:txBody>
      </p:sp>
      <p:sp>
        <p:nvSpPr>
          <p:cNvPr id="4" name="Text 2"/>
          <p:cNvSpPr/>
          <p:nvPr/>
        </p:nvSpPr>
        <p:spPr>
          <a:xfrm>
            <a:off x="548640" y="2377440"/>
            <a:ext cx="8046720" cy="457200"/>
          </a:xfrm>
          <a:prstGeom prst="rect">
            <a:avLst/>
          </a:prstGeom>
          <a:noFill/>
          <a:ln/>
        </p:spPr>
        <p:txBody>
          <a:bodyPr wrap="square" rtlCol="0" anchor="ctr"/>
          <a:lstStyle/>
          <a:p>
            <a:pPr indent="0" marL="0">
              <a:buNone/>
            </a:pPr>
            <a:r>
              <a:rPr lang="en-US" sz="1600" i="1" dirty="0">
                <a:solidFill>
                  <a:srgbClr val="777777"/>
                </a:solidFill>
                <a:latin typeface="Helvetica Neue" pitchFamily="34" charset="0"/>
                <a:ea typeface="Helvetica Neue" pitchFamily="34" charset="-122"/>
                <a:cs typeface="Helvetica Neue" pitchFamily="34" charset="-120"/>
              </a:rPr>
              <a:t>Why this isn’t a thin wrapper.</a:t>
            </a:r>
            <a:endParaRPr lang="en-US" sz="1600" dirty="0"/>
          </a:p>
        </p:txBody>
      </p:sp>
      <p:sp>
        <p:nvSpPr>
          <p:cNvPr id="5" name="Shape 3"/>
          <p:cNvSpPr/>
          <p:nvPr/>
        </p:nvSpPr>
        <p:spPr>
          <a:xfrm>
            <a:off x="548640" y="3108960"/>
            <a:ext cx="8046720" cy="9144"/>
          </a:xfrm>
          <a:prstGeom prst="rect">
            <a:avLst/>
          </a:prstGeom>
          <a:solidFill>
            <a:srgbClr val="222222"/>
          </a:solidFill>
          <a:ln/>
        </p:spPr>
      </p:sp>
      <p:sp>
        <p:nvSpPr>
          <p:cNvPr id="6" name="Text 4"/>
          <p:cNvSpPr/>
          <p:nvPr/>
        </p:nvSpPr>
        <p:spPr>
          <a:xfrm>
            <a:off x="548640" y="4389120"/>
            <a:ext cx="8046720" cy="274320"/>
          </a:xfrm>
          <a:prstGeom prst="rect">
            <a:avLst/>
          </a:prstGeom>
          <a:noFill/>
          <a:ln/>
        </p:spPr>
        <p:txBody>
          <a:bodyPr wrap="square" rtlCol="0" anchor="ctr"/>
          <a:lstStyle/>
          <a:p>
            <a:pPr indent="0" marL="0">
              <a:buNone/>
            </a:pPr>
            <a:r>
              <a:rPr lang="en-US" sz="1000" dirty="0">
                <a:solidFill>
                  <a:srgbClr val="444444"/>
                </a:solidFill>
                <a:latin typeface="Helvetica Neue" pitchFamily="34" charset="0"/>
                <a:ea typeface="Helvetica Neue" pitchFamily="34" charset="-122"/>
                <a:cs typeface="Helvetica Neue" pitchFamily="34" charset="-120"/>
              </a:rPr>
              <a:t>Eric Zelman  |  April 2026  |  Confidential</a:t>
            </a:r>
            <a:endParaRPr lang="en-US" sz="1000" dirty="0"/>
          </a:p>
        </p:txBody>
      </p:sp>
      <p:sp>
        <p:nvSpPr>
          <p:cNvPr id="7" name="Text 5"/>
          <p:cNvSpPr/>
          <p:nvPr/>
        </p:nvSpPr>
        <p:spPr>
          <a:xfrm>
            <a:off x="8229600" y="4709160"/>
            <a:ext cx="731520" cy="274320"/>
          </a:xfrm>
          <a:prstGeom prst="rect">
            <a:avLst/>
          </a:prstGeom>
          <a:noFill/>
          <a:ln/>
        </p:spPr>
        <p:txBody>
          <a:bodyPr wrap="square" rtlCol="0" anchor="ctr"/>
          <a:lstStyle/>
          <a:p>
            <a:pPr algn="r" indent="0" marL="0">
              <a:buNone/>
            </a:pPr>
            <a:r>
              <a:rPr lang="en-US" sz="900" dirty="0">
                <a:solidFill>
                  <a:srgbClr val="444444"/>
                </a:solidFill>
                <a:latin typeface="Consolas" pitchFamily="34" charset="0"/>
                <a:ea typeface="Consolas" pitchFamily="34" charset="-122"/>
                <a:cs typeface="Consolas" pitchFamily="34" charset="-120"/>
              </a:rPr>
              <a:t>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65760"/>
            <a:ext cx="8046720" cy="365760"/>
          </a:xfrm>
          <a:prstGeom prst="rect">
            <a:avLst/>
          </a:prstGeom>
          <a:noFill/>
          <a:ln/>
        </p:spPr>
        <p:txBody>
          <a:bodyPr wrap="square" rtlCol="0" anchor="ctr"/>
          <a:lstStyle/>
          <a:p>
            <a:pPr indent="0" marL="0">
              <a:buNone/>
            </a:pPr>
            <a:r>
              <a:rPr lang="en-US" sz="1200" b="1" dirty="0">
                <a:solidFill>
                  <a:srgbClr val="D93025"/>
                </a:solidFill>
                <a:latin typeface="Helvetica Neue" pitchFamily="34" charset="0"/>
                <a:ea typeface="Helvetica Neue" pitchFamily="34" charset="-122"/>
                <a:cs typeface="Helvetica Neue" pitchFamily="34" charset="-120"/>
              </a:rPr>
              <a:t>THE CHALLENGE</a:t>
            </a:r>
            <a:endParaRPr lang="en-US" sz="1200" dirty="0"/>
          </a:p>
        </p:txBody>
      </p:sp>
      <p:sp>
        <p:nvSpPr>
          <p:cNvPr id="3" name="Text 1"/>
          <p:cNvSpPr/>
          <p:nvPr/>
        </p:nvSpPr>
        <p:spPr>
          <a:xfrm>
            <a:off x="548640" y="1005840"/>
            <a:ext cx="8046720" cy="1280160"/>
          </a:xfrm>
          <a:prstGeom prst="rect">
            <a:avLst/>
          </a:prstGeom>
          <a:noFill/>
          <a:ln/>
        </p:spPr>
        <p:txBody>
          <a:bodyPr wrap="square" rtlCol="0" anchor="ctr"/>
          <a:lstStyle/>
          <a:p>
            <a:pPr indent="0" marL="0">
              <a:buNone/>
            </a:pPr>
            <a:r>
              <a:rPr lang="en-US" sz="2800" i="1" dirty="0">
                <a:solidFill>
                  <a:srgbClr val="F2F2F2"/>
                </a:solidFill>
                <a:latin typeface="Helvetica Neue" pitchFamily="34" charset="0"/>
                <a:ea typeface="Helvetica Neue" pitchFamily="34" charset="-122"/>
                <a:cs typeface="Helvetica Neue" pitchFamily="34" charset="-120"/>
              </a:rPr>
              <a:t>“The only defensible moat</a:t>
            </a:r>
            <a:endParaRPr lang="en-US" sz="2800" dirty="0"/>
          </a:p>
          <a:p>
            <a:pPr indent="0" marL="0">
              <a:buNone/>
            </a:pPr>
            <a:r>
              <a:rPr lang="en-US" sz="2800" i="1" dirty="0">
                <a:solidFill>
                  <a:srgbClr val="F2F2F2"/>
                </a:solidFill>
                <a:latin typeface="Helvetica Neue" pitchFamily="34" charset="0"/>
                <a:ea typeface="Helvetica Neue" pitchFamily="34" charset="-122"/>
                <a:cs typeface="Helvetica Neue" pitchFamily="34" charset="-120"/>
              </a:rPr>
              <a:t>right now is tokens.”</a:t>
            </a:r>
            <a:endParaRPr lang="en-US" sz="2800" dirty="0"/>
          </a:p>
        </p:txBody>
      </p:sp>
      <p:sp>
        <p:nvSpPr>
          <p:cNvPr id="4" name="Text 2"/>
          <p:cNvSpPr/>
          <p:nvPr/>
        </p:nvSpPr>
        <p:spPr>
          <a:xfrm>
            <a:off x="548640" y="2560320"/>
            <a:ext cx="8046720" cy="2011680"/>
          </a:xfrm>
          <a:prstGeom prst="rect">
            <a:avLst/>
          </a:prstGeom>
          <a:noFill/>
          <a:ln/>
        </p:spPr>
        <p:txBody>
          <a:bodyPr wrap="square" rtlCol="0" anchor="ctr"/>
          <a:lstStyle/>
          <a:p>
            <a:pPr indent="0" marL="0">
              <a:buNone/>
            </a:pPr>
            <a:r>
              <a:rPr lang="en-US" sz="1400" b="1" dirty="0">
                <a:solidFill>
                  <a:srgbClr val="F2F2F2"/>
                </a:solidFill>
              </a:rPr>
              <a:t>The argument:</a:t>
            </a:r>
            <a:endParaRPr lang="en-US" sz="1400" dirty="0"/>
          </a:p>
          <a:p>
            <a:pPr indent="0" marL="0">
              <a:buNone/>
            </a:pPr>
            <a:endParaRPr lang="en-US" sz="1400" dirty="0"/>
          </a:p>
          <a:p>
            <a:pPr indent="0" marL="0">
              <a:buNone/>
            </a:pPr>
            <a:r>
              <a:rPr lang="en-US" sz="1400" dirty="0">
                <a:solidFill>
                  <a:srgbClr val="777777"/>
                </a:solidFill>
              </a:rPr>
              <a:t>Any AI feature can be replicated in a weekend. The model is the commodity.</a:t>
            </a:r>
            <a:endParaRPr lang="en-US" sz="1400" dirty="0"/>
          </a:p>
          <a:p>
            <a:pPr indent="0" marL="0">
              <a:buNone/>
            </a:pPr>
            <a:r>
              <a:rPr lang="en-US" sz="1400" dirty="0">
                <a:solidFill>
                  <a:srgbClr val="777777"/>
                </a:solidFill>
              </a:rPr>
              <a:t>Everything built on top of GPT / Claude / Gemini is a thin wrapper.</a:t>
            </a:r>
            <a:endParaRPr lang="en-US" sz="1400" dirty="0"/>
          </a:p>
          <a:p>
            <a:pPr indent="0" marL="0">
              <a:buNone/>
            </a:pPr>
            <a:r>
              <a:rPr lang="en-US" sz="1400" dirty="0">
                <a:solidFill>
                  <a:srgbClr val="777777"/>
                </a:solidFill>
              </a:rPr>
              <a:t>SaaS margins compress to zero when the differentiator is a prompt.</a:t>
            </a:r>
            <a:endParaRPr lang="en-US" sz="1400" dirty="0"/>
          </a:p>
        </p:txBody>
      </p:sp>
      <p:sp>
        <p:nvSpPr>
          <p:cNvPr id="5" name="Text 3"/>
          <p:cNvSpPr/>
          <p:nvPr/>
        </p:nvSpPr>
        <p:spPr>
          <a:xfrm>
            <a:off x="548640" y="4480560"/>
            <a:ext cx="8046720" cy="365760"/>
          </a:xfrm>
          <a:prstGeom prst="rect">
            <a:avLst/>
          </a:prstGeom>
          <a:noFill/>
          <a:ln/>
        </p:spPr>
        <p:txBody>
          <a:bodyPr wrap="square" rtlCol="0" anchor="ctr"/>
          <a:lstStyle/>
          <a:p>
            <a:pPr indent="0" marL="0">
              <a:buNone/>
            </a:pPr>
            <a:r>
              <a:rPr lang="en-US" sz="1200" dirty="0">
                <a:solidFill>
                  <a:srgbClr val="D93025"/>
                </a:solidFill>
                <a:latin typeface="Helvetica Neue" pitchFamily="34" charset="0"/>
                <a:ea typeface="Helvetica Neue" pitchFamily="34" charset="-122"/>
                <a:cs typeface="Helvetica Neue" pitchFamily="34" charset="-120"/>
              </a:rPr>
              <a:t>This is correct for most AI SaaS. Here’s why Lens is different.</a:t>
            </a:r>
            <a:endParaRPr lang="en-US" sz="1200" dirty="0"/>
          </a:p>
        </p:txBody>
      </p:sp>
      <p:sp>
        <p:nvSpPr>
          <p:cNvPr id="6" name="Text 4"/>
          <p:cNvSpPr/>
          <p:nvPr/>
        </p:nvSpPr>
        <p:spPr>
          <a:xfrm>
            <a:off x="8229600" y="4709160"/>
            <a:ext cx="731520" cy="274320"/>
          </a:xfrm>
          <a:prstGeom prst="rect">
            <a:avLst/>
          </a:prstGeom>
          <a:noFill/>
          <a:ln/>
        </p:spPr>
        <p:txBody>
          <a:bodyPr wrap="square" rtlCol="0" anchor="ctr"/>
          <a:lstStyle/>
          <a:p>
            <a:pPr algn="r" indent="0" marL="0">
              <a:buNone/>
            </a:pPr>
            <a:r>
              <a:rPr lang="en-US" sz="900" dirty="0">
                <a:solidFill>
                  <a:srgbClr val="444444"/>
                </a:solidFill>
                <a:latin typeface="Consolas" pitchFamily="34" charset="0"/>
                <a:ea typeface="Consolas" pitchFamily="34" charset="-122"/>
                <a:cs typeface="Consolas" pitchFamily="34" charset="-120"/>
              </a:rPr>
              <a:t>2/7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65760"/>
            <a:ext cx="8046720" cy="365760"/>
          </a:xfrm>
          <a:prstGeom prst="rect">
            <a:avLst/>
          </a:prstGeom>
          <a:noFill/>
          <a:ln/>
        </p:spPr>
        <p:txBody>
          <a:bodyPr wrap="square" rtlCol="0" anchor="ctr"/>
          <a:lstStyle/>
          <a:p>
            <a:pPr indent="0" marL="0">
              <a:buNone/>
            </a:pPr>
            <a:r>
              <a:rPr lang="en-US" sz="1200" b="1" dirty="0">
                <a:solidFill>
                  <a:srgbClr val="D93025"/>
                </a:solidFill>
                <a:latin typeface="Helvetica Neue" pitchFamily="34" charset="0"/>
                <a:ea typeface="Helvetica Neue" pitchFamily="34" charset="-122"/>
                <a:cs typeface="Helvetica Neue" pitchFamily="34" charset="-120"/>
              </a:rPr>
              <a:t>THE MOAT</a:t>
            </a:r>
            <a:endParaRPr lang="en-US" sz="1200" dirty="0"/>
          </a:p>
        </p:txBody>
      </p:sp>
      <p:sp>
        <p:nvSpPr>
          <p:cNvPr id="3" name="Text 1"/>
          <p:cNvSpPr/>
          <p:nvPr/>
        </p:nvSpPr>
        <p:spPr>
          <a:xfrm>
            <a:off x="548640" y="914400"/>
            <a:ext cx="8046720" cy="1097280"/>
          </a:xfrm>
          <a:prstGeom prst="rect">
            <a:avLst/>
          </a:prstGeom>
          <a:noFill/>
          <a:ln/>
        </p:spPr>
        <p:txBody>
          <a:bodyPr wrap="square" rtlCol="0" anchor="ctr"/>
          <a:lstStyle/>
          <a:p>
            <a:pPr indent="0" marL="0">
              <a:buNone/>
            </a:pPr>
            <a:r>
              <a:rPr lang="en-US" sz="2800" b="1" dirty="0">
                <a:solidFill>
                  <a:srgbClr val="F2F2F2"/>
                </a:solidFill>
                <a:latin typeface="Helvetica Neue" pitchFamily="34" charset="0"/>
                <a:ea typeface="Helvetica Neue" pitchFamily="34" charset="-122"/>
                <a:cs typeface="Helvetica Neue" pitchFamily="34" charset="-120"/>
              </a:rPr>
              <a:t>The moat isn’t the AI.</a:t>
            </a:r>
            <a:endParaRPr lang="en-US" sz="2800" dirty="0"/>
          </a:p>
          <a:p>
            <a:pPr indent="0" marL="0">
              <a:buNone/>
            </a:pPr>
            <a:r>
              <a:rPr lang="en-US" sz="2800" b="1" dirty="0">
                <a:solidFill>
                  <a:srgbClr val="F2F2F2"/>
                </a:solidFill>
                <a:latin typeface="Helvetica Neue" pitchFamily="34" charset="0"/>
                <a:ea typeface="Helvetica Neue" pitchFamily="34" charset="-122"/>
                <a:cs typeface="Helvetica Neue" pitchFamily="34" charset="-120"/>
              </a:rPr>
              <a:t>It’s the data the AI creates.</a:t>
            </a:r>
            <a:endParaRPr lang="en-US" sz="2800" dirty="0"/>
          </a:p>
        </p:txBody>
      </p:sp>
      <p:sp>
        <p:nvSpPr>
          <p:cNvPr id="4" name="Shape 2"/>
          <p:cNvSpPr/>
          <p:nvPr/>
        </p:nvSpPr>
        <p:spPr>
          <a:xfrm>
            <a:off x="548640" y="2194560"/>
            <a:ext cx="8046720" cy="9144"/>
          </a:xfrm>
          <a:prstGeom prst="rect">
            <a:avLst/>
          </a:prstGeom>
          <a:solidFill>
            <a:srgbClr val="222222"/>
          </a:solidFill>
          <a:ln/>
        </p:spPr>
      </p:sp>
      <p:sp>
        <p:nvSpPr>
          <p:cNvPr id="5" name="Text 3"/>
          <p:cNvSpPr/>
          <p:nvPr/>
        </p:nvSpPr>
        <p:spPr>
          <a:xfrm>
            <a:off x="548640" y="2468880"/>
            <a:ext cx="8046720" cy="2560320"/>
          </a:xfrm>
          <a:prstGeom prst="rect">
            <a:avLst/>
          </a:prstGeom>
          <a:noFill/>
          <a:ln/>
        </p:spPr>
        <p:txBody>
          <a:bodyPr wrap="square" rtlCol="0" anchor="ctr"/>
          <a:lstStyle/>
          <a:p>
            <a:pPr indent="0" marL="0">
              <a:buNone/>
            </a:pPr>
            <a:r>
              <a:rPr lang="en-US" sz="1400" dirty="0">
                <a:solidFill>
                  <a:srgbClr val="F2F2F2"/>
                </a:solidFill>
              </a:rPr>
              <a:t>Every completed lens = a proprietary data point that exists nowhere else.</a:t>
            </a:r>
            <a:endParaRPr lang="en-US" sz="1400" dirty="0"/>
          </a:p>
          <a:p>
            <a:pPr indent="0" marL="0">
              <a:buNone/>
            </a:pPr>
            <a:endParaRPr lang="en-US" sz="1400" dirty="0"/>
          </a:p>
          <a:p>
            <a:pPr indent="0" marL="0">
              <a:buNone/>
            </a:pPr>
            <a:r>
              <a:rPr lang="en-US" sz="1300" dirty="0">
                <a:solidFill>
                  <a:srgbClr val="777777"/>
                </a:solidFill>
              </a:rPr>
              <a:t>No public dataset contains structured career identity profiles — values, energy, dealbreakers, work style — from coached discovery.</a:t>
            </a:r>
            <a:endParaRPr lang="en-US" sz="1400" dirty="0"/>
          </a:p>
          <a:p>
            <a:pPr indent="0" marL="0">
              <a:buNone/>
            </a:pPr>
            <a:endParaRPr lang="en-US" sz="1400" dirty="0"/>
          </a:p>
          <a:p>
            <a:pPr indent="0" marL="0">
              <a:buNone/>
            </a:pPr>
            <a:r>
              <a:rPr lang="en-US" sz="1300" dirty="0">
                <a:solidFill>
                  <a:srgbClr val="777777"/>
                </a:solidFill>
              </a:rPr>
              <a:t>Every user decision (pursue / skip / accept / decline) trains the model on what actually predicts fit.</a:t>
            </a:r>
            <a:endParaRPr lang="en-US" sz="1400" dirty="0"/>
          </a:p>
          <a:p>
            <a:pPr indent="0" marL="0">
              <a:buNone/>
            </a:pPr>
            <a:endParaRPr lang="en-US" sz="1400" dirty="0"/>
          </a:p>
          <a:p>
            <a:pPr indent="0" marL="0">
              <a:buNone/>
            </a:pPr>
            <a:r>
              <a:rPr lang="en-US" sz="1400" b="1" dirty="0">
                <a:solidFill>
                  <a:srgbClr val="F2F2F2"/>
                </a:solidFill>
              </a:rPr>
              <a:t>A competitor can copy the product. They cannot copy the accumulated scoring intelligence.</a:t>
            </a:r>
            <a:endParaRPr lang="en-US" sz="1400" dirty="0"/>
          </a:p>
        </p:txBody>
      </p:sp>
      <p:sp>
        <p:nvSpPr>
          <p:cNvPr id="6" name="Text 4"/>
          <p:cNvSpPr/>
          <p:nvPr/>
        </p:nvSpPr>
        <p:spPr>
          <a:xfrm>
            <a:off x="8229600" y="4709160"/>
            <a:ext cx="731520" cy="274320"/>
          </a:xfrm>
          <a:prstGeom prst="rect">
            <a:avLst/>
          </a:prstGeom>
          <a:noFill/>
          <a:ln/>
        </p:spPr>
        <p:txBody>
          <a:bodyPr wrap="square" rtlCol="0" anchor="ctr"/>
          <a:lstStyle/>
          <a:p>
            <a:pPr algn="r" indent="0" marL="0">
              <a:buNone/>
            </a:pPr>
            <a:r>
              <a:rPr lang="en-US" sz="900" dirty="0">
                <a:solidFill>
                  <a:srgbClr val="444444"/>
                </a:solidFill>
                <a:latin typeface="Consolas" pitchFamily="34" charset="0"/>
                <a:ea typeface="Consolas" pitchFamily="34" charset="-122"/>
                <a:cs typeface="Consolas" pitchFamily="34" charset="-120"/>
              </a:rPr>
              <a:t>3/7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65760"/>
            <a:ext cx="8046720" cy="365760"/>
          </a:xfrm>
          <a:prstGeom prst="rect">
            <a:avLst/>
          </a:prstGeom>
          <a:noFill/>
          <a:ln/>
        </p:spPr>
        <p:txBody>
          <a:bodyPr wrap="square" rtlCol="0" anchor="ctr"/>
          <a:lstStyle/>
          <a:p>
            <a:pPr indent="0" marL="0">
              <a:buNone/>
            </a:pPr>
            <a:r>
              <a:rPr lang="en-US" sz="1200" b="1" dirty="0">
                <a:solidFill>
                  <a:srgbClr val="D93025"/>
                </a:solidFill>
                <a:latin typeface="Helvetica Neue" pitchFamily="34" charset="0"/>
                <a:ea typeface="Helvetica Neue" pitchFamily="34" charset="-122"/>
                <a:cs typeface="Helvetica Neue" pitchFamily="34" charset="-120"/>
              </a:rPr>
              <a:t>THREE LAYERS OF DEFENSIBILITY</a:t>
            </a:r>
            <a:endParaRPr lang="en-US" sz="1200" dirty="0"/>
          </a:p>
        </p:txBody>
      </p:sp>
      <p:sp>
        <p:nvSpPr>
          <p:cNvPr id="3" name="Text 1"/>
          <p:cNvSpPr/>
          <p:nvPr/>
        </p:nvSpPr>
        <p:spPr>
          <a:xfrm>
            <a:off x="548640" y="1005840"/>
            <a:ext cx="365760" cy="365760"/>
          </a:xfrm>
          <a:prstGeom prst="rect">
            <a:avLst/>
          </a:prstGeom>
          <a:noFill/>
          <a:ln/>
        </p:spPr>
        <p:txBody>
          <a:bodyPr wrap="square" rtlCol="0" anchor="ctr"/>
          <a:lstStyle/>
          <a:p>
            <a:pPr indent="0" marL="0">
              <a:buNone/>
            </a:pPr>
            <a:r>
              <a:rPr lang="en-US" sz="2000" b="1" dirty="0">
                <a:solidFill>
                  <a:srgbClr val="D93025"/>
                </a:solidFill>
                <a:latin typeface="Consolas" pitchFamily="34" charset="0"/>
                <a:ea typeface="Consolas" pitchFamily="34" charset="-122"/>
                <a:cs typeface="Consolas" pitchFamily="34" charset="-120"/>
              </a:rPr>
              <a:t>1</a:t>
            </a:r>
            <a:endParaRPr lang="en-US" sz="2000" dirty="0"/>
          </a:p>
        </p:txBody>
      </p:sp>
      <p:sp>
        <p:nvSpPr>
          <p:cNvPr id="4" name="Text 2"/>
          <p:cNvSpPr/>
          <p:nvPr/>
        </p:nvSpPr>
        <p:spPr>
          <a:xfrm>
            <a:off x="1005840" y="1005840"/>
            <a:ext cx="3200400" cy="365760"/>
          </a:xfrm>
          <a:prstGeom prst="rect">
            <a:avLst/>
          </a:prstGeom>
          <a:noFill/>
          <a:ln/>
        </p:spPr>
        <p:txBody>
          <a:bodyPr wrap="square" rtlCol="0" anchor="ctr"/>
          <a:lstStyle/>
          <a:p>
            <a:pPr indent="0" marL="0">
              <a:buNone/>
            </a:pPr>
            <a:r>
              <a:rPr lang="en-US" sz="1600" b="1" dirty="0">
                <a:solidFill>
                  <a:srgbClr val="F2F2F2"/>
                </a:solidFill>
                <a:latin typeface="Helvetica Neue" pitchFamily="34" charset="0"/>
                <a:ea typeface="Helvetica Neue" pitchFamily="34" charset="-122"/>
                <a:cs typeface="Helvetica Neue" pitchFamily="34" charset="-120"/>
              </a:rPr>
              <a:t>Data network effect</a:t>
            </a:r>
            <a:endParaRPr lang="en-US" sz="1600" dirty="0"/>
          </a:p>
        </p:txBody>
      </p:sp>
      <p:sp>
        <p:nvSpPr>
          <p:cNvPr id="5" name="Text 3"/>
          <p:cNvSpPr/>
          <p:nvPr/>
        </p:nvSpPr>
        <p:spPr>
          <a:xfrm>
            <a:off x="1005840" y="1417320"/>
            <a:ext cx="7589520" cy="731520"/>
          </a:xfrm>
          <a:prstGeom prst="rect">
            <a:avLst/>
          </a:prstGeom>
          <a:noFill/>
          <a:ln/>
        </p:spPr>
        <p:txBody>
          <a:bodyPr wrap="square" rtlCol="0" anchor="ctr"/>
          <a:lstStyle/>
          <a:p>
            <a:pPr indent="0" marL="0">
              <a:buNone/>
            </a:pPr>
            <a:r>
              <a:rPr lang="en-US" sz="1200" dirty="0">
                <a:solidFill>
                  <a:srgbClr val="777777"/>
                </a:solidFill>
                <a:latin typeface="Helvetica Neue" pitchFamily="34" charset="0"/>
                <a:ea typeface="Helvetica Neue" pitchFamily="34" charset="-122"/>
                <a:cs typeface="Helvetica Neue" pitchFamily="34" charset="-120"/>
              </a:rPr>
              <a:t>More lenses → better scoring → more users → more lenses. Same moat that made Waze valuable despite Google having better maps. The user-generated data layer is the asset.</a:t>
            </a:r>
            <a:endParaRPr lang="en-US" sz="1200" dirty="0"/>
          </a:p>
        </p:txBody>
      </p:sp>
      <p:sp>
        <p:nvSpPr>
          <p:cNvPr id="6" name="Text 4"/>
          <p:cNvSpPr/>
          <p:nvPr/>
        </p:nvSpPr>
        <p:spPr>
          <a:xfrm>
            <a:off x="548640" y="2377440"/>
            <a:ext cx="365760" cy="365760"/>
          </a:xfrm>
          <a:prstGeom prst="rect">
            <a:avLst/>
          </a:prstGeom>
          <a:noFill/>
          <a:ln/>
        </p:spPr>
        <p:txBody>
          <a:bodyPr wrap="square" rtlCol="0" anchor="ctr"/>
          <a:lstStyle/>
          <a:p>
            <a:pPr indent="0" marL="0">
              <a:buNone/>
            </a:pPr>
            <a:r>
              <a:rPr lang="en-US" sz="2000" b="1" dirty="0">
                <a:solidFill>
                  <a:srgbClr val="D93025"/>
                </a:solidFill>
                <a:latin typeface="Consolas" pitchFamily="34" charset="0"/>
                <a:ea typeface="Consolas" pitchFamily="34" charset="-122"/>
                <a:cs typeface="Consolas" pitchFamily="34" charset="-120"/>
              </a:rPr>
              <a:t>2</a:t>
            </a:r>
            <a:endParaRPr lang="en-US" sz="2000" dirty="0"/>
          </a:p>
        </p:txBody>
      </p:sp>
      <p:sp>
        <p:nvSpPr>
          <p:cNvPr id="7" name="Text 5"/>
          <p:cNvSpPr/>
          <p:nvPr/>
        </p:nvSpPr>
        <p:spPr>
          <a:xfrm>
            <a:off x="1005840" y="2377440"/>
            <a:ext cx="3200400" cy="365760"/>
          </a:xfrm>
          <a:prstGeom prst="rect">
            <a:avLst/>
          </a:prstGeom>
          <a:noFill/>
          <a:ln/>
        </p:spPr>
        <p:txBody>
          <a:bodyPr wrap="square" rtlCol="0" anchor="ctr"/>
          <a:lstStyle/>
          <a:p>
            <a:pPr indent="0" marL="0">
              <a:buNone/>
            </a:pPr>
            <a:r>
              <a:rPr lang="en-US" sz="1600" b="1" dirty="0">
                <a:solidFill>
                  <a:srgbClr val="F2F2F2"/>
                </a:solidFill>
                <a:latin typeface="Helvetica Neue" pitchFamily="34" charset="0"/>
                <a:ea typeface="Helvetica Neue" pitchFamily="34" charset="-122"/>
                <a:cs typeface="Helvetica Neue" pitchFamily="34" charset="-120"/>
              </a:rPr>
              <a:t>Coach channel lock-in</a:t>
            </a:r>
            <a:endParaRPr lang="en-US" sz="1600" dirty="0"/>
          </a:p>
        </p:txBody>
      </p:sp>
      <p:sp>
        <p:nvSpPr>
          <p:cNvPr id="8" name="Text 6"/>
          <p:cNvSpPr/>
          <p:nvPr/>
        </p:nvSpPr>
        <p:spPr>
          <a:xfrm>
            <a:off x="1005840" y="2788920"/>
            <a:ext cx="7589520" cy="914400"/>
          </a:xfrm>
          <a:prstGeom prst="rect">
            <a:avLst/>
          </a:prstGeom>
          <a:noFill/>
          <a:ln/>
        </p:spPr>
        <p:txBody>
          <a:bodyPr wrap="square" rtlCol="0" anchor="ctr"/>
          <a:lstStyle/>
          <a:p>
            <a:pPr indent="0" marL="0">
              <a:buNone/>
            </a:pPr>
            <a:r>
              <a:rPr lang="en-US" sz="1200" dirty="0">
                <a:solidFill>
                  <a:srgbClr val="777777"/>
                </a:solidFill>
                <a:latin typeface="Helvetica Neue" pitchFamily="34" charset="0"/>
                <a:ea typeface="Helvetica Neue" pitchFamily="34" charset="-122"/>
                <a:cs typeface="Helvetica Neue" pitchFamily="34" charset="-120"/>
              </a:rPr>
              <a:t>Coaches encode their methodology as AI personas. Once embedded, switching costs are high — the coach’s method is in the system, their clients’ lenses are built on it, revenue share is flowing. Each coach added deepens the moat. This isn’t thin-wrapper AI — it’s domain-specific IP contributed by practitioners.</a:t>
            </a:r>
            <a:endParaRPr lang="en-US" sz="1200" dirty="0"/>
          </a:p>
        </p:txBody>
      </p:sp>
      <p:sp>
        <p:nvSpPr>
          <p:cNvPr id="9" name="Text 7"/>
          <p:cNvSpPr/>
          <p:nvPr/>
        </p:nvSpPr>
        <p:spPr>
          <a:xfrm>
            <a:off x="548640" y="3749040"/>
            <a:ext cx="365760" cy="365760"/>
          </a:xfrm>
          <a:prstGeom prst="rect">
            <a:avLst/>
          </a:prstGeom>
          <a:noFill/>
          <a:ln/>
        </p:spPr>
        <p:txBody>
          <a:bodyPr wrap="square" rtlCol="0" anchor="ctr"/>
          <a:lstStyle/>
          <a:p>
            <a:pPr indent="0" marL="0">
              <a:buNone/>
            </a:pPr>
            <a:r>
              <a:rPr lang="en-US" sz="2000" b="1" dirty="0">
                <a:solidFill>
                  <a:srgbClr val="D93025"/>
                </a:solidFill>
                <a:latin typeface="Consolas" pitchFamily="34" charset="0"/>
                <a:ea typeface="Consolas" pitchFamily="34" charset="-122"/>
                <a:cs typeface="Consolas" pitchFamily="34" charset="-120"/>
              </a:rPr>
              <a:t>3</a:t>
            </a:r>
            <a:endParaRPr lang="en-US" sz="2000" dirty="0"/>
          </a:p>
        </p:txBody>
      </p:sp>
      <p:sp>
        <p:nvSpPr>
          <p:cNvPr id="10" name="Text 8"/>
          <p:cNvSpPr/>
          <p:nvPr/>
        </p:nvSpPr>
        <p:spPr>
          <a:xfrm>
            <a:off x="1005840" y="3749040"/>
            <a:ext cx="3200400" cy="365760"/>
          </a:xfrm>
          <a:prstGeom prst="rect">
            <a:avLst/>
          </a:prstGeom>
          <a:noFill/>
          <a:ln/>
        </p:spPr>
        <p:txBody>
          <a:bodyPr wrap="square" rtlCol="0" anchor="ctr"/>
          <a:lstStyle/>
          <a:p>
            <a:pPr indent="0" marL="0">
              <a:buNone/>
            </a:pPr>
            <a:r>
              <a:rPr lang="en-US" sz="1600" b="1" dirty="0">
                <a:solidFill>
                  <a:srgbClr val="F2F2F2"/>
                </a:solidFill>
                <a:latin typeface="Helvetica Neue" pitchFamily="34" charset="0"/>
                <a:ea typeface="Helvetica Neue" pitchFamily="34" charset="-122"/>
                <a:cs typeface="Helvetica Neue" pitchFamily="34" charset="-120"/>
              </a:rPr>
              <a:t>Patent on the architecture</a:t>
            </a:r>
            <a:endParaRPr lang="en-US" sz="1600" dirty="0"/>
          </a:p>
        </p:txBody>
      </p:sp>
      <p:sp>
        <p:nvSpPr>
          <p:cNvPr id="11" name="Text 9"/>
          <p:cNvSpPr/>
          <p:nvPr/>
        </p:nvSpPr>
        <p:spPr>
          <a:xfrm>
            <a:off x="1005840" y="4160520"/>
            <a:ext cx="7589520" cy="731520"/>
          </a:xfrm>
          <a:prstGeom prst="rect">
            <a:avLst/>
          </a:prstGeom>
          <a:noFill/>
          <a:ln/>
        </p:spPr>
        <p:txBody>
          <a:bodyPr wrap="square" rtlCol="0" anchor="ctr"/>
          <a:lstStyle/>
          <a:p>
            <a:pPr indent="0" marL="0">
              <a:buNone/>
            </a:pPr>
            <a:r>
              <a:rPr lang="en-US" sz="1200" dirty="0">
                <a:solidFill>
                  <a:srgbClr val="777777"/>
                </a:solidFill>
                <a:latin typeface="Helvetica Neue" pitchFamily="34" charset="0"/>
                <a:ea typeface="Helvetica Neue" pitchFamily="34" charset="-122"/>
                <a:cs typeface="Helvetica Neue" pitchFamily="34" charset="-120"/>
              </a:rPr>
              <a:t>Provisional filed (App #64/015-187). Covers coached discovery → portable identity artifact → asymmetric bidirectional scoring → adaptive feedback loops. Competitors can build AI career coaching. They can’t replicate this specific architecture.</a:t>
            </a:r>
            <a:endParaRPr lang="en-US" sz="1200" dirty="0"/>
          </a:p>
        </p:txBody>
      </p:sp>
      <p:sp>
        <p:nvSpPr>
          <p:cNvPr id="12" name="Text 10"/>
          <p:cNvSpPr/>
          <p:nvPr/>
        </p:nvSpPr>
        <p:spPr>
          <a:xfrm>
            <a:off x="8229600" y="4709160"/>
            <a:ext cx="731520" cy="274320"/>
          </a:xfrm>
          <a:prstGeom prst="rect">
            <a:avLst/>
          </a:prstGeom>
          <a:noFill/>
          <a:ln/>
        </p:spPr>
        <p:txBody>
          <a:bodyPr wrap="square" rtlCol="0" anchor="ctr"/>
          <a:lstStyle/>
          <a:p>
            <a:pPr algn="r" indent="0" marL="0">
              <a:buNone/>
            </a:pPr>
            <a:r>
              <a:rPr lang="en-US" sz="900" dirty="0">
                <a:solidFill>
                  <a:srgbClr val="444444"/>
                </a:solidFill>
                <a:latin typeface="Consolas" pitchFamily="34" charset="0"/>
                <a:ea typeface="Consolas" pitchFamily="34" charset="-122"/>
                <a:cs typeface="Consolas" pitchFamily="34" charset="-120"/>
              </a:rPr>
              <a:t>4/7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65760"/>
            <a:ext cx="8046720" cy="365760"/>
          </a:xfrm>
          <a:prstGeom prst="rect">
            <a:avLst/>
          </a:prstGeom>
          <a:noFill/>
          <a:ln/>
        </p:spPr>
        <p:txBody>
          <a:bodyPr wrap="square" rtlCol="0" anchor="ctr"/>
          <a:lstStyle/>
          <a:p>
            <a:pPr indent="0" marL="0">
              <a:buNone/>
            </a:pPr>
            <a:r>
              <a:rPr lang="en-US" sz="1200" b="1" dirty="0">
                <a:solidFill>
                  <a:srgbClr val="D93025"/>
                </a:solidFill>
                <a:latin typeface="Helvetica Neue" pitchFamily="34" charset="0"/>
                <a:ea typeface="Helvetica Neue" pitchFamily="34" charset="-122"/>
                <a:cs typeface="Helvetica Neue" pitchFamily="34" charset="-120"/>
              </a:rPr>
              <a:t>ANTICIPATED PUSHBACKS</a:t>
            </a:r>
            <a:endParaRPr lang="en-US" sz="1200" dirty="0"/>
          </a:p>
        </p:txBody>
      </p:sp>
      <p:sp>
        <p:nvSpPr>
          <p:cNvPr id="3" name="Text 1"/>
          <p:cNvSpPr/>
          <p:nvPr/>
        </p:nvSpPr>
        <p:spPr>
          <a:xfrm>
            <a:off x="548640" y="1005840"/>
            <a:ext cx="8046720" cy="3840480"/>
          </a:xfrm>
          <a:prstGeom prst="rect">
            <a:avLst/>
          </a:prstGeom>
          <a:noFill/>
          <a:ln/>
        </p:spPr>
        <p:txBody>
          <a:bodyPr wrap="square" rtlCol="0" anchor="ctr"/>
          <a:lstStyle/>
          <a:p>
            <a:pPr indent="0" marL="0">
              <a:buNone/>
            </a:pPr>
            <a:r>
              <a:rPr lang="en-US" sz="1500" i="1" dirty="0">
                <a:solidFill>
                  <a:srgbClr val="F2F2F2"/>
                </a:solidFill>
              </a:rPr>
              <a:t>“Anyone can build this with Claude in a weekend.”</a:t>
            </a:r>
            <a:endParaRPr lang="en-US" sz="1500" dirty="0"/>
          </a:p>
          <a:p>
            <a:pPr indent="0" marL="0">
              <a:buNone/>
            </a:pPr>
            <a:r>
              <a:rPr lang="en-US" sz="1200" dirty="0">
                <a:solidFill>
                  <a:srgbClr val="777777"/>
                </a:solidFill>
              </a:rPr>
              <a:t>Yes — a chatbot that asks career questions. Nobody can build the dataset of thousands of coached identity profiles linked to hiring outcomes. The chatbot is the commodity. The data flywheel is the asset.</a:t>
            </a:r>
            <a:endParaRPr lang="en-US" sz="1500" dirty="0"/>
          </a:p>
          <a:p>
            <a:pPr indent="0" marL="0">
              <a:buNone/>
            </a:pPr>
            <a:endParaRPr lang="en-US" sz="1500" dirty="0"/>
          </a:p>
          <a:p>
            <a:pPr indent="0" marL="0">
              <a:buNone/>
            </a:pPr>
            <a:r>
              <a:rPr lang="en-US" sz="1500" i="1" dirty="0">
                <a:solidFill>
                  <a:srgbClr val="F2F2F2"/>
                </a:solidFill>
              </a:rPr>
              <a:t>“SaaS is dead.”</a:t>
            </a:r>
            <a:endParaRPr lang="en-US" sz="1500" dirty="0"/>
          </a:p>
          <a:p>
            <a:pPr indent="0" marL="0">
              <a:buNone/>
            </a:pPr>
            <a:r>
              <a:rPr lang="en-US" sz="1200" dirty="0">
                <a:solidFill>
                  <a:srgbClr val="777777"/>
                </a:solidFill>
              </a:rPr>
              <a:t>Maybe. But the lens document isn’t a SaaS feature. It’s a data format. If it becomes the standard way professionals represent career identity, the company that created it owns the infrastructure layer. That’s closer to a protocol than a feature.</a:t>
            </a:r>
            <a:endParaRPr lang="en-US" sz="1500" dirty="0"/>
          </a:p>
          <a:p>
            <a:pPr indent="0" marL="0">
              <a:buNone/>
            </a:pPr>
            <a:endParaRPr lang="en-US" sz="1500" dirty="0"/>
          </a:p>
          <a:p>
            <a:pPr indent="0" marL="0">
              <a:buNone/>
            </a:pPr>
            <a:r>
              <a:rPr lang="en-US" sz="1500" i="1" dirty="0">
                <a:solidFill>
                  <a:srgbClr val="F2F2F2"/>
                </a:solidFill>
              </a:rPr>
              <a:t>“What about tokens?”</a:t>
            </a:r>
            <a:endParaRPr lang="en-US" sz="1500" dirty="0"/>
          </a:p>
          <a:p>
            <a:pPr indent="0" marL="0">
              <a:buNone/>
            </a:pPr>
            <a:r>
              <a:rPr lang="en-US" sz="1200" dirty="0">
                <a:solidFill>
                  <a:srgbClr val="777777"/>
                </a:solidFill>
              </a:rPr>
              <a:t>The lens document is already a portable, user-owned artifact. If the market moves toward credentialed identity on-chain, the lens is the natural payload. We’re not competing with tokenization — we’re creating the thing worth tokenizing.</a:t>
            </a:r>
            <a:endParaRPr lang="en-US" sz="1500" dirty="0"/>
          </a:p>
        </p:txBody>
      </p:sp>
      <p:sp>
        <p:nvSpPr>
          <p:cNvPr id="4" name="Text 2"/>
          <p:cNvSpPr/>
          <p:nvPr/>
        </p:nvSpPr>
        <p:spPr>
          <a:xfrm>
            <a:off x="8229600" y="4709160"/>
            <a:ext cx="731520" cy="274320"/>
          </a:xfrm>
          <a:prstGeom prst="rect">
            <a:avLst/>
          </a:prstGeom>
          <a:noFill/>
          <a:ln/>
        </p:spPr>
        <p:txBody>
          <a:bodyPr wrap="square" rtlCol="0" anchor="ctr"/>
          <a:lstStyle/>
          <a:p>
            <a:pPr algn="r" indent="0" marL="0">
              <a:buNone/>
            </a:pPr>
            <a:r>
              <a:rPr lang="en-US" sz="900" dirty="0">
                <a:solidFill>
                  <a:srgbClr val="444444"/>
                </a:solidFill>
                <a:latin typeface="Consolas" pitchFamily="34" charset="0"/>
                <a:ea typeface="Consolas" pitchFamily="34" charset="-122"/>
                <a:cs typeface="Consolas" pitchFamily="34" charset="-120"/>
              </a:rPr>
              <a:t>5/7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65760"/>
            <a:ext cx="8046720" cy="365760"/>
          </a:xfrm>
          <a:prstGeom prst="rect">
            <a:avLst/>
          </a:prstGeom>
          <a:noFill/>
          <a:ln/>
        </p:spPr>
        <p:txBody>
          <a:bodyPr wrap="square" rtlCol="0" anchor="ctr"/>
          <a:lstStyle/>
          <a:p>
            <a:pPr indent="0" marL="0">
              <a:buNone/>
            </a:pPr>
            <a:r>
              <a:rPr lang="en-US" sz="1200" b="1" dirty="0">
                <a:solidFill>
                  <a:srgbClr val="D93025"/>
                </a:solidFill>
                <a:latin typeface="Helvetica Neue" pitchFamily="34" charset="0"/>
                <a:ea typeface="Helvetica Neue" pitchFamily="34" charset="-122"/>
                <a:cs typeface="Helvetica Neue" pitchFamily="34" charset="-120"/>
              </a:rPr>
              <a:t>WHY THIS ISN’T THEORETICAL</a:t>
            </a:r>
            <a:endParaRPr lang="en-US" sz="1200" dirty="0"/>
          </a:p>
        </p:txBody>
      </p:sp>
      <p:sp>
        <p:nvSpPr>
          <p:cNvPr id="3" name="Text 1"/>
          <p:cNvSpPr/>
          <p:nvPr/>
        </p:nvSpPr>
        <p:spPr>
          <a:xfrm>
            <a:off x="548640" y="868680"/>
            <a:ext cx="8046720" cy="4114800"/>
          </a:xfrm>
          <a:prstGeom prst="rect">
            <a:avLst/>
          </a:prstGeom>
          <a:noFill/>
          <a:ln/>
        </p:spPr>
        <p:txBody>
          <a:bodyPr wrap="square" rtlCol="0" anchor="ctr"/>
          <a:lstStyle/>
          <a:p>
            <a:pPr indent="0" marL="0">
              <a:buNone/>
            </a:pPr>
            <a:r>
              <a:rPr lang="en-US" sz="1500" b="1" dirty="0">
                <a:solidFill>
                  <a:srgbClr val="F2F2F2"/>
                </a:solidFill>
              </a:rPr>
              <a:t>The closest competitor tried it with surveys and pivoted.</a:t>
            </a:r>
            <a:endParaRPr lang="en-US" sz="1500" dirty="0"/>
          </a:p>
          <a:p>
            <a:pPr indent="0" marL="0">
              <a:buNone/>
            </a:pPr>
            <a:r>
              <a:rPr lang="en-US" sz="1200" dirty="0">
                <a:solidFill>
                  <a:srgbClr val="777777"/>
                </a:solidFill>
              </a:rPr>
              <a:t>SquarePeg (NYC, 2016) built bidirectional psychometric matching. Self-report data was too shallow. Employers wouldn’t do the work. They abandoned the thesis. Coached discovery is what makes it viable.</a:t>
            </a:r>
            <a:endParaRPr lang="en-US" sz="1500" dirty="0"/>
          </a:p>
          <a:p>
            <a:pPr indent="0" marL="0">
              <a:buNone/>
            </a:pPr>
            <a:endParaRPr lang="en-US" sz="1500" dirty="0"/>
          </a:p>
          <a:p>
            <a:pPr indent="0" marL="0">
              <a:buNone/>
            </a:pPr>
            <a:r>
              <a:rPr lang="en-US" sz="1500" b="1" dirty="0">
                <a:solidFill>
                  <a:srgbClr val="F2F2F2"/>
                </a:solidFill>
              </a:rPr>
              <a:t>The research backs the method.</a:t>
            </a:r>
            <a:endParaRPr lang="en-US" sz="1500" dirty="0"/>
          </a:p>
          <a:p>
            <a:pPr indent="0" marL="0">
              <a:buNone/>
            </a:pPr>
            <a:r>
              <a:rPr lang="en-US" sz="1200" dirty="0">
                <a:solidFill>
                  <a:srgbClr val="777777"/>
                </a:solidFill>
              </a:rPr>
              <a:t>Oh, Wang &amp; Mount (2011, Journal of Applied Psychology): Observer ratings of personality predict job performance significantly better than self-reports. Our AI-guided discovery is the scalable version of that finding.</a:t>
            </a:r>
            <a:endParaRPr lang="en-US" sz="1500" dirty="0"/>
          </a:p>
          <a:p>
            <a:pPr indent="0" marL="0">
              <a:buNone/>
            </a:pPr>
            <a:endParaRPr lang="en-US" sz="1500" dirty="0"/>
          </a:p>
          <a:p>
            <a:pPr indent="0" marL="0">
              <a:buNone/>
            </a:pPr>
            <a:r>
              <a:rPr lang="en-US" sz="1500" b="1" dirty="0">
                <a:solidFill>
                  <a:srgbClr val="F2F2F2"/>
                </a:solidFill>
              </a:rPr>
              <a:t>The market is spending but failing.</a:t>
            </a:r>
            <a:endParaRPr lang="en-US" sz="1500" dirty="0"/>
          </a:p>
          <a:p>
            <a:pPr indent="0" marL="0">
              <a:buNone/>
            </a:pPr>
            <a:r>
              <a:rPr lang="en-US" sz="1200" dirty="0">
                <a:solidFill>
                  <a:srgbClr val="777777"/>
                </a:solidFill>
              </a:rPr>
              <a:t>77% of companies lost talent from poor career development. 70% increased mobility investment. Only 25% think it’s working. (Aptitude Research, 2023). Tools match on skills. Nobody matches on identity.</a:t>
            </a:r>
            <a:endParaRPr lang="en-US" sz="1500" dirty="0"/>
          </a:p>
          <a:p>
            <a:pPr indent="0" marL="0">
              <a:buNone/>
            </a:pPr>
            <a:endParaRPr lang="en-US" sz="1500" dirty="0"/>
          </a:p>
          <a:p>
            <a:pPr indent="0" marL="0">
              <a:buNone/>
            </a:pPr>
            <a:r>
              <a:rPr lang="en-US" sz="1500" b="1" dirty="0">
                <a:solidFill>
                  <a:srgbClr val="F2F2F2"/>
                </a:solidFill>
              </a:rPr>
              <a:t>BetterUp raised $628M and is struggling.</a:t>
            </a:r>
            <a:endParaRPr lang="en-US" sz="1500" dirty="0"/>
          </a:p>
          <a:p>
            <a:pPr indent="0" marL="0">
              <a:buNone/>
            </a:pPr>
            <a:r>
              <a:rPr lang="en-US" sz="1200" dirty="0">
                <a:solidFill>
                  <a:srgbClr val="777777"/>
                </a:solidFill>
              </a:rPr>
              <a:t>Proves enterprise will pay for coaching at scale. Their problem: coaching without an artifact is structurally fragile. The lens makes coaching outcomes concrete, portable, and machine-readable.</a:t>
            </a:r>
            <a:endParaRPr lang="en-US" sz="1500" dirty="0"/>
          </a:p>
        </p:txBody>
      </p:sp>
      <p:sp>
        <p:nvSpPr>
          <p:cNvPr id="4" name="Text 2"/>
          <p:cNvSpPr/>
          <p:nvPr/>
        </p:nvSpPr>
        <p:spPr>
          <a:xfrm>
            <a:off x="8229600" y="4709160"/>
            <a:ext cx="731520" cy="274320"/>
          </a:xfrm>
          <a:prstGeom prst="rect">
            <a:avLst/>
          </a:prstGeom>
          <a:noFill/>
          <a:ln/>
        </p:spPr>
        <p:txBody>
          <a:bodyPr wrap="square" rtlCol="0" anchor="ctr"/>
          <a:lstStyle/>
          <a:p>
            <a:pPr algn="r" indent="0" marL="0">
              <a:buNone/>
            </a:pPr>
            <a:r>
              <a:rPr lang="en-US" sz="900" dirty="0">
                <a:solidFill>
                  <a:srgbClr val="444444"/>
                </a:solidFill>
                <a:latin typeface="Consolas" pitchFamily="34" charset="0"/>
                <a:ea typeface="Consolas" pitchFamily="34" charset="-122"/>
                <a:cs typeface="Consolas" pitchFamily="34" charset="-120"/>
              </a:rPr>
              <a:t>6/7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1371600"/>
            <a:ext cx="8046720" cy="365760"/>
          </a:xfrm>
          <a:prstGeom prst="rect">
            <a:avLst/>
          </a:prstGeom>
          <a:noFill/>
          <a:ln/>
        </p:spPr>
        <p:txBody>
          <a:bodyPr wrap="square" rtlCol="0" anchor="ctr"/>
          <a:lstStyle/>
          <a:p>
            <a:pPr indent="0" marL="0">
              <a:buNone/>
            </a:pPr>
            <a:r>
              <a:rPr lang="en-US" sz="1200" b="1" dirty="0">
                <a:solidFill>
                  <a:srgbClr val="D93025"/>
                </a:solidFill>
                <a:latin typeface="Helvetica Neue" pitchFamily="34" charset="0"/>
                <a:ea typeface="Helvetica Neue" pitchFamily="34" charset="-122"/>
                <a:cs typeface="Helvetica Neue" pitchFamily="34" charset="-120"/>
              </a:rPr>
              <a:t>LENS PROJECT</a:t>
            </a:r>
            <a:endParaRPr lang="en-US" sz="1200" dirty="0"/>
          </a:p>
        </p:txBody>
      </p:sp>
      <p:sp>
        <p:nvSpPr>
          <p:cNvPr id="3" name="Text 1"/>
          <p:cNvSpPr/>
          <p:nvPr/>
        </p:nvSpPr>
        <p:spPr>
          <a:xfrm>
            <a:off x="548640" y="1828800"/>
            <a:ext cx="8046720" cy="1097280"/>
          </a:xfrm>
          <a:prstGeom prst="rect">
            <a:avLst/>
          </a:prstGeom>
          <a:noFill/>
          <a:ln/>
        </p:spPr>
        <p:txBody>
          <a:bodyPr wrap="square" rtlCol="0" anchor="ctr"/>
          <a:lstStyle/>
          <a:p>
            <a:pPr indent="0" marL="0">
              <a:buNone/>
            </a:pPr>
            <a:r>
              <a:rPr lang="en-US" sz="3200" b="1" dirty="0">
                <a:solidFill>
                  <a:srgbClr val="F2F2F2"/>
                </a:solidFill>
                <a:latin typeface="Helvetica Neue" pitchFamily="34" charset="0"/>
                <a:ea typeface="Helvetica Neue" pitchFamily="34" charset="-122"/>
                <a:cs typeface="Helvetica Neue" pitchFamily="34" charset="-120"/>
              </a:rPr>
              <a:t>The moat is the data,</a:t>
            </a:r>
            <a:endParaRPr lang="en-US" sz="3200" dirty="0"/>
          </a:p>
          <a:p>
            <a:pPr indent="0" marL="0">
              <a:buNone/>
            </a:pPr>
            <a:r>
              <a:rPr lang="en-US" sz="3200" b="1" dirty="0">
                <a:solidFill>
                  <a:srgbClr val="F2F2F2"/>
                </a:solidFill>
                <a:latin typeface="Helvetica Neue" pitchFamily="34" charset="0"/>
                <a:ea typeface="Helvetica Neue" pitchFamily="34" charset="-122"/>
                <a:cs typeface="Helvetica Neue" pitchFamily="34" charset="-120"/>
              </a:rPr>
              <a:t>not the AI.</a:t>
            </a:r>
            <a:endParaRPr lang="en-US" sz="3200" dirty="0"/>
          </a:p>
        </p:txBody>
      </p:sp>
      <p:sp>
        <p:nvSpPr>
          <p:cNvPr id="4" name="Shape 2"/>
          <p:cNvSpPr/>
          <p:nvPr/>
        </p:nvSpPr>
        <p:spPr>
          <a:xfrm>
            <a:off x="548640" y="3200400"/>
            <a:ext cx="8046720" cy="9144"/>
          </a:xfrm>
          <a:prstGeom prst="rect">
            <a:avLst/>
          </a:prstGeom>
          <a:solidFill>
            <a:srgbClr val="222222"/>
          </a:solidFill>
          <a:ln/>
        </p:spPr>
      </p:sp>
      <p:sp>
        <p:nvSpPr>
          <p:cNvPr id="5" name="Text 3"/>
          <p:cNvSpPr/>
          <p:nvPr/>
        </p:nvSpPr>
        <p:spPr>
          <a:xfrm>
            <a:off x="548640" y="3474720"/>
            <a:ext cx="8046720" cy="365760"/>
          </a:xfrm>
          <a:prstGeom prst="rect">
            <a:avLst/>
          </a:prstGeom>
          <a:noFill/>
          <a:ln/>
        </p:spPr>
        <p:txBody>
          <a:bodyPr wrap="square" rtlCol="0" anchor="ctr"/>
          <a:lstStyle/>
          <a:p>
            <a:pPr indent="0" marL="0">
              <a:buNone/>
            </a:pPr>
            <a:r>
              <a:rPr lang="en-US" sz="1200" dirty="0">
                <a:solidFill>
                  <a:srgbClr val="777777"/>
                </a:solidFill>
              </a:rPr>
              <a:t>Working product  |  Patent pending  |  5 testers in pipeline  |  Zero outside capital</a:t>
            </a:r>
            <a:endParaRPr lang="en-US" sz="1200" dirty="0"/>
          </a:p>
        </p:txBody>
      </p:sp>
      <p:sp>
        <p:nvSpPr>
          <p:cNvPr id="6" name="Text 4"/>
          <p:cNvSpPr/>
          <p:nvPr/>
        </p:nvSpPr>
        <p:spPr>
          <a:xfrm>
            <a:off x="548640" y="4389120"/>
            <a:ext cx="3657600" cy="274320"/>
          </a:xfrm>
          <a:prstGeom prst="rect">
            <a:avLst/>
          </a:prstGeom>
          <a:noFill/>
          <a:ln/>
        </p:spPr>
        <p:txBody>
          <a:bodyPr wrap="square" rtlCol="0" anchor="ctr"/>
          <a:lstStyle/>
          <a:p>
            <a:pPr indent="0" marL="0">
              <a:buNone/>
            </a:pPr>
            <a:r>
              <a:rPr lang="en-US" sz="1000" dirty="0">
                <a:solidFill>
                  <a:srgbClr val="444444"/>
                </a:solidFill>
                <a:latin typeface="Helvetica Neue" pitchFamily="34" charset="0"/>
                <a:ea typeface="Helvetica Neue" pitchFamily="34" charset="-122"/>
                <a:cs typeface="Helvetica Neue" pitchFamily="34" charset="-120"/>
              </a:rPr>
              <a:t>Eric Zelman  |  zelman@gmail.com</a:t>
            </a:r>
            <a:endParaRPr lang="en-US" sz="1000" dirty="0"/>
          </a:p>
        </p:txBody>
      </p:sp>
      <p:sp>
        <p:nvSpPr>
          <p:cNvPr id="7" name="Text 5"/>
          <p:cNvSpPr/>
          <p:nvPr/>
        </p:nvSpPr>
        <p:spPr>
          <a:xfrm>
            <a:off x="4937760" y="4389120"/>
            <a:ext cx="3657600" cy="274320"/>
          </a:xfrm>
          <a:prstGeom prst="rect">
            <a:avLst/>
          </a:prstGeom>
          <a:noFill/>
          <a:ln/>
        </p:spPr>
        <p:txBody>
          <a:bodyPr wrap="square" rtlCol="0" anchor="ctr"/>
          <a:lstStyle/>
          <a:p>
            <a:pPr algn="r" indent="0" marL="0">
              <a:buNone/>
            </a:pPr>
            <a:r>
              <a:rPr lang="en-US" sz="1000" dirty="0">
                <a:solidFill>
                  <a:srgbClr val="D93025"/>
                </a:solidFill>
                <a:latin typeface="Helvetica Neue" pitchFamily="34" charset="0"/>
                <a:ea typeface="Helvetica Neue" pitchFamily="34" charset="-122"/>
                <a:cs typeface="Helvetica Neue" pitchFamily="34" charset="-120"/>
              </a:rPr>
              <a:t>CONFIDENTIAL</a:t>
            </a:r>
            <a:endParaRPr lang="en-US" sz="1000" dirty="0"/>
          </a:p>
        </p:txBody>
      </p:sp>
      <p:sp>
        <p:nvSpPr>
          <p:cNvPr id="8" name="Text 6"/>
          <p:cNvSpPr/>
          <p:nvPr/>
        </p:nvSpPr>
        <p:spPr>
          <a:xfrm>
            <a:off x="8229600" y="4709160"/>
            <a:ext cx="731520" cy="274320"/>
          </a:xfrm>
          <a:prstGeom prst="rect">
            <a:avLst/>
          </a:prstGeom>
          <a:noFill/>
          <a:ln/>
        </p:spPr>
        <p:txBody>
          <a:bodyPr wrap="square" rtlCol="0" anchor="ctr"/>
          <a:lstStyle/>
          <a:p>
            <a:pPr algn="r" indent="0" marL="0">
              <a:buNone/>
            </a:pPr>
            <a:r>
              <a:rPr lang="en-US" sz="900" dirty="0">
                <a:solidFill>
                  <a:srgbClr val="444444"/>
                </a:solidFill>
                <a:latin typeface="Consolas" pitchFamily="34" charset="0"/>
                <a:ea typeface="Consolas" pitchFamily="34" charset="-122"/>
                <a:cs typeface="Consolas" pitchFamily="34" charset="-120"/>
              </a:rPr>
              <a:t>7/7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Lens Project — The Moat</dc:title>
  <dc:subject>PptxGenJS Presentation</dc:subject>
  <dc:creator>Eric Zelman</dc:creator>
  <cp:lastModifiedBy>Eric Zelman</cp:lastModifiedBy>
  <cp:revision>1</cp:revision>
  <dcterms:created xsi:type="dcterms:W3CDTF">2026-04-03T18:09:17Z</dcterms:created>
  <dcterms:modified xsi:type="dcterms:W3CDTF">2026-04-03T18:09:17Z</dcterms:modified>
</cp:coreProperties>
</file>