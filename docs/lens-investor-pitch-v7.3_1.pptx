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361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'Executive search firms lose searches to stakeholder misalignment, not candidate quality. We built the system that prevents that.'
Key points:
- This is about helping search firms win and de-risk placements
- Working product, patent pending, revenue model proven
- Lead with the problem (misalignment), not the technology (identity)
Move quickly to slide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— Three stats, each tells a different story:
77%: 'Most companies have lost talent because they couldn't develop or match people internally. The tools aren't working.'
$0 ROI: 'Coaching works but produces no functional artifact. Assessments produce reports nobody acts on. There's no measurable output that drives decisions.'
5× cost: 'A failed C-suite hire costs $2.5M+ when you factor in severance, lost time, team disruption, and restarting the search. The problem isn't finding candidates — it's misalignment between stakeholders on what they actually need.'
PAUSE after this slide. Let the audience sit with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IT IS — Role lens first, always.
'A role lens captures what a search actually requires — through structured stakeholder alignment. A candidate lens captures who someone is — through coached AI discovery. The match works both directions.'
'Role lens is the wedge. It solves stakeholder misalignment before any candidate enters the funnel.'
Key reframe: We don't say 'a lens, not a resume' anymore. We say 'structured discovery and alignment that no ATS provides.'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INNOVATION — Show role lens as Phase 1.
'Role lens is the wedge. It solves stakeholder misalignment before any candidate enters the funnel. The role lens captures what the search actually requires — leadership style, team dynamics, growth stage — through structured stakeholder intake.'
'Then candidate lenses are scored against the role lens. The match works both directions — asymmetric dimensions by design.'
IF SOMEONE ASKS FOR A DEMO: 'The Role Lens Scorer is deployed on Vercel right now.'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DIFFERENTIATION — Walk through the table. Key changes:
- Added Plum ($750/mo, standardized assessment, high-volume)
- Added Torre.ai ($10M seed, 112-factor genome, LATAM/mid-market)
- Jack &amp; Jill acknowledged more honestly — they do 20-min conversational intake
- Oh/Wang/Mount reframed as INSPIRATION, not validation
- Removed 'Our AI-guided coached discovery is the scalable version of that finding' — that was an overclaim
New language: 'Our AI-guided coached discovery produces richer signal than standardized self-report instruments. Our roadmap includes external observer signals to approach the predictive power the research describes.'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— Key changes:
- SAM changed from 'Coaching platforms' to 'Executive search software + assessment'
- Entry point now leads with exec search, not job seekers
- Added specific first-customer persona from stress test
- SOM changed to $10M over 4-6 years (realistic per stress test consensus)
Directionally confirmed by Edie Hunt (retired Goldman Sachs Partner): deep discovery is only justified at $300K+/board-level hires where mis-hire cost is catastrophic.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— Key changes from stress test:
- Exec search is now the LEAD revenue stream (was third)
- Per-search pricing $2-5K replaces per-seat SaaS model
- Firm subscription as evolution of per-search
- Consumer B2C is still here but secondary
- $10M ARR path: 2,500 searches/year at $4K average
- This is services-adjacent SaaS, not pure PLG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PATH TO REVENUE — Resequenced to role lens first.
- NOW: Role lens design, not 'free tool launch'
- Q2: Role lens validation with 2-3 boutique firms (was 'paid beta launch')
- Q3: Add candidate lens + first revenue
- Q4: Scale with white-label option
Key message: 'I can reach revenue without raising a dollar. Your money makes it faster, not possible.'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— Added Role Lens as a distinct layer at the top.
Role Lens and Enterprise are highlighted with red accents — these are the primary revenue layers per the stress test resequencing.
The free tier and $50/mo consumer tier remain but are secondary to the exec search 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DEFENSIBILITY — Major reframe from stress test.
The patent is real (10 claims, 3 independent methods) but technology defensibility is rated 3-4/10 by all stress test models. The real moat comes from:
1. White-label: If a firm markets Lens as their proprietary methodology, they can't rip it out
2. Outcome data: Years of search outcome tracking that competitors can't replicate overnight
3. Learning system: Per-user weight calibration compounds with usage
Be honest: 'The patent helps but is narrow. Real defensibility comes from embedding in firm workflows.'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DISTRIBUTION — Major reframe from stress test.
Coach channel softened from primary GTM to quality moat. SquarePeg lesson confirmed: buyers pay for less work and better optics, not better judgment.
Founder-led consultative sales to retained boutiques is the primary motion. Think Bloomberg Terminal — professional-grade standard of practice, not a website.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EXPANSION — Added 'In-House Exec Talent (PE)' as expansion path per stress test. This is the natural extension once retained search is validated.
Don't promise timelines. These are year 3+ opportunities.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TRACTION — Added 'TESTING' row for active tester cohort.
Be honest about what's running vs. specified. The color coding does this visually.
IF ASKED 'what's not built?': 'The feedback loop is fully specified but has zero lines of running code. The bidirectional matching algorithm is specified but not wired up. I'm transparent about this because I want investors who understand what's proven vs. what's designed.'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IP — Unchanged in substance. Patent is filed, claims are strong.
Be honest about Alice risk if asked: 'Software method patents face the Alice test. Our defense is the technical implementation specificity.'
Stress test note: Technology defensibility is 3-4/10 — the patent helps but is narrow and work-aroundable. Real moat is process embedding (covered on slide 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 — Key changes from spec:
- Allocation shifted: more to exec search firm pilots + white-label support (30%, was 25% 'coach acquisition')
- Exit scenarios made explicit per stress test: profitable niche, acquisition, or PE expansion
- Bootstrap and seed paths preserved but reframed around role lens validation
Present BOTH paths. Let the investor choose which conversation to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GTM — Resequenced to role lens first.
Every phase has a concrete deliverable and a measurable milestone. This isn't a roadmap of ideas — it's a sequence of builds with 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— Added Edie Hunt as advisor. Her Goldman background and exec recruiter network are material.
Be direct about being a solo founder. Don't apologize for it.
IF ASKED 'do you need a technical co-founder?': 'I've built everything so far with Claude Code, n8n, and Vercel. For scale, I'll need a full-stack engineer — that's the first hire in the seed plan.'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Let the four proof points do the work.
'The system that prevents expensive misalignment in executive search. Working product. Patent pending. Per-search revenue model. $35B market.'
PAUSE. Let them ask the first question.
MOST LIKELY QUESTIONS:
- 'How do you acquire your first firms?' → Founder-led consultative sales. Beth Stewart intro. Edie Hunt's network.
- 'What's your unfair advantage?' → Process embedding + outcome data + patent. Not just technology.
- 'Why now?' → LLMs just became good enough. SquarePeg tried this with surveys and failed. Retained boutiques are under pressure from PE clients to show rigor.
- 'Can I try it?' → Yes. Discovery form and Role Lens Scorer are both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LENS PROJECT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Lens helps executive search firms win and de-risk high-stakes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placements through structured discovery and alignment.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320040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Working product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5176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Patent pending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Per-search revenue model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9224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$35B TAM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Eric Zelman  |  zelman@gmail.com  |  April 2026  |  CONFIDENTIAL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#64/015-187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1/18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Misalignment kills more searches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than candidate quality.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2468880" cy="2560320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77%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914400" y="3017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 companies have lost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talent due to lack of career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3977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Aptitude Research, 2023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474720" y="1920240"/>
            <a:ext cx="2468880" cy="2560320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21031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$0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3657600" y="3017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measurable ROI from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standalone coaching 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assessment tools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657600" y="3977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Industry consensus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217920" y="1920240"/>
            <a:ext cx="2468880" cy="2560320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1031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5×</a:t>
            </a:r>
            <a:endParaRPr lang="en-US" sz="3600" dirty="0"/>
          </a:p>
        </p:txBody>
      </p:sp>
      <p:sp>
        <p:nvSpPr>
          <p:cNvPr id="18" name="Text 13"/>
          <p:cNvSpPr/>
          <p:nvPr/>
        </p:nvSpPr>
        <p:spPr>
          <a:xfrm>
            <a:off x="6400800" y="3017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cost of a failed C-suite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hire vs. getting alignment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right upfront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400800" y="3977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Estimated at $2.5M+ per mis-hire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2/18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IT 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Structured discovery and alignment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that no ATS provides.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640080" cy="201168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856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1</a:t>
            </a:r>
            <a:endParaRPr lang="en-US" sz="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8288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1755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 LENS</a:t>
            </a:r>
            <a:endParaRPr lang="en-US" sz="10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Define what the search requires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011680" y="22402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Structured stakeholder alignment captures leadership style, team dynamics, growth stage, and cultural trade-offs — before any candidate enters the funnel.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" y="2788920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31520" y="2926080"/>
            <a:ext cx="640080" cy="201168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31520" y="29077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2</a:t>
            </a:r>
            <a:endParaRPr lang="en-US" sz="7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288036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11680" y="28072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CANDIDATE LENS</a:t>
            </a:r>
            <a:endParaRPr lang="en-US" sz="10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Discover who the candidate is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011680" y="32918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25–45 min coached AI conversation across 8 identity dimensions. Produces a portable, structured document — not a resume, not a profile.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31520" y="3840480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31520" y="3977640"/>
            <a:ext cx="640080" cy="201168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731520" y="39593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3</a:t>
            </a:r>
            <a:endParaRPr lang="en-US" sz="7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0" y="393192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011680" y="3858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BIDIRECTIONAL MATCH</a:t>
            </a:r>
            <a:endParaRPr lang="en-US" sz="10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Score both directions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2011680" y="43434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 scores candidates (R→C). Candidates score roles (C→R). Asymmetric dimensions, different weights. Output: scores + signal-level Match Report.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3/18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INNOVATION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Bidirectional lens matching.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657600" cy="2377440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 LENS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R→C Score: Does this candidate fit the role?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Stakeholder alignment on: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Mission &amp; mandate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Leadership style required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Cultural trade-offs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Growth stage demands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Team dynamics &amp; energy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60520" y="2468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↔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3657600" cy="2377440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CANDIDATE LENS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C→R Score: Does this opportunity fit me?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33172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Coached discovery across: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Values &amp; mission alignment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Energy patterns &amp; work style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Relational fit preferences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Builder orientation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Domain &amp; skill depth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Asymmetric by design. Different dimensions, different weights. Output: two scores + Mutual Fit composite + signal-level Match Report with interview questions.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6A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Working scorer deployed and demo-able.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4/18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DIFFERENTIATION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 gives you a graph.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Lens gives you a conversation.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6949440" cy="239572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Tool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Direction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Signal Type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Output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IP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ATS (Greenhouse, Lever)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Co.→Cand.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Keyword overlap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Pass/fail screen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None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DISC / StrengthsFinder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Neither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Trait inventory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Profile report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Copyright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Plum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Co.→Cand.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Standardized assess.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Behavioral match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Proprietary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Torre.ai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Bidirectional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112-factor genome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Job recommendations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None filed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Jack &amp; Jill ($20M)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Cand.→Co.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20-min conv. intake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Job recs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None filed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The Predictive Index ($102M)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Co.→Cand.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4-factor trait graph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Assessment verdict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Brand, no patent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9302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Lens Project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9302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Both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9302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45-min coached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9302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Mutual fit + reasoning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9302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Patent pending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731520" y="40690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market standard is PI: $102M revenue, 8K customers, decades of accumulated validation studies — Caldwell Partners alone is PI’s largest certified partner worldwide. PI is the canonical assessment-verdict model I reject. Oh, Wang &amp; Mount (2011) showed observer ratings beat self-report; my roadmap adds external observer signals to close the gap.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6A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Patent pending — App #64/015-187. No direct competitor has filed patents covering these methods.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5/18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$35B market. Executive search is the entry.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2468880" cy="1463040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$35.2B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Digital talent acquisition (2026).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12.1% CAGR.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554480"/>
            <a:ext cx="2468880" cy="1463040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0" y="16916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90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1920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$4.8B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657600" y="2331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Executive search software +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assessment. Where Lens enters.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468880" cy="1463040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16916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1920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$10M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00800" y="2331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Year 4-6 target. Per-search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 across boutique firms.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246120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FIRST CUSTOMER PROFILE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611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10–20 person retained boutique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Sector-focused (B2B SaaS, healthcare, PE-backed portfolio cos). 20–60 C-suite searches/year at $150–250K average fee. Uses Invenias or Clockwork plus spreadsheets. Under pressure from PE/board clients to show more rigor.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590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Trigger: A high-profile mis-hire post-mortem, or a competitive pitch where the firm fears losing to a bigger firm touting proprietary psychometrics.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6/18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REVENUE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Per-search pricing. Three revenue streams.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7132320" cy="14401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Stream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Year 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Year 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Year 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9302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Exec Search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93025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(B2B)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$2–5K per search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 role lens + N candidate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lenses + client deliverable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$40K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10 searches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$400K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100 searches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$2.5M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500+ searches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Firm Subscription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(B2B)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$30–80K/yr per firm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Unlimited searches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$0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Pilots only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$120K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 firms converting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$400K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5–8 firms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Consumer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(B2C)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$50/mo subscription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Daily scored briefings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$30K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50 subs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$180K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300 subs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$600K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1,000 subs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840480"/>
            <a:ext cx="7680960" cy="822960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3931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PATH TO $10M ARR</a:t>
            </a:r>
            <a:endParaRPr lang="en-US" sz="900" dirty="0"/>
          </a:p>
        </p:txBody>
      </p:sp>
      <p:sp>
        <p:nvSpPr>
          <p:cNvPr id="5" name="Text 5"/>
          <p:cNvSpPr/>
          <p:nvPr/>
        </p:nvSpPr>
        <p:spPr>
          <a:xfrm>
            <a:off x="914400" y="4160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 $4K/search across 2,500 searches/year = $10M ARR. Evolve per-search pricing to firm-level subscriptions ($30–80K/yr) as proof of value accumulates. Unit economics: ~$3/search API cost = 90%+ gross margin.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7/18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PATH TO REVENUE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 lens validation first. Raise on traction.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914400" cy="685800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Rev: $0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31520" y="20299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Cost: $0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828800" y="15544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Validate + role lens design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18288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 lens stakeholder intake design. Validation conversations with exec recruiters. Patent filed.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423160"/>
            <a:ext cx="914400" cy="6858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423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Q2 '26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7432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Rev: $0–5K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31520" y="28986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Cost: $200/mo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828800" y="24231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 lens validation with boutiques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28800" y="26974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2–3 boutique firms trial role lens on active searches. Measure stakeholder alignment speed vs. current Word/PPT process.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291840"/>
            <a:ext cx="914400" cy="6858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291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Q3 '26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611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Rev: $5–15K/mo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31520" y="37673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Cost: $500/mo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828800" y="32918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Add candidate lenses + paid product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828800" y="35661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Candidate lens for shortlisting. First per-search revenue. Enterprise demos using bidirectional scoring.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4160520"/>
            <a:ext cx="914400" cy="6858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4160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Q4 '26+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4805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Rev: $15–30K/mo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31520" y="46360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Cost: $1K/mo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828800" y="41605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Scale + seed-ready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828800" y="44348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White-label option for firms. 5+ firm pilots. Outcome data collection begins. Seed raise on demonstrated traction.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D6A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seed required to reach revenue. Seed accelerates timeline by 12 months.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8/18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Five-layer architecture.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7680960" cy="566928"/>
          </a:xfrm>
          <a:prstGeom prst="rect">
            <a:avLst/>
          </a:prstGeom>
          <a:solidFill>
            <a:srgbClr val="FEF0EF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54864" cy="566928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 LENS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7830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Per-search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60320" y="160020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Structured stakeholder alignment. Client-facing search brief. Prevents late-stage misalignment.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167128"/>
            <a:ext cx="7680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22128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4414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60320" y="225856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AI-guided discovery produces a portable identity document (markdown + YAML). The product demo.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825496"/>
            <a:ext cx="7680960" cy="566928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5840" y="287121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SCORED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09981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$50/mo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60320" y="291693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Daily scored opportunities via automated pipeline with passive monitoring.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483864"/>
            <a:ext cx="7680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5840" y="35295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COACH CHANNEL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7581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 share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60320" y="357530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Career coaches contribute methodology as AI personas. Distribution + quality moat.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4142232"/>
            <a:ext cx="7680960" cy="566928"/>
          </a:xfrm>
          <a:prstGeom prst="rect">
            <a:avLst/>
          </a:prstGeom>
          <a:solidFill>
            <a:srgbClr val="FEF0EF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" y="4142232"/>
            <a:ext cx="54864" cy="566928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05840" y="41879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44165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$2–5K/search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60320" y="423367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Bidirectional matching. Role Lens ↔ Candidate Lens. Signal-level Match Reports.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Each layer feeds the next. Free users generate data. Data improves scoring. Scoring attracts coaches. Coaches bring enterprise.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9/18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DEFENSIBILITY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Process embedding, not just technology.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516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516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783080" y="1645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White-label embedding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83080" y="19385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Early firms brand Lens output as their proprietary methodology. Once they're marketing it to clients, switching cost is high regardless of whether the tech is copyable.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" y="2651760"/>
            <a:ext cx="7680960" cy="914400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9489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9489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1783080" y="2743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Outcome data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783080" y="303580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Track search outcomes: time-to-slate, offer acceptance, early attrition. Builds evidence that incumbents can't replicate without years of usage data.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31520" y="3749040"/>
            <a:ext cx="7680960" cy="914400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0462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40462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1783080" y="3840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Per-user learning system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783080" y="413308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Weight calibration, gate refinement, and drift detection compound with usage. Exponential signal decay preserves history. Three-level feedback loop.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731520" y="4617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590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Technology defensibility: 3–4/10. Process + data defensibility: 7–8/10 once embedded.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10/18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DISTRIBUTION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Founder-led consultative sales.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Coach channel as quality moat.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657600" cy="2377440"/>
          </a:xfrm>
          <a:prstGeom prst="rect">
            <a:avLst/>
          </a:prstGeom>
          <a:solidFill>
            <a:srgbClr val="FEF0EF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4864" cy="2377440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PRIMARY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2057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Founder-led sales to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retained boutiques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6060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 has meaningful penetration in retained search — Caldwell Partners is PI’s largest certified partner worldwide, alongside other certified boutiques. My wedge: non-certified boutiques, owning the narrative layer PI cannot produce. Services-adjacent SaaS, not pure PLG — think ‘Bloomberg Terminal for exec search.’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10–20 lighthouse firms in Year 1.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737360"/>
            <a:ext cx="3657600" cy="2377440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SECONDARY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2057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Coach-as-channel for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quality + consumer lens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2606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167K active career coaches worldwide. Coach-facilitated lenses are measurably better than self-serve. Coaches bring clients, improve quality, earn revenue share.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Quality moat, not primary GTM.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3891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590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Stress-tested: buyers pay for less work, better optics, and deal-winning — not better judgment. Every pitch leads with one of these.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11/18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EXPANSION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lens is a platform, not a feature.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002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527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Internal Mobility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80160" y="17647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30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$3–4B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0" y="15544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Employee lenses scored against internal role lenses. 70% of companies increasing mobility investment; only 25% confident it works.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31520" y="2075688"/>
            <a:ext cx="7680960" cy="0"/>
          </a:xfrm>
          <a:prstGeom prst="line">
            <a:avLst/>
          </a:prstGeom>
          <a:noFill/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25856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1854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In-House Exec Talent (PE)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280160" y="24231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30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Adjacent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114800" y="22128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 funds managing executive talent across portfolio companies. Natural extension of retained search validation.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731520" y="2734056"/>
            <a:ext cx="7680960" cy="0"/>
          </a:xfrm>
          <a:prstGeom prst="line">
            <a:avLst/>
          </a:prstGeom>
          <a:noFill/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91693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28437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Founder-Investor Matching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280160" y="3081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30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$450B VC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4114800" y="287121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Founder lenses matched against investor thesis lenses for alignment.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731520" y="3392424"/>
            <a:ext cx="7680960" cy="0"/>
          </a:xfrm>
          <a:prstGeom prst="line">
            <a:avLst/>
          </a:prstGeom>
          <a:noFill/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575304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80160" y="35021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Corporate Outplacement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280160" y="37398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30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$2B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4114800" y="352958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Lens document as the deliverable of outplacement services.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731520" y="4050792"/>
            <a:ext cx="7680960" cy="0"/>
          </a:xfrm>
          <a:prstGeom prst="line">
            <a:avLst/>
          </a:prstGeom>
          <a:noFill/>
          <a:ln w="381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233672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80160" y="4160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Coach-Client Matching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1280160" y="43982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30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$5.3B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4114800" y="41879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Coach lenses matched against client need lenses for better pairing.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731520" y="466344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6A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All expansion markets covered in the provisional patent application.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12/18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Built, not conceptual.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481328"/>
            <a:ext cx="777240" cy="256032"/>
          </a:xfrm>
          <a:prstGeom prst="rect">
            <a:avLst/>
          </a:prstGeom>
          <a:solidFill>
            <a:srgbClr val="2D6A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RUNNING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645920" y="146304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AI-guided intake form with 8 discovery sections (live Claude API)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777240" cy="256032"/>
          </a:xfrm>
          <a:prstGeom prst="rect">
            <a:avLst/>
          </a:prstGeom>
          <a:solidFill>
            <a:srgbClr val="2D6A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105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RUNNING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645920" y="181051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 Lens Scorer with 9 evaluation modes (deployed on Vercel)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176272"/>
            <a:ext cx="777240" cy="256032"/>
          </a:xfrm>
          <a:prstGeom prst="rect">
            <a:avLst/>
          </a:prstGeom>
          <a:solidFill>
            <a:srgbClr val="2D6A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15798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RUNNING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645920" y="215798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Candidate Lens Scorer (C→R direction, operational 4+ months)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2523744"/>
            <a:ext cx="777240" cy="256032"/>
          </a:xfrm>
          <a:prstGeom prst="rect">
            <a:avLst/>
          </a:prstGeom>
          <a:solidFill>
            <a:srgbClr val="2D6A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250545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RUNNING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645920" y="250545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n8n scoring pipeline (job alerts + VC portfolios + enrichment)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2871216"/>
            <a:ext cx="777240" cy="256032"/>
          </a:xfrm>
          <a:prstGeom prst="rect">
            <a:avLst/>
          </a:prstGeom>
          <a:solidFill>
            <a:srgbClr val="2D6A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28529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RUNNING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645920" y="285292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Coach persona framework (executive coach methodology encoded as AI persona)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3218688"/>
            <a:ext cx="777240" cy="256032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2004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SPECIFIED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645920" y="32004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Bidirectional matching system (full spec, algorithm, match report)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3566160"/>
            <a:ext cx="777240" cy="256032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354787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SPECIFIED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645920" y="354787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Feedback loop learning system (signals, decay, drift detection)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31520" y="3913632"/>
            <a:ext cx="777240" cy="256032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1520" y="389534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DONE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645920" y="389534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IP framework (provisional patent filed, NDA, prior art documented)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1520" y="4261104"/>
            <a:ext cx="777240" cy="256032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" y="424281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TESTING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645920" y="424281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Tester cohort active — structured feedback on discovery flow quality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13/18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INTELLECTUAL PROPERTY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Provisional patent filed March 24, 2026.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14-page provisional with 10 claims (3 independent methods). Prior art and competitive patent searches completed. Mutual NDA framework signed with all collaborators.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22402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Identity document as scoring governance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2468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Structured YAML + markdown lens governs automated scoring pipeline.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880360"/>
            <a:ext cx="7680960" cy="548640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Asymmetric bidirectional matching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31546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Different dimensions, different weights for each direction. LLM-structured scoring.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71600" y="3611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Transparent preference drift detection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8404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User-visible divergence between stated preferences and observed behavior. User-controlled response.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343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6A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direct competitor has filed patents covering any of these methods. Jack &amp; Jill ($20M) has zero IP protection.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66344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#64/015-187  |  Micro entity  |  Nonprovisional conversion deadline: March 24, 2027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14/18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ASK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$750K seed. Or bootstrap to traction first.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657600" cy="1828800"/>
          </a:xfrm>
          <a:prstGeom prst="rect">
            <a:avLst/>
          </a:prstGeom>
          <a:solidFill>
            <a:srgbClr val="F0F0F0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BOOTSTRAP PATH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raise required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 lens validation Q2. First per-search revenue Q3. Revenue-positive by Q4 at 10+ firm pilots. Total investment to breakeven: &lt;$5K.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Prove unit economics, then raise on demonstrated traction.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657600" cy="1828800"/>
          </a:xfrm>
          <a:prstGeom prst="rect">
            <a:avLst/>
          </a:prstGeom>
          <a:solidFill>
            <a:srgbClr val="FEF0EF"/>
          </a:solidFill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54864" cy="1828800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1645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SEED PATH ($750K)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Accelerate by 12 months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2286000"/>
            <a:ext cx="1645920" cy="182880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0" y="22677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35%  Engineering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0" y="2560320"/>
            <a:ext cx="1417320" cy="182880"/>
          </a:xfrm>
          <a:prstGeom prst="rect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37960" y="254203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30%  Firm pilots + white-label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0" y="2834640"/>
            <a:ext cx="960120" cy="182880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80760" y="281635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20%  Operations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0" y="3108960"/>
            <a:ext cx="731520" cy="182880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52160" y="30906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15%  Marketing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3611880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3749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Seed target: 20+ firm pilots + $300K+ ARR by M18. Realistic exit scenarios: profitable niche ($5–15M ARR), acquisition by LinkedIn/Bullhorn/assessment platform, or expansion into PE/enterprise in-house talent.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434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'I'm going to build this regardless. Your money makes it faster, not possible.'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15/18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Four phases. Role lens leads.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182880" cy="182880"/>
          </a:xfrm>
          <a:prstGeom prst="ellipse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5840" y="1828800"/>
            <a:ext cx="0" cy="54864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1508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5087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17830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 lens design + stakeholder intake. Validation conversations with retained search firm leaders and senior hiring executives. Patent filed. Tester cohort active.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514600"/>
            <a:ext cx="182880" cy="182880"/>
          </a:xfrm>
          <a:prstGeom prst="ellipse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05840" y="2697480"/>
            <a:ext cx="0" cy="54864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Q2 '26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2377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 lens pilots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2651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2–3 boutique firms trial role lens on active searches. Produce client-facing search briefs that are obviously better than Word/PPT. Measure alignment speed.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3383280"/>
            <a:ext cx="182880" cy="182880"/>
          </a:xfrm>
          <a:prstGeom prst="ellipse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05840" y="3566160"/>
            <a:ext cx="0" cy="54864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71600" y="3246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Q3 '26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32461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Candidate lens + revenue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68880" y="35204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Add candidate intake. First per-search revenue ($2–5K). White-label option available. 5+ firm relationships.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4251960"/>
            <a:ext cx="182880" cy="182880"/>
          </a:xfrm>
          <a:prstGeom prst="ellipse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371600" y="4114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Q4 '26+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68880" y="4114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Scale + outcomes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68880" y="43891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Track search outcomes. Expand to 20+ firms. Begin outcome data collection. Seed raise on demonstrated traction and retention.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16/18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Eric Zelman, Founder.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18+ years building and leading Customer Success and Support teams at B2B SaaS companies. Most recently VP of Customer Support at Bigtincan — built the global support organization from zero.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personal system that powers my own job search is the working proof of concept. I built the pipelines, the scoring, the lens document, the patent application, and the coaching persona framework.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30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ADVISORS &amp; COLLABORATORS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Senior HR Advisor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32918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Retired Goldman Sachs Partner. 30+ yrs, COO Human Capital Management. Validation + exec recruiter network.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Founding Advisor / BD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37490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Advisor. C-level network. Proposed freemium GTM model.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Founding Coach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42062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First coach partner. Methodology encoded as AI persona (deep/introspective framework).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17/18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930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LENS PROJECT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Structured discovery and alignment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 high-stakes executive search.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320040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Working product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5176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Patent pending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Per-search revenue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9224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$35B TAM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Eric Zelman  |  zelman@gmail.com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434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CONFIDENTIAL — Subject to Mutual NDA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18/18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3666</Words>
  <Application>Microsoft Macintosh PowerPoint</Application>
  <PresentationFormat>On-screen Show (16:9)</PresentationFormat>
  <Paragraphs>390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Consolas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Lens Project — Investor Pitch</dc:title>
  <dc:subject>PptxGenJS Presentation</dc:subject>
  <dc:creator>Eric Zelman</dc:creator>
  <cp:lastModifiedBy>Eric Zelman</cp:lastModifiedBy>
  <cp:revision>2</cp:revision>
  <dcterms:created xsi:type="dcterms:W3CDTF">2026-04-13T02:29:32Z</dcterms:created>
  <dcterms:modified xsi:type="dcterms:W3CDTF">2026-04-23T01:44:26Z</dcterms:modified>
</cp:coreProperties>
</file>