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PLAN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Project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discovery and alignment for high-stakes executive search.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371600" cy="0"/>
          </a:xfrm>
          <a:prstGeom prst="line">
            <a:avLst/>
          </a:prstGeom>
          <a:noFill/>
          <a:ln w="31750">
            <a:solidFill>
              <a:srgbClr val="D9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for Jamie Stern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Eric Zelman  ·  Zelman Labs LLC  ·  April 2026  ·  v3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6405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— for review and feedback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hiring market runs on surface-level signals.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64008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Resumes are disposable.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Candidates rewrite them for every application. Recruiters scan for 6 seconds. The actual person disappears behind keywords.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4864" cy="64008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Assessments are static.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5511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DISC, StrengthsFinder, and Myers-Briggs produce a snapshot that sits in a drawer. No matching. No scoring. No daily utility.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4864" cy="64008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Stakeholder misalignment kills searches.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Late-stage disagreement on what a role actually requires is the #1 cause of failed executive searches — not candidate quality.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4864" cy="64008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862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Mis-hires are catastrophic at senior levels.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10565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failed $300K+ hire costs 3-5x salary. Executive recruiters rely on intuition and Rolodex. There is no systematic way to evaluate signal-level fit.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Extraction depth matters more than measurement format.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786384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OH, WANG &amp; MOUNT (2011)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Observer ratings of personality predict job performance significantly better than self-reports.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Journal of Applied Psychology, 96(4). This research inspired our focus on extraction depth over survey-based instruments. Lens produces higher-resolution structured self-report today; our roadmap includes external observer signals.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APTITUDE RESEARCH — MARKET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77%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lost talent due to lack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career development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60604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increased internal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mobility investment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 their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approach works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58%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3796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leave if not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considered internally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lenses. One alignment layer.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system produces two structured documents — a role lens and a candidate lens — that work together to prevent misalignment in high-stakes searches.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stakeholder alignment: what the search actually requires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Captures leadership style, team dynamics, growth stage, mission, culture trade-offs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80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Surfaces disagreement between partners before candidates enter the funnel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Client-facing artifact that replaces the Word doc search brief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258568"/>
            <a:ext cx="36576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240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25-45 min AI-guided coached conversation across 8 identity dimensions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2578608"/>
            <a:ext cx="36576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Portable, machine-readable document in the candidate's own voice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898648"/>
            <a:ext cx="36576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880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 weights, narrative sections, disqualifiers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3218688"/>
            <a:ext cx="36576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Bidirectional: scores candidates against role lens, and role against candidate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53712" y="1965960"/>
            <a:ext cx="0" cy="155448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491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1: Role lens (stakeholder alignment). Phase 2: Candidate lens (coached discovery). Phase 3: Outcome data and validation.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DISCOVERY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lenses get built.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Shown here: the candidate intake. The role lens (stakeholder alignment session) happens first, before any candidate is contacted.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828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5-category portfolio ingestion: resume, LinkedIn PDF, writing samples, assessments, anything else.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31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 &amp; Situation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5146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331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Employed, searching, or in transition? Timeline, constraints, urgency.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Discovery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0175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2834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sections of coached conversation. Probes identity, values, mission, skills, work style, energy, disqualifiers.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5204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generates a structured lens document with scoring weights and narrative sections. User reviews and confirms.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840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0233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0" y="38404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Downloadable file. Ready for scoring engine or direct sharing with a recruiter.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6405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insight: the 45-minute session is a feature, not a bug. It signals coaching-level depth. The role lens session with stakeholders happens before any candidate is contacted.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DOCUMENT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 output actually looks like.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47472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Jamie Stern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employed_exploring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mission_weight: 0.25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role_weight: 0.20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culture_weight: 0.18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skill_weight: 0.17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workstyle_weight: 0.12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energy_weight: 0.08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disqualifiers: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PE-backed companies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Non-technical product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Identity &amp; Essence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 Connects dots others miss...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EACH SECTION CAPTURES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 Header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883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Machine-readable scoring weights, disqualifiers, and metadata.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0665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Identity &amp; Essence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2128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this person is at their core — behavioral and motivational.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3957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5420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Behavioral evidence, not poster values. What they do under pressure.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7249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Mission &amp; Sector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8712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Specific problems and organizations worth their time.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305409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&amp; Experience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2004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to carry forward vs. leave behind. Signals, not keywords.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 Style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52958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Autonomy needs, collaboration patterns, pace preferences.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7124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Energy Sources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85876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fills them vs. drains them. Predicts retention.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0416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Disqualifiers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4187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 no's that feed the exclusion filter.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discovery to daily delivery.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78308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2763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847088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Stakeholder alignment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 search requirements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Client-facing brief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14600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1554480"/>
            <a:ext cx="178308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07208" y="162763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07208" y="1847088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AI-guided discovery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dimensions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25-45 min session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78308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62763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1847088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match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scores candidates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Candidates score roles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1554480"/>
            <a:ext cx="178308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6739128" y="162763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BRIEFING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39128" y="1847088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Client-facing deliverable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Scored shortlists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Alignment evidence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28346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FEEDBACK LOOP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 outcome data (time-to-slate, offer acceptance, early attrition) recalibrates scoring. The lens evolves — it appends, never overwrites.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78638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PATENT PENDING — APP #64/015,187  ·  FILED MARCH 24, 2026  ·  MICRO ENTITY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252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252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Identity-Signal Matching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248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Generating identity documents through coached AI discovery, matching bidirectionally against role documents.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61360" y="3840480"/>
            <a:ext cx="252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1360" y="3977640"/>
            <a:ext cx="252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Asymmetric Scoring Methodology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1360" y="4114800"/>
            <a:ext cx="248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 candidates against roles using weighted signal dimensions with gate tolerance and analysis depth controls.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882640" y="3840480"/>
            <a:ext cx="252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82640" y="3977640"/>
            <a:ext cx="252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Preference Learning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82640" y="4114800"/>
            <a:ext cx="248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Transparent drift detection in user preferences with contribution-based weight adjustment and re-discovery mode.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AI models stress-tested this thesis.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Perplexity (v1 + v2), ChatGPT GPT-4o, and Gemini 2.5 Pro independently evaluated the market thesis, defensibility, and product sequencing. The findings converged on 8 strategic pivots, all reflected in this deck.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Academic framing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"Foundation for" → "Inspired by." Add external signals to roadmap.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042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lead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3042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 first → Role lens first (stakeholder alignment).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426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42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 pitch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6426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"Better identity matching" → "Prevent expensive misalignment."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809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9809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it lives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9809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Inside recruiter ATS → At the client-recruiter boundary.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319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3192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Moat strategy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3192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Technology + format → Process embedding + white-label + outcome data.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 prop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657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"Deeper identity" → "Win searches, save time, show rigor."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959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9959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Pricing model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9959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Per-seat SaaS → Per-search ($2-5K) → firm subscription.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342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4334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customer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43342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 recruiters broadly → 10-20 person retained boutique.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7320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lens-stress-test-synthesis-v1.md — April 12,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RECOMMENDED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Prevent expensive misalignment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high-stakes searches.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371600" cy="0"/>
          </a:xfrm>
          <a:prstGeom prst="line">
            <a:avLst/>
          </a:prstGeom>
          <a:noFill/>
          <a:ln w="31750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 CONVERGENCE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independent AI stress tests + Goldman Sachs HCM validation + CRO-perspective analysis all landed on exec recruiting / stakeholder alignment as the highest-probability wedge.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PAIN IS ACUTE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failed $300K+ hire costs 3-5x salary. But the root cause isn't bad candidates — it's late-stage misalignment on what the role actually requires.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IS THE ENTRY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wedge is NOT 'help me understand this candidate better.' It's 'help the five partners at this firm agree on what they're actually looking for.'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DEPTH IS A FEATURE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this price point, 45 minutes isn't friction. And the role lens session with stakeholders happens before any candidate is contacted.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863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other three paths are viable but riskier. The following slides evaluate each.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 WEDGE: EXECUTIVE RECRUITING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first. Then candidate discovery.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search firms and boutique recruiters placing at $300K+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938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Per-search fee ($2K-5K) or annual license ($25-50K)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22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225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lens: structured stakeholder alignment that prevents late-stage misalignment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066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7066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lenses for shortlisting against the role lens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90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090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embedding + white-label + outcome data. Not technology alone.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5544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ROLE LENS FIRST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1856232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Solves an immediate, visible pain: late-stage 'wrong kind of leader' surprise that kills searches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176272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2148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Ties directly to revenue risk — losing a retainer, failed 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2496312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2468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Shows up before candidates enter the funnel — less friction, higher urgency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2816352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2788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Creates the natural bridge to candidate lenses once value is proven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3136392"/>
            <a:ext cx="36576" cy="3657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3108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Lives at the client-recruiter boundary — a product, not a feature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QUESTIONS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Will recruiters trust AI-generated signals over their own intuition?  ·  How do you prove prediction accuracy without placement outcome data?  ·  SquarePeg lesson: buyers pay for less work and better optics, not better judgment.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THE LENS SITS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search software landscape — 33+ tools evaluated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0"/>
          </a:xfrm>
          <a:prstGeom prst="line">
            <a:avLst/>
          </a:prstGeom>
          <a:noFill/>
          <a:ln w="6350">
            <a:solidFill>
              <a:srgbClr val="D930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0056" y="1188720"/>
            <a:ext cx="0" cy="301752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97480"/>
            <a:ext cx="71323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MATCHING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SOPHISTICATION ↑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43600" y="3977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DEPTH →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Faster search,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inputs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Better inputs,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better matches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 understanding,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matching engine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329184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338328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320040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47472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4560" y="356616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365760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0" y="329184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173736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182880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164592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192024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1828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1810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Jack &amp; Jill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0" y="27432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SquarePeg (pivoted)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301752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Clockwork, Invenias,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Talentis, Thrive TRM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520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DISC, StrengthsFinder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0" y="320040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3566160"/>
            <a:ext cx="164592" cy="164592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0" y="3017520"/>
            <a:ext cx="201168" cy="20116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6" name="Text 34"/>
          <p:cNvSpPr/>
          <p:nvPr/>
        </p:nvSpPr>
        <p:spPr>
          <a:xfrm>
            <a:off x="5897880" y="3017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03520" y="2286000"/>
            <a:ext cx="201168" cy="20116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2286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Torre.ai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32320" y="1280160"/>
            <a:ext cx="502920" cy="502920"/>
          </a:xfrm>
          <a:prstGeom prst="ellipse">
            <a:avLst/>
          </a:prstGeom>
          <a:noFill/>
          <a:ln w="25400">
            <a:solidFill>
              <a:srgbClr val="D930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51192" y="1399032"/>
            <a:ext cx="274320" cy="27432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1" name="Text 39"/>
          <p:cNvSpPr/>
          <p:nvPr/>
        </p:nvSpPr>
        <p:spPr>
          <a:xfrm>
            <a:off x="7086600" y="1051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809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Coached identity 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scoring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64592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Greenhouse, Workday, iCIMS,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Zoho, Jobvite, Workable +14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459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Recruiterflow, hireEZ,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SeekOut, Loxo, Manatal, Atlas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0080" y="4251960"/>
            <a:ext cx="7863840" cy="0"/>
          </a:xfrm>
          <a:prstGeom prst="line">
            <a:avLst/>
          </a:prstGeom>
          <a:noFill/>
          <a:ln w="6350">
            <a:solidFill>
              <a:srgbClr val="D930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297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tool optimizes the search. None improves the input.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452628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Recruiterflow market analysis (33 tools) + Lens Project competitive intelligence —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 RECRUITING: THE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needs to be true for this to 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292608" cy="292608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 one recruiter to use a role lens on an active 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YET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Warm intros to exec recruiters in progress via Goldman Sachs HCM and C-suite networks. Beth Stewart (Trewstar) intro sent. This is the single highest-priority next step.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292608" cy="292608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Recruiter confirms the role lens aligned stakeholders faster than their current process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148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YET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Qualitative validation that the role lens artifact adds value beyond their existing Word doc / PowerPoint brief.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92608" cy="292608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candidate lenses to the same 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YET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2697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Natural extension: once the role lens proves value, use candidate lenses for shortlisting against 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292608" cy="292608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Recruiter agrees to pay for a second 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3337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YET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0" y="32918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Willingness to pay on the second engagement proves it's not novelty. This is the repeatable revenue proof point.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886200"/>
            <a:ext cx="292608" cy="292608"/>
          </a:xfrm>
          <a:prstGeom prst="ellipse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Collect placement outcome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931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YET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3886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Did the lens-matched candidates stay longer? Perform better? This is the evidence that makes the product defensible.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46405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hardest hurdle isn't building the product — it's proving people need it. If gates 1-3 clear, that may be enough to attract backing.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ALTERNATIVE PATH: RISKIER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Self-Discovery (B2C / Freemium)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Mid-career professionals in transition or sensing misalignment.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lens → paid briefing at $50/month.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referrals, LinkedIn content, word of mouth. Note: these are validation channels, not a scalable sales motion.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scored briefings as passive monitoring engine.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IS RISKIER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47088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45-minute session is a conversion killer for a free self-serve tool. Expect high abandonment.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231136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$50/month is hard to justify without proven match quality. No evidence yet that the briefing drives action.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615184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596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distribution channel beyond warm network. Paid acquisition is not viable at this stage.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999232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980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Easiest to launch but hardest to scale profitably without strong viral or referral dynamics.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364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test validation: consumer self-service is more validated than enterprise precision, but revenue model is weaker.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ALTERNATIVE PATH: RISKIER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Internal Mobility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CHROs and VP Talent at mid-to-large enterprises (1,000+ employees).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Annual contract ($50K-200K). Budget: talent development or retention.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sales (pilot → expand). Requires HRIS integration, sales team, and proof points that don't exist yet.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Reduce early attrition in internal moves. Bidirectional lens matching.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IS RISKIER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47088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Competing directly with Eightfold ($2.1B valuation) and Gloat ($192M raised) at their core use case.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231136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sales cycles are 6-12 months. A solo bootstrapped founder cannot sustain this motion.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615184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596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Requires HRIS/ATS integration before any pilot can begin. Technical debt before revenue.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999232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980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Internal mobility market is $1.85B and growing, but the lens is untested as an enterprise tool.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364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is a later-stage expansion play, not a first wedge. It needs proof from other channels first.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ALTERNATIVE PATH: RISKIER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Channel (B2B2C)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Career coaches who need demand generation and measurable client ROI.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sharing on coached lens sessions. TBD structure.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32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4323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encodes methodology into AI persona. But coaches bring their own clients — this is a quality moat, not a sales channel.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712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FLYWHEEL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871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More coaches → more users → better data → better lenses.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IS RISKIER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47088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test confirmed: coach market is too diffuse for volume distribution. No concentration of buyers.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231136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Coaches need demand generation, not workflow efficiency — but demand gen requires marketing spend you don't have.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615184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596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share economics are unclear. Coaches bring their own clients — why would they share revenue?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999232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980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coach partner is engaged as first persona, but one partner doesn't prove a channel.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36576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364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Better as a quality moat and differentiator than as a primary GTM engine.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Others assess with surveys. We discover through coaching.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competitive gap isn't about having a matching engine — it's about input quality. Others use standardized self-report instruments (Plum, Torre.ai, Jack &amp; Jill). Lens uses coached conversational extraction and starts with the role, not the candidate.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794760" cy="10058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54864" cy="100584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METHOD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Coached conversational discovery (25-45 min) vs. standardized forced-choice surveys or brief AI chat (~10 min).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3794760" cy="10058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103120"/>
            <a:ext cx="54864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94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FORMAT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Portable, user-owned document with machine-readable scoring vs. platform-locked profiles or static reports.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794760" cy="10058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91840"/>
            <a:ext cx="54864" cy="1005840"/>
          </a:xfrm>
          <a:prstGeom prst="rect">
            <a:avLst/>
          </a:prstGeom>
          <a:solidFill>
            <a:srgbClr val="2D6A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83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FOCUS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$300K+ executive search where mis-hire cost justifies depth. Not high-volume early-career.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3794760" cy="10058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3291840"/>
            <a:ext cx="54864" cy="100584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383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6118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(stakeholder alignment) first, then candidate lenses. No other tool prevents search misalignment.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COMPETITOR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players, funding, and where they fall short.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463040"/>
                <a:gridCol w="4114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Company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Category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Funding / Revenue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Gap vs. Lens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Jack &amp; Jill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job matching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(nearest neighbor)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$20M seed (Oct 2025)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50K users (London)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Iterative conversational AI (~10 min). 20-min intake — shallow vs. 45-min coaching depth. No portable document, no document/portfolio ingestion.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Plum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590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Behavioral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590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assessment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$750/mo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Standardized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Standardized forced-choice assessment + role matching. High-volume/early-career focus. No coached discovery, no portable document.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Torre.ai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590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Professional genome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590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matching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$10M seed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112-factor model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112-factor 'professional genome.' Mid-market/LATAM focus. Survey-based, not coached. No stakeholder alignment layer.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BetterUp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coaching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$632M raised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~$100M ARR (2021)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Val: $4.7B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 portable document. No matching. No scoring. Structurally challenged.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Eightfold AI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Talent intelligence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$396M raised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~$100M ARR (est.)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Val: $2.1B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Skills inference at scale, no coached discovery. Enterprise-only.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Gloat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Internal mobility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$192M raised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ARR undisclosed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Internal marketplace only. No external matching. No discovery layer.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SquarePeg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screening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$6.6M raised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$2.8M rev (2024)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Tried bidirectional matching. Pivoted to screening. Cautionary prior art.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CUSTOMER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10-20 person retained boutique.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Strongest consensus from the stress test: the first buyer is specific and identifiable.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FIRM SIZE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10-20 people. Sector-focused (B2B SaaS, healthcare, PE-backed portfolio cos).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 VOLUME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22677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20-60 C-level searches/year. $150-250K average fee.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27066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Uses Invenias or Clockwork plus spreadsheets. No proprietary assessment layer.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31455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Prides themselves on white-glove discovery. Founding partner is closely involved in searches.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584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PRESSURE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35844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 pressure from PE/board clients to show more 'rigor' in candidate evaluation.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TRIGGER EVENT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4023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high-profile mis-hire that leads to tense post-mortem, or a competitive pitch where the firm fears losing to a bigger firm touting proprietary psychometrics.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6405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Per-search pricing: $2-5K per search package (1 role lens + N candidate lenses + client-ready reporting). At $4K/search across 2,500 searches/year → $10M ARR.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exists today.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49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&amp; WORKING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499360" cy="0"/>
          </a:xfrm>
          <a:prstGeom prst="line">
            <a:avLst/>
          </a:prstGeom>
          <a:noFill/>
          <a:ln w="12700">
            <a:solidFill>
              <a:srgbClr val="2D6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5564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AI-guided intake form (functional prototype)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8-section discovery flow with live 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 document output (structured + portable)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Secure serverless deployment (Vercel)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feedback collection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2724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 schema (6 weighted dimensions)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coach persona encoded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67588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Provisional patent filed (Mar 2026)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95020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Tester feedback cycle (active)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22452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Competitive intelligence (33+ entries)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22320" y="1463040"/>
            <a:ext cx="249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22320" y="1664208"/>
            <a:ext cx="2499360" cy="0"/>
          </a:xfrm>
          <a:prstGeom prst="line">
            <a:avLst/>
          </a:prstGeom>
          <a:noFill/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2320" y="175564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design + stakeholder alignment intake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2320" y="20299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 recruiter intros (warm network)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2320" y="230428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NSF SBIR pitch (v0.3 drafted)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2320" y="257860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Zelman Labs LLC (RI) 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22320" y="285292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SAM.gov registration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22320" y="312724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Beth Stewart / Trewstar validation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22320" y="34015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Birdsong validation outreach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04560" y="1463040"/>
            <a:ext cx="249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YET BUILT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4560" y="1664208"/>
            <a:ext cx="24993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4560" y="175564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Multi-tenant infrastructure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04560" y="20299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Stripe payment integration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04560" y="230428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onboarding beyond first partner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04560" y="257860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integrations (HRIS/ATS)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04560" y="285292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Score-role API endpoint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04560" y="312724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Domain selection for product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04560" y="34015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White-label option for firms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paths — prove demand first, then build.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645920"/>
                <a:gridCol w="13716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Revenue Stream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Buyer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Price Point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Timeline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Risk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Exec search licensing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Search firm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$2K-5K/search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or $25-50K/yr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Now (manual)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6A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LOWEST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 lens generation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Individual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 (lead gen)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 2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LOW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Paid briefing sub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Individual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$50/month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 3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MEDIUM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Coach channel rev share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Coach partner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Rev share TBD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 3-4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HIGHER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Enterprise platform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CHRO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$50K-200K/yr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 4+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HIGHEST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3375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ROADMAP (ROLE LENS-LED)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187452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657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8587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validation with 2-3 boutique firms. Prove demand.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31520" y="43891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 → Q3 '26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606040" y="3611880"/>
            <a:ext cx="187452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9"/>
          <p:cNvSpPr/>
          <p:nvPr/>
        </p:nvSpPr>
        <p:spPr>
          <a:xfrm>
            <a:off x="2697480" y="3657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38587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demand is proven, raise on evidence of pull.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97480" y="43891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Q3-Q4 '26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0" y="3611880"/>
            <a:ext cx="187452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3657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63440" y="38587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Productize for recruiter self-service. Candidate lens. White-label option.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663440" y="43891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Q4 '26 → Q1 '27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537960" y="3611880"/>
            <a:ext cx="187452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7"/>
          <p:cNvSpPr/>
          <p:nvPr/>
        </p:nvSpPr>
        <p:spPr>
          <a:xfrm>
            <a:off x="6629400" y="3657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29400" y="38587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consumer lens. Paid briefings. Enterprise pilot.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29400" y="43891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2027+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RISKS &amp; OPEN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honest accounting.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9525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Thesis-heavy, evidence-light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08960" y="1463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funnel data, completion rates, or willingness-to-pay evidence yet. The tester cycle is in progress but hasn't produced quantitative proof. This is the #1 thing to fix.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Oh/Wang/Mount overclaim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920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Current AI conversation is structured self-report, not observer-grade assessment. Reframed as inspiration, not validation. Validation study planned for Phase 3.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SquarePeg precedent + stress test lesson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3774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Tried bidirectional psychometric matching, raised $6.6M, pivoted to screening. Confirmed by 4 independent AI stress tests: buyers pay for less work and better optics, not better judgment. Lens must lead with time savings and deal-winning.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Single-founder bootstrapped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2834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co-founder, no outside capital, nights-and-weekends build alongside active senior job search. Capacity is the binding constraint.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Gaming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32918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the lens governs scoring, users may present an idealized self. Mitigated by coached discovery (behavioral questions, not self-report) and intrinsic motivation.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Validation ≠ sales motion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3749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Warm intros can prove demand with 1-3 recruiters. But a real GTM requires outbound to ~300 boutique firms, case-study content, and community presence.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Patent timeline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4206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Provisional filed March 2026. Must convert to nonprovisional by March 2027. Microsoft prior art flagged for attorney review.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FEEDBACK REQUESTED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Jamie — what I'd like your take 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0"/>
          </a:xfrm>
          <a:prstGeom prst="line">
            <a:avLst/>
          </a:prstGeom>
          <a:noFill/>
          <a:ln w="25400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09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the role lens / stakeholder alignment angle change how you'd evaluate the wedge?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122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'prevent expensive misalignment' resonate more than 'deeper identity matching' as a pitch?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6151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Are any of the riskier paths actually less risky than I think? What am I missing?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1181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this a consulting play or a product? Could manual lens builds for recruiters be the right v1?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6210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 a CRO, what would you need to see from a proof-of-concept before recommending this to a search firm?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1239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else should I be talking to — specifically in the exec search world?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6405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Eric Zelman  ·  zelman@gmail.com  ·  Zelman Labs LLC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Project — Business Plan Review v3</dc:title>
  <dc:subject>PptxGenJS Presentation</dc:subject>
  <dc:creator>Eric Zelman</dc:creator>
  <cp:lastModifiedBy>Eric Zelman</cp:lastModifiedBy>
  <cp:revision>1</cp:revision>
  <dcterms:created xsi:type="dcterms:W3CDTF">2026-04-13T02:09:48Z</dcterms:created>
  <dcterms:modified xsi:type="dcterms:W3CDTF">2026-04-13T02:09:48Z</dcterms:modified>
</cp:coreProperties>
</file>