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embeddedFontLst>
    <p:embeddedFont>
      <p:font typeface="Helvetica Neue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jiI2avBg8zHuxmKHo29U3CW8T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11905C-03F8-4F40-B693-104CC47C7B46}">
  <a:tblStyle styleId="{BF11905C-03F8-4F40-B693-104CC47C7B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5a7a2a64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5a7a2a64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5a7a2a64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1920240"/>
            <a:ext cx="1371600" cy="0"/>
          </a:xfrm>
          <a:prstGeom prst="rect">
            <a:avLst/>
          </a:prstGeom>
          <a:noFill/>
          <a:ln cap="flat" cmpd="sng" w="25400">
            <a:solidFill>
              <a:srgbClr val="D93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Professional Identity Discovery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en-US" sz="12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pril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Helvetica Neue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Eric Zelman  ·  Zelman Labs LLC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Helvetica Neue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Hiring is broken on both sides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1463040"/>
            <a:ext cx="38404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31520" y="1600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CANDIDATES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1965960"/>
            <a:ext cx="3291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Resumes flatten identity into keywords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ATS systems reward gaming, not authenticity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22+ cold applications → zero responses is typical at senior levels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Helvetica Neue"/>
              <a:buNone/>
            </a:pPr>
            <a:r>
              <a:rPr b="0" i="1" lang="en-US" sz="13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version of you that gets hired isn't the real you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846320" y="1463040"/>
            <a:ext cx="38404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5120640" y="1600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COMPANIES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120640" y="1965960"/>
            <a:ext cx="3291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77% lose talent due to lack of career development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25% confident their mobility approach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Executive mis-hires at $300K+ cost 5–10× salary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Helvetica Neue"/>
              <a:buNone/>
            </a:pPr>
            <a:r>
              <a:rPr b="0" i="1" lang="en-US" sz="13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Interviews test performance, not fit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Source: Aptitude Research, 2024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IT 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replaces the resume with something real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Helvetica Neue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AI-guided discovery conversation — modeled on executive coaching — that produces a machine-readable identity document called a "lens."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457200" y="2606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29260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25-</a:t>
            </a:r>
            <a:r>
              <a:rPr b="0" i="0" lang="en-US" sz="1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45-minute AI-guided conversation across 8 identity dimensions: essence, values, mission, skills, work style, energy, disqualifiers, situation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3383280" y="2606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383280" y="29260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elvetica Neue"/>
              <a:buNone/>
            </a:pPr>
            <a:r>
              <a:rPr lang="en-US" sz="1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just a PDF- a </a:t>
            </a:r>
            <a:r>
              <a:rPr b="0" i="0" lang="en-US" sz="1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portable lens document (YAML + markdown) — not a profile, not a resume. A scoring contract that defines who you are professionally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6520" y="2148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6309360" y="2606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309360" y="2926080"/>
            <a:ext cx="25603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Bidirectional scoring: your lens scores companies (C→R) and company role lenses score you (R→C). Signal matching, not keyword matching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Observer ratings predict job performance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than self-reports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7200" y="1645920"/>
            <a:ext cx="54864" cy="146304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777240" y="1645920"/>
            <a:ext cx="7863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Helvetica Neue"/>
              <a:buNone/>
            </a:pPr>
            <a:r>
              <a:rPr b="0" i="1" lang="en-US" sz="15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Oh, Wang &amp; Mount (2011) found that third-party observer assessments of personality traits are significantly better predictors of job performance than self-assessments — the exact foundation for coached discovery over surveys.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77240" y="32004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Journal of Applied Psychology, 96(4)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Helvetica Neue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is why Lens uses coaching-</a:t>
            </a:r>
            <a:r>
              <a:rPr lang="en-US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guided</a:t>
            </a:r>
            <a:r>
              <a:rPr b="0" i="0" lang="en-US" sz="14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AI conversation — not surveys,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keyword extraction, not personality tests.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IT 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discovery to matched opportunities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57200" y="1463040"/>
            <a:ext cx="1828800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57200" y="1554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INTAKE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192024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Resume, LinkedIn,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writing samples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331720" y="20116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606040" y="1463040"/>
            <a:ext cx="1828800" cy="164592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2606040" y="1554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606040" y="192024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AI-guided coaching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 identity dimensions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480560" y="20116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754880" y="1463040"/>
            <a:ext cx="182880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754880" y="1554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754880" y="192024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YAML + markdown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scoring contract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629400" y="201168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903720" y="1463040"/>
            <a:ext cx="1828800" cy="164592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903720" y="1554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903720" y="192024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Bidirectional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C→R and R→C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ENTERPRISE APPLICATION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Companies create a Role Lens (what they actually need) and score candidates against it. Candidates score companies against their own lens. The match works both directions — neither side is reduced to keywords.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WE 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Early validation signals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D93025"/>
                </a:solidFill>
                <a:latin typeface="Courier New"/>
                <a:ea typeface="Courier New"/>
                <a:cs typeface="Courier New"/>
                <a:sym typeface="Courier New"/>
              </a:rPr>
              <a:t>6+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" y="19659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Testers completed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discovery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606040" y="13716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2D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2D6A2D"/>
                </a:solidFill>
                <a:latin typeface="Courier New"/>
                <a:ea typeface="Courier New"/>
                <a:cs typeface="Courier New"/>
                <a:sym typeface="Courier New"/>
              </a:rPr>
              <a:t>45m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606040" y="19659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session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length (coaching depth)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754880" y="13716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D93025"/>
                </a:solidFill>
                <a:latin typeface="Courier New"/>
                <a:ea typeface="Courier New"/>
                <a:cs typeface="Courier New"/>
                <a:sym typeface="Courier New"/>
              </a:rPr>
              <a:t>~8/10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754880" y="19659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"Feels like me"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rating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903720" y="13716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ourier New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903720" y="19659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Provisional patent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filed March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2834640"/>
            <a:ext cx="8229600" cy="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MILESTONES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Zelman Labs LLC formed (RI)  ·  Provisional patent App #64/015,187  ·  Live on Vercel (serverless proxy)  ·  NSF SBIR pitch in progress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 INSIGHT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Executive recruiters are the likely first buyer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Helvetica Neue"/>
              <a:buNone/>
            </a:pPr>
            <a:r>
              <a:rPr b="0" i="1" lang="en-US" sz="12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Validated through conversation with Edie Hunt (retired Goldman Sachs Partner, 30+ years)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373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1005840" y="16916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discovery is only justified at $300K+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05840" y="1984248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Board-level and C-suite placements where a mis-hire costs millions. The time investment of a full lens session maps to executive search fees, not mass-market recruiting.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6517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1005840" y="26060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Executive recruiters, not HR or coaches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05840" y="2898648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Recruiters have the highest willingness to pay. HR is cost-center constrained. Coaches are too diffuse for volume distribution. Exec search firms are concentrated and high-margin.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566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1005840" y="35204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Helvetica Neue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mobility is the enterprise wedge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05840" y="3813048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70% of companies increased internal mobility investment, but only 25% are confident it works. Lens provides the missing identity layer for matching internal talent to internal roles.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COMPETITIVE LANDSCAPE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Helvetica Neue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Nobody does deep discovery on both sides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8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{BF11905C-03F8-4F40-B693-104CC47C7B46}</a:tableStyleId>
              </a:tblPr>
              <a:tblGrid>
                <a:gridCol w="2011675"/>
                <a:gridCol w="1371600"/>
                <a:gridCol w="1554475"/>
                <a:gridCol w="1371600"/>
                <a:gridCol w="13716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Identity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Depth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Bidirectional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Matching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Portable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Document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AI-Guided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Helvetica Neue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Discovery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3025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D93025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Lens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Deep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3F0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LinkedIn / ATS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Surface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DISC / StrengthsFinder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Moderate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Partial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Jack &amp; Jill ($20M seed)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Shallow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Yes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SquarePeg (pivoted)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Moderate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Attempted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360 Feedback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Retrospective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1100"/>
                        <a:buFont typeface="Helvetica Neue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Helvetica Neue"/>
              <a:buNone/>
            </a:pPr>
            <a:r>
              <a:rPr b="0" i="1" lang="en-US" sz="12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is the only product that combines coaching-depth identity extraction with bidirectional matching and a portable, machine-readable output.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5a7a2a649_0_0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5a7a2a649_0_0"/>
          <p:cNvSpPr/>
          <p:nvPr/>
        </p:nvSpPr>
        <p:spPr>
          <a:xfrm>
            <a:off x="457200" y="384048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Helvetica Neue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THE LENS SITS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5a7a2a649_0_0"/>
          <p:cNvSpPr/>
          <p:nvPr/>
        </p:nvSpPr>
        <p:spPr>
          <a:xfrm>
            <a:off x="457200" y="65836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Helvetica Neue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Executive search software landscape — 33+ tools evaluated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g3d5a7a2a649_0_0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g3d5a7a2a649_0_0"/>
          <p:cNvCxnSpPr/>
          <p:nvPr/>
        </p:nvCxnSpPr>
        <p:spPr>
          <a:xfrm>
            <a:off x="1645920" y="2743200"/>
            <a:ext cx="6583800" cy="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g3d5a7a2a649_0_0"/>
          <p:cNvCxnSpPr/>
          <p:nvPr/>
        </p:nvCxnSpPr>
        <p:spPr>
          <a:xfrm>
            <a:off x="4937760" y="1188720"/>
            <a:ext cx="0" cy="3108900"/>
          </a:xfrm>
          <a:prstGeom prst="straightConnector1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g3d5a7a2a649_0_0"/>
          <p:cNvSpPr/>
          <p:nvPr/>
        </p:nvSpPr>
        <p:spPr>
          <a:xfrm>
            <a:off x="1645920" y="4617720"/>
            <a:ext cx="6583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DISCOVERY DEPTH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d5a7a2a649_0_0"/>
          <p:cNvSpPr/>
          <p:nvPr/>
        </p:nvSpPr>
        <p:spPr>
          <a:xfrm>
            <a:off x="1554480" y="4370832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Helvetica Neue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Resume / self-report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d5a7a2a649_0_0"/>
          <p:cNvSpPr/>
          <p:nvPr/>
        </p:nvSpPr>
        <p:spPr>
          <a:xfrm>
            <a:off x="6583680" y="4370832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Helvetica Neue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Coached identity signals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d5a7a2a649_0_0"/>
          <p:cNvSpPr/>
          <p:nvPr/>
        </p:nvSpPr>
        <p:spPr>
          <a:xfrm rot="-5400000">
            <a:off x="137220" y="228594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MATCHING SOPHISTICATION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d5a7a2a649_0_0"/>
          <p:cNvSpPr/>
          <p:nvPr/>
        </p:nvSpPr>
        <p:spPr>
          <a:xfrm>
            <a:off x="777240" y="3977640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Helvetica Neue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Keyword / criteria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5a7a2a649_0_0"/>
          <p:cNvSpPr/>
          <p:nvPr/>
        </p:nvSpPr>
        <p:spPr>
          <a:xfrm>
            <a:off x="777240" y="1143000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Helvetica Neue"/>
              <a:buNone/>
            </a:pPr>
            <a:r>
              <a:rPr b="0" i="0" lang="en-US" sz="7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Signal-based scoring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d5a7a2a649_0_0"/>
          <p:cNvSpPr/>
          <p:nvPr/>
        </p:nvSpPr>
        <p:spPr>
          <a:xfrm>
            <a:off x="1920240" y="1325880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Helvetica Neue"/>
              <a:buNone/>
            </a:pPr>
            <a:r>
              <a:rPr b="0" i="1" lang="en-US" sz="850" u="none" cap="none" strike="noStrike">
                <a:solidFill>
                  <a:srgbClr val="BBBBB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Faster search,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Helvetica Neue"/>
              <a:buNone/>
            </a:pPr>
            <a:r>
              <a:rPr b="0" i="1" lang="en-US" sz="850" u="none" cap="none" strike="noStrike">
                <a:solidFill>
                  <a:srgbClr val="BBBBB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same inputs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d5a7a2a649_0_0"/>
          <p:cNvSpPr/>
          <p:nvPr/>
        </p:nvSpPr>
        <p:spPr>
          <a:xfrm>
            <a:off x="5212080" y="1325880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Helvetica Neue"/>
              <a:buNone/>
            </a:pPr>
            <a:r>
              <a:rPr b="0" i="1" lang="en-US" sz="850" u="none" cap="none" strike="noStrike">
                <a:solidFill>
                  <a:srgbClr val="BBBBB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inputs,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Helvetica Neue"/>
              <a:buNone/>
            </a:pPr>
            <a:r>
              <a:rPr b="0" i="1" lang="en-US" sz="850" u="none" cap="none" strike="noStrike">
                <a:solidFill>
                  <a:srgbClr val="BBBBB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better matches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d5a7a2a649_0_0"/>
          <p:cNvSpPr/>
          <p:nvPr/>
        </p:nvSpPr>
        <p:spPr>
          <a:xfrm>
            <a:off x="1737360" y="2926080"/>
            <a:ext cx="118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Helvetica Neue"/>
              <a:buNone/>
            </a:pPr>
            <a:r>
              <a:rPr b="0" i="1" lang="en-US" sz="850" u="none" cap="none" strike="noStrike">
                <a:solidFill>
                  <a:srgbClr val="BBBBB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Helvetica Neue"/>
              <a:buNone/>
            </a:pPr>
            <a:r>
              <a:rPr b="0" i="1" lang="en-US" sz="850" u="none" cap="none" strike="noStrike">
                <a:solidFill>
                  <a:srgbClr val="BBBBB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d5a7a2a649_0_0"/>
          <p:cNvSpPr/>
          <p:nvPr/>
        </p:nvSpPr>
        <p:spPr>
          <a:xfrm>
            <a:off x="6309360" y="292608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Helvetica Neue"/>
              <a:buNone/>
            </a:pPr>
            <a:r>
              <a:rPr b="0" i="1" lang="en-US" sz="850" u="none" cap="none" strike="noStrike">
                <a:solidFill>
                  <a:srgbClr val="BBBBB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understanding,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50"/>
              <a:buFont typeface="Helvetica Neue"/>
              <a:buNone/>
            </a:pPr>
            <a:r>
              <a:rPr b="0" i="1" lang="en-US" sz="850" u="none" cap="none" strike="noStrike">
                <a:solidFill>
                  <a:srgbClr val="BBBBB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matching engine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d5a7a2a649_0_0"/>
          <p:cNvSpPr/>
          <p:nvPr/>
        </p:nvSpPr>
        <p:spPr>
          <a:xfrm>
            <a:off x="2514600" y="333756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5a7a2a649_0_0"/>
          <p:cNvSpPr/>
          <p:nvPr/>
        </p:nvSpPr>
        <p:spPr>
          <a:xfrm>
            <a:off x="2697480" y="324612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5a7a2a649_0_0"/>
          <p:cNvSpPr/>
          <p:nvPr/>
        </p:nvSpPr>
        <p:spPr>
          <a:xfrm>
            <a:off x="2331720" y="320040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d5a7a2a649_0_0"/>
          <p:cNvSpPr/>
          <p:nvPr/>
        </p:nvSpPr>
        <p:spPr>
          <a:xfrm>
            <a:off x="2880360" y="338328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5a7a2a649_0_0"/>
          <p:cNvSpPr/>
          <p:nvPr/>
        </p:nvSpPr>
        <p:spPr>
          <a:xfrm>
            <a:off x="2697480" y="347472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5a7a2a649_0_0"/>
          <p:cNvSpPr/>
          <p:nvPr/>
        </p:nvSpPr>
        <p:spPr>
          <a:xfrm>
            <a:off x="2971800" y="329184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5a7a2a649_0_0"/>
          <p:cNvSpPr/>
          <p:nvPr/>
        </p:nvSpPr>
        <p:spPr>
          <a:xfrm>
            <a:off x="2240280" y="329184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5a7a2a649_0_0"/>
          <p:cNvSpPr/>
          <p:nvPr/>
        </p:nvSpPr>
        <p:spPr>
          <a:xfrm>
            <a:off x="2788920" y="315468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5a7a2a649_0_0"/>
          <p:cNvSpPr/>
          <p:nvPr/>
        </p:nvSpPr>
        <p:spPr>
          <a:xfrm>
            <a:off x="3063240" y="342900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5a7a2a649_0_0"/>
          <p:cNvSpPr/>
          <p:nvPr/>
        </p:nvSpPr>
        <p:spPr>
          <a:xfrm>
            <a:off x="2423160" y="3520440"/>
            <a:ext cx="91500" cy="91500"/>
          </a:xfrm>
          <a:prstGeom prst="ellipse">
            <a:avLst/>
          </a:prstGeom>
          <a:solidFill>
            <a:srgbClr val="B4B2A9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5a7a2a649_0_0"/>
          <p:cNvSpPr/>
          <p:nvPr/>
        </p:nvSpPr>
        <p:spPr>
          <a:xfrm>
            <a:off x="2011680" y="370332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50"/>
              <a:buFont typeface="Helvetica Neue"/>
              <a:buNone/>
            </a:pPr>
            <a:r>
              <a:rPr b="0" i="0" lang="en-US" sz="650" u="none" cap="none" strike="noStrike">
                <a:solidFill>
                  <a:srgbClr val="7777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Greenhouse, Workday, iCIMS,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50"/>
              <a:buFont typeface="Helvetica Neue"/>
              <a:buNone/>
            </a:pPr>
            <a:r>
              <a:rPr b="0" i="0" lang="en-US" sz="650" u="none" cap="none" strike="noStrike">
                <a:solidFill>
                  <a:srgbClr val="7777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Zoho, Jobvite, Workable +14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d5a7a2a649_0_0"/>
          <p:cNvSpPr/>
          <p:nvPr/>
        </p:nvSpPr>
        <p:spPr>
          <a:xfrm>
            <a:off x="3607308" y="2967228"/>
            <a:ext cx="100500" cy="100500"/>
          </a:xfrm>
          <a:prstGeom prst="ellipse">
            <a:avLst/>
          </a:prstGeom>
          <a:solidFill>
            <a:srgbClr val="888780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5a7a2a649_0_0"/>
          <p:cNvSpPr/>
          <p:nvPr/>
        </p:nvSpPr>
        <p:spPr>
          <a:xfrm>
            <a:off x="3790188" y="3058668"/>
            <a:ext cx="100500" cy="100500"/>
          </a:xfrm>
          <a:prstGeom prst="ellipse">
            <a:avLst/>
          </a:prstGeom>
          <a:solidFill>
            <a:srgbClr val="888780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5a7a2a649_0_0"/>
          <p:cNvSpPr/>
          <p:nvPr/>
        </p:nvSpPr>
        <p:spPr>
          <a:xfrm>
            <a:off x="3424428" y="3104388"/>
            <a:ext cx="100500" cy="100500"/>
          </a:xfrm>
          <a:prstGeom prst="ellipse">
            <a:avLst/>
          </a:prstGeom>
          <a:solidFill>
            <a:srgbClr val="888780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d5a7a2a649_0_0"/>
          <p:cNvSpPr/>
          <p:nvPr/>
        </p:nvSpPr>
        <p:spPr>
          <a:xfrm>
            <a:off x="3698748" y="3195828"/>
            <a:ext cx="100500" cy="100500"/>
          </a:xfrm>
          <a:prstGeom prst="ellipse">
            <a:avLst/>
          </a:prstGeom>
          <a:solidFill>
            <a:srgbClr val="888780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d5a7a2a649_0_0"/>
          <p:cNvSpPr/>
          <p:nvPr/>
        </p:nvSpPr>
        <p:spPr>
          <a:xfrm>
            <a:off x="3881628" y="2921508"/>
            <a:ext cx="100500" cy="100500"/>
          </a:xfrm>
          <a:prstGeom prst="ellipse">
            <a:avLst/>
          </a:prstGeom>
          <a:solidFill>
            <a:srgbClr val="888780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5a7a2a649_0_0"/>
          <p:cNvSpPr/>
          <p:nvPr/>
        </p:nvSpPr>
        <p:spPr>
          <a:xfrm>
            <a:off x="4069080" y="3108960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50"/>
              <a:buFont typeface="Helvetica Neue"/>
              <a:buNone/>
            </a:pPr>
            <a:r>
              <a:rPr b="0" i="0" lang="en-US" sz="650" u="none" cap="none" strike="noStrike">
                <a:solidFill>
                  <a:srgbClr val="7777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Clockwork, Invenias,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50"/>
              <a:buFont typeface="Helvetica Neue"/>
              <a:buNone/>
            </a:pPr>
            <a:r>
              <a:rPr b="0" i="0" lang="en-US" sz="650" u="none" cap="none" strike="noStrike">
                <a:solidFill>
                  <a:srgbClr val="7777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Talentis, Thrive TRM, Cluen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d5a7a2a649_0_0"/>
          <p:cNvSpPr/>
          <p:nvPr/>
        </p:nvSpPr>
        <p:spPr>
          <a:xfrm>
            <a:off x="2596896" y="1865376"/>
            <a:ext cx="109800" cy="109800"/>
          </a:xfrm>
          <a:prstGeom prst="ellipse">
            <a:avLst/>
          </a:prstGeom>
          <a:solidFill>
            <a:srgbClr val="378ADD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5a7a2a649_0_0"/>
          <p:cNvSpPr/>
          <p:nvPr/>
        </p:nvSpPr>
        <p:spPr>
          <a:xfrm>
            <a:off x="2871216" y="1956816"/>
            <a:ext cx="109800" cy="109800"/>
          </a:xfrm>
          <a:prstGeom prst="ellipse">
            <a:avLst/>
          </a:prstGeom>
          <a:solidFill>
            <a:srgbClr val="378ADD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5a7a2a649_0_0"/>
          <p:cNvSpPr/>
          <p:nvPr/>
        </p:nvSpPr>
        <p:spPr>
          <a:xfrm>
            <a:off x="3054096" y="1819656"/>
            <a:ext cx="109800" cy="109800"/>
          </a:xfrm>
          <a:prstGeom prst="ellipse">
            <a:avLst/>
          </a:prstGeom>
          <a:solidFill>
            <a:srgbClr val="378ADD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5a7a2a649_0_0"/>
          <p:cNvSpPr/>
          <p:nvPr/>
        </p:nvSpPr>
        <p:spPr>
          <a:xfrm>
            <a:off x="2779776" y="2093976"/>
            <a:ext cx="109800" cy="109800"/>
          </a:xfrm>
          <a:prstGeom prst="ellipse">
            <a:avLst/>
          </a:prstGeom>
          <a:solidFill>
            <a:srgbClr val="378ADD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5a7a2a649_0_0"/>
          <p:cNvSpPr/>
          <p:nvPr/>
        </p:nvSpPr>
        <p:spPr>
          <a:xfrm>
            <a:off x="3145536" y="2002536"/>
            <a:ext cx="109800" cy="109800"/>
          </a:xfrm>
          <a:prstGeom prst="ellipse">
            <a:avLst/>
          </a:prstGeom>
          <a:solidFill>
            <a:srgbClr val="378ADD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d5a7a2a649_0_0"/>
          <p:cNvSpPr/>
          <p:nvPr/>
        </p:nvSpPr>
        <p:spPr>
          <a:xfrm>
            <a:off x="2414016" y="2048256"/>
            <a:ext cx="109800" cy="109800"/>
          </a:xfrm>
          <a:prstGeom prst="ellipse">
            <a:avLst/>
          </a:prstGeom>
          <a:solidFill>
            <a:srgbClr val="378ADD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5a7a2a649_0_0"/>
          <p:cNvSpPr/>
          <p:nvPr/>
        </p:nvSpPr>
        <p:spPr>
          <a:xfrm>
            <a:off x="2103120" y="2240280"/>
            <a:ext cx="1828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50"/>
              <a:buFont typeface="Helvetica Neue"/>
              <a:buNone/>
            </a:pPr>
            <a:r>
              <a:rPr b="0" i="0" lang="en-US" sz="650" u="none" cap="none" strike="noStrike">
                <a:solidFill>
                  <a:srgbClr val="7777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Recruiterflow, hireEZ,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50"/>
              <a:buFont typeface="Helvetica Neue"/>
              <a:buNone/>
            </a:pPr>
            <a:r>
              <a:rPr b="0" i="0" lang="en-US" sz="650" u="none" cap="none" strike="noStrike">
                <a:solidFill>
                  <a:srgbClr val="7777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SeekOut, Loxo, Manatal, Atlas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d5a7a2a649_0_0"/>
          <p:cNvSpPr/>
          <p:nvPr/>
        </p:nvSpPr>
        <p:spPr>
          <a:xfrm>
            <a:off x="6172200" y="3611880"/>
            <a:ext cx="91500" cy="91500"/>
          </a:xfrm>
          <a:prstGeom prst="ellipse">
            <a:avLst/>
          </a:prstGeom>
          <a:solidFill>
            <a:srgbClr val="D3D1C7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d5a7a2a649_0_0"/>
          <p:cNvSpPr/>
          <p:nvPr/>
        </p:nvSpPr>
        <p:spPr>
          <a:xfrm>
            <a:off x="6400800" y="3749040"/>
            <a:ext cx="91500" cy="91500"/>
          </a:xfrm>
          <a:prstGeom prst="ellipse">
            <a:avLst/>
          </a:prstGeom>
          <a:solidFill>
            <a:srgbClr val="D3D1C7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5a7a2a649_0_0"/>
          <p:cNvSpPr/>
          <p:nvPr/>
        </p:nvSpPr>
        <p:spPr>
          <a:xfrm>
            <a:off x="5989320" y="3794760"/>
            <a:ext cx="91500" cy="91500"/>
          </a:xfrm>
          <a:prstGeom prst="ellipse">
            <a:avLst/>
          </a:prstGeom>
          <a:solidFill>
            <a:srgbClr val="D3D1C7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5a7a2a649_0_0"/>
          <p:cNvSpPr/>
          <p:nvPr/>
        </p:nvSpPr>
        <p:spPr>
          <a:xfrm>
            <a:off x="5623560" y="393192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50"/>
              <a:buFont typeface="Helvetica Neue"/>
              <a:buNone/>
            </a:pPr>
            <a:r>
              <a:rPr b="0" i="0" lang="en-US" sz="650" u="none" cap="none" strike="noStrike">
                <a:solidFill>
                  <a:srgbClr val="7777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DISC, StrengthsFinder,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650"/>
              <a:buFont typeface="Helvetica Neue"/>
              <a:buNone/>
            </a:pPr>
            <a:r>
              <a:rPr b="0" i="0" lang="en-US" sz="650" u="none" cap="none" strike="noStrike">
                <a:solidFill>
                  <a:srgbClr val="7777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360 feedback tools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d5a7a2a649_0_0"/>
          <p:cNvSpPr/>
          <p:nvPr/>
        </p:nvSpPr>
        <p:spPr>
          <a:xfrm>
            <a:off x="4709160" y="2194560"/>
            <a:ext cx="91500" cy="91500"/>
          </a:xfrm>
          <a:prstGeom prst="ellipse">
            <a:avLst/>
          </a:prstGeom>
          <a:solidFill>
            <a:srgbClr val="E8590C">
              <a:alpha val="702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5a7a2a649_0_0"/>
          <p:cNvSpPr/>
          <p:nvPr/>
        </p:nvSpPr>
        <p:spPr>
          <a:xfrm>
            <a:off x="4892040" y="2148840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90C"/>
              </a:buClr>
              <a:buSzPts val="650"/>
              <a:buFont typeface="Helvetica Neue"/>
              <a:buNone/>
            </a:pPr>
            <a:r>
              <a:rPr b="0" i="0" lang="en-US" sz="650" u="none" cap="none" strike="noStrike">
                <a:solidFill>
                  <a:srgbClr val="E8590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Jack &amp; Jill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d5a7a2a649_0_0"/>
          <p:cNvSpPr/>
          <p:nvPr/>
        </p:nvSpPr>
        <p:spPr>
          <a:xfrm>
            <a:off x="4169664" y="2752344"/>
            <a:ext cx="73200" cy="73200"/>
          </a:xfrm>
          <a:prstGeom prst="ellipse">
            <a:avLst/>
          </a:prstGeom>
          <a:solidFill>
            <a:srgbClr val="E8590C">
              <a:alpha val="50199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5a7a2a649_0_0"/>
          <p:cNvSpPr/>
          <p:nvPr/>
        </p:nvSpPr>
        <p:spPr>
          <a:xfrm>
            <a:off x="3017520" y="2788920"/>
            <a:ext cx="114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600"/>
              <a:buFont typeface="Helvetica Neue"/>
              <a:buNone/>
            </a:pPr>
            <a:r>
              <a:rPr b="0" i="0" lang="en-US" sz="600" u="none" cap="none" strike="noStrike">
                <a:solidFill>
                  <a:srgbClr val="AAAA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SquarePeg (pivoted)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d5a7a2a649_0_0"/>
          <p:cNvSpPr/>
          <p:nvPr/>
        </p:nvSpPr>
        <p:spPr>
          <a:xfrm>
            <a:off x="6743700" y="1394460"/>
            <a:ext cx="411600" cy="411600"/>
          </a:xfrm>
          <a:prstGeom prst="ellipse">
            <a:avLst/>
          </a:prstGeom>
          <a:solidFill>
            <a:srgbClr val="D93025">
              <a:alpha val="14900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5a7a2a649_0_0"/>
          <p:cNvSpPr/>
          <p:nvPr/>
        </p:nvSpPr>
        <p:spPr>
          <a:xfrm>
            <a:off x="6867144" y="1517904"/>
            <a:ext cx="164700" cy="164700"/>
          </a:xfrm>
          <a:prstGeom prst="ellipse">
            <a:avLst/>
          </a:prstGeom>
          <a:solidFill>
            <a:srgbClr val="D9302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5a7a2a649_0_0"/>
          <p:cNvSpPr/>
          <p:nvPr/>
        </p:nvSpPr>
        <p:spPr>
          <a:xfrm>
            <a:off x="6492240" y="1252728"/>
            <a:ext cx="91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g3d5a7a2a649_0_0"/>
          <p:cNvCxnSpPr/>
          <p:nvPr/>
        </p:nvCxnSpPr>
        <p:spPr>
          <a:xfrm>
            <a:off x="6949440" y="1709928"/>
            <a:ext cx="0" cy="228600"/>
          </a:xfrm>
          <a:prstGeom prst="straightConnector1">
            <a:avLst/>
          </a:prstGeom>
          <a:noFill/>
          <a:ln cap="flat" cmpd="sng" w="9525">
            <a:solidFill>
              <a:srgbClr val="D9302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7" name="Google Shape;217;g3d5a7a2a649_0_0"/>
          <p:cNvSpPr/>
          <p:nvPr/>
        </p:nvSpPr>
        <p:spPr>
          <a:xfrm>
            <a:off x="6309360" y="1947672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700"/>
              <a:buFont typeface="Helvetica Neue"/>
              <a:buNone/>
            </a:pPr>
            <a:r>
              <a:rPr b="0" i="0" lang="en-US" sz="7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Coached identity ×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700"/>
              <a:buFont typeface="Helvetica Neue"/>
              <a:buNone/>
            </a:pPr>
            <a:r>
              <a:rPr b="0" i="0" lang="en-US" sz="7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bidirectional scoring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g3d5a7a2a649_0_0"/>
          <p:cNvCxnSpPr/>
          <p:nvPr/>
        </p:nvCxnSpPr>
        <p:spPr>
          <a:xfrm>
            <a:off x="457200" y="46634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g3d5a7a2a649_0_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Helvetica Neue"/>
              <a:buNone/>
            </a:pPr>
            <a:r>
              <a:rPr b="1" i="1" lang="en-US" sz="9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tool optimizes the search. None improves the input.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d5a7a2a649_0_0"/>
          <p:cNvSpPr/>
          <p:nvPr/>
        </p:nvSpPr>
        <p:spPr>
          <a:xfrm>
            <a:off x="457200" y="4892040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600"/>
              <a:buFont typeface="Helvetica Neue"/>
              <a:buNone/>
            </a:pPr>
            <a:r>
              <a:rPr b="0" i="0" lang="en-US" sz="600" u="none" cap="none" strike="noStrike">
                <a:solidFill>
                  <a:srgbClr val="BBBBB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Source: Recruiterflow market analysis (33 tools) + Lens Project competitive intelligence — April 2026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PERSPECTIVE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57200" y="4709160"/>
            <a:ext cx="8229600" cy="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Helvetica Neue"/>
              <a:buNone/>
            </a:pPr>
            <a:r>
              <a:rPr b="1" i="0" lang="en-US" sz="8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LENS PROJECT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777240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Helvetica Neue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I'd love your input 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57200" y="1584205"/>
            <a:ext cx="54900" cy="54870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731520" y="1584205"/>
            <a:ext cx="320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Enterprise 2.0 → Enterprise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023360" y="1584205"/>
            <a:ext cx="466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patterns do you see in how companies actually adopt new categories of enterprise software today?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57200" y="2297437"/>
            <a:ext cx="54900" cy="5487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731520" y="2297437"/>
            <a:ext cx="320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Founder-operator lens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023360" y="2297437"/>
            <a:ext cx="466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lang="en-US"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oes the concept of a deeper identity document resonate?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57200" y="3010669"/>
            <a:ext cx="54900" cy="54870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731520" y="3010669"/>
            <a:ext cx="320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Helvetica Neue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Go-to-market for a new category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023360" y="3010669"/>
            <a:ext cx="4663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lang="en-US"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here would you focus first</a:t>
            </a:r>
            <a:r>
              <a:rPr lang="en-US" sz="1100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731520" y="45720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000"/>
              <a:buFont typeface="Helvetica Neue"/>
              <a:buNone/>
            </a:pPr>
            <a:r>
              <a:rPr b="1" i="0" lang="en-US" sz="1000" u="none" cap="none" strike="noStrike">
                <a:solidFill>
                  <a:srgbClr val="D930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WHAT'S NEXT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Near-term roadmap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31520" y="1851670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D93025"/>
                </a:solidFill>
                <a:latin typeface="Courier New"/>
                <a:ea typeface="Courier New"/>
                <a:cs typeface="Courier New"/>
                <a:sym typeface="Courier New"/>
              </a:rPr>
              <a:t>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286000" y="1645920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 conversations with exec recruiters. Tester cohort expanding. Privacy/Security hardening.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2286000" y="2423160"/>
            <a:ext cx="6126480" cy="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731520" y="2795545"/>
            <a:ext cx="137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302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D93025"/>
                </a:solidFill>
                <a:latin typeface="Courier New"/>
                <a:ea typeface="Courier New"/>
                <a:cs typeface="Courier New"/>
                <a:sym typeface="Courier New"/>
              </a:rPr>
              <a:t>Q2-Q3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2286000" y="2560320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Helvetica Neue"/>
              <a:buNone/>
            </a:pPr>
            <a:r>
              <a:rPr b="0" i="0" lang="en-US" sz="1300" u="none" cap="none" strike="noStrike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Enterprise pilot with 1–2 search firms. Role Lens (R→C) scoring route.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2286000" y="3337560"/>
            <a:ext cx="6126480" cy="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Helvetica Neue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Eric Zelman  ·  zelman@gmail.com  ·  Zelman Labs LLC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731520" y="466344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Provisional Patent App #64/015,187  ·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2026-04-12T21:16:01Z</dcterms:created>
  <dc:creator>Eric Zelman</dc:creator>
</cp:coreProperties>
</file>