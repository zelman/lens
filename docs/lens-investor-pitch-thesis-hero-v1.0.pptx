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17159" y="2286000"/>
            <a:ext cx="10757378" cy="0"/>
          </a:xfrm>
          <a:prstGeom prst="rect">
            <a:avLst/>
          </a:prstGeom>
          <a:noFill/>
          <a:ln/>
        </p:spPr>
        <p:txBody>
          <a:bodyPr wrap="square" rtlCol="0" anchor="ctr"/>
          <a:lstStyle/>
          <a:p>
            <a:pPr indent="0" marL="0">
              <a:buNone/>
            </a:pPr>
            <a:r>
              <a:rPr lang="en-US" sz="4800" b="1" dirty="0">
                <a:solidFill>
                  <a:srgbClr val="1A1A1A"/>
                </a:solidFill>
                <a:latin typeface="Calibri" pitchFamily="34" charset="0"/>
                <a:ea typeface="Calibri" pitchFamily="34" charset="-122"/>
                <a:cs typeface="Calibri" pitchFamily="34" charset="-120"/>
              </a:rPr>
              <a:t>Lens</a:t>
            </a:r>
            <a:endParaRPr lang="en-US" sz="4800" dirty="0"/>
          </a:p>
        </p:txBody>
      </p:sp>
      <p:sp>
        <p:nvSpPr>
          <p:cNvPr id="3" name="Shape 1"/>
          <p:cNvSpPr/>
          <p:nvPr/>
        </p:nvSpPr>
        <p:spPr>
          <a:xfrm>
            <a:off x="717159" y="3017520"/>
            <a:ext cx="1828800" cy="0"/>
          </a:xfrm>
          <a:prstGeom prst="line">
            <a:avLst/>
          </a:prstGeom>
          <a:noFill/>
          <a:ln w="6350">
            <a:solidFill>
              <a:srgbClr val="1A1A1A"/>
            </a:solidFill>
            <a:prstDash val="solid"/>
          </a:ln>
        </p:spPr>
      </p:sp>
      <p:sp>
        <p:nvSpPr>
          <p:cNvPr id="4" name="Text 2"/>
          <p:cNvSpPr/>
          <p:nvPr/>
        </p:nvSpPr>
        <p:spPr>
          <a:xfrm>
            <a:off x="717159" y="3200400"/>
            <a:ext cx="10757378" cy="0"/>
          </a:xfrm>
          <a:prstGeom prst="rect">
            <a:avLst/>
          </a:prstGeom>
          <a:noFill/>
          <a:ln/>
        </p:spPr>
        <p:txBody>
          <a:bodyPr wrap="square" rtlCol="0" anchor="ctr"/>
          <a:lstStyle/>
          <a:p>
            <a:pPr indent="0" marL="0">
              <a:buNone/>
            </a:pPr>
            <a:r>
              <a:rPr lang="en-US" sz="1800" dirty="0">
                <a:solidFill>
                  <a:srgbClr val="444444"/>
                </a:solidFill>
                <a:latin typeface="Calibri" pitchFamily="34" charset="0"/>
                <a:ea typeface="Calibri" pitchFamily="34" charset="-122"/>
                <a:cs typeface="Calibri" pitchFamily="34" charset="-120"/>
              </a:rPr>
              <a:t>Professional identity, owned by the person.</a:t>
            </a:r>
            <a:endParaRPr lang="en-US" sz="1800" dirty="0"/>
          </a:p>
        </p:txBody>
      </p:sp>
      <p:sp>
        <p:nvSpPr>
          <p:cNvPr id="5" name="Text 3"/>
          <p:cNvSpPr/>
          <p:nvPr/>
        </p:nvSpPr>
        <p:spPr>
          <a:xfrm>
            <a:off x="717159" y="6533147"/>
            <a:ext cx="6858000" cy="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Lens</a:t>
            </a:r>
            <a:endParaRPr lang="en-US" sz="1000" dirty="0"/>
          </a:p>
        </p:txBody>
      </p:sp>
      <p:sp>
        <p:nvSpPr>
          <p:cNvPr id="6" name="Text 4"/>
          <p:cNvSpPr/>
          <p:nvPr/>
        </p:nvSpPr>
        <p:spPr>
          <a:xfrm>
            <a:off x="11017337" y="6533147"/>
            <a:ext cx="457200" cy="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01 / 18</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17159" y="649705"/>
            <a:ext cx="717159" cy="36095"/>
          </a:xfrm>
          <a:prstGeom prst="rect">
            <a:avLst/>
          </a:prstGeom>
          <a:solidFill>
            <a:srgbClr val="D93025"/>
          </a:solidFill>
          <a:ln/>
        </p:spPr>
      </p:sp>
      <p:sp>
        <p:nvSpPr>
          <p:cNvPr id="3" name="Text 1"/>
          <p:cNvSpPr/>
          <p:nvPr/>
        </p:nvSpPr>
        <p:spPr>
          <a:xfrm>
            <a:off x="717159" y="757989"/>
            <a:ext cx="6858000" cy="0"/>
          </a:xfrm>
          <a:prstGeom prst="rect">
            <a:avLst/>
          </a:prstGeom>
          <a:noFill/>
          <a:ln/>
        </p:spPr>
        <p:txBody>
          <a:bodyPr wrap="square" rtlCol="0" anchor="ctr"/>
          <a:lstStyle/>
          <a:p>
            <a:pPr indent="0" marL="0">
              <a:buNone/>
            </a:pPr>
            <a:r>
              <a:rPr lang="en-US" sz="1100" b="1" spc="100" kern="0" dirty="0">
                <a:solidFill>
                  <a:srgbClr val="D93025"/>
                </a:solidFill>
                <a:latin typeface="Calibri" pitchFamily="34" charset="0"/>
                <a:ea typeface="Calibri" pitchFamily="34" charset="-122"/>
                <a:cs typeface="Calibri" pitchFamily="34" charset="-120"/>
              </a:rPr>
              <a:t>ACT I — AND</a:t>
            </a:r>
            <a:endParaRPr lang="en-US" sz="1100" dirty="0"/>
          </a:p>
        </p:txBody>
      </p:sp>
      <p:sp>
        <p:nvSpPr>
          <p:cNvPr id="4" name="Text 2"/>
          <p:cNvSpPr/>
          <p:nvPr/>
        </p:nvSpPr>
        <p:spPr>
          <a:xfrm>
            <a:off x="717159" y="1804737"/>
            <a:ext cx="10757378" cy="0"/>
          </a:xfrm>
          <a:prstGeom prst="rect">
            <a:avLst/>
          </a:prstGeom>
          <a:noFill/>
          <a:ln/>
        </p:spPr>
        <p:txBody>
          <a:bodyPr wrap="square"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Professional identity is the most consequential information about a person.</a:t>
            </a:r>
            <a:endParaRPr lang="en-US" sz="2200" dirty="0"/>
          </a:p>
        </p:txBody>
      </p:sp>
      <p:sp>
        <p:nvSpPr>
          <p:cNvPr id="5" name="Text 3"/>
          <p:cNvSpPr/>
          <p:nvPr/>
        </p:nvSpPr>
        <p:spPr>
          <a:xfrm>
            <a:off x="717159" y="2707105"/>
            <a:ext cx="6858000" cy="0"/>
          </a:xfrm>
          <a:prstGeom prst="rect">
            <a:avLst/>
          </a:prstGeom>
          <a:noFill/>
          <a:ln/>
        </p:spPr>
        <p:txBody>
          <a:bodyPr wrap="square"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It should belong to them.</a:t>
            </a:r>
            <a:endParaRPr lang="en-US" sz="1600" dirty="0"/>
          </a:p>
        </p:txBody>
      </p:sp>
      <p:sp>
        <p:nvSpPr>
          <p:cNvPr id="6" name="Text 4"/>
          <p:cNvSpPr/>
          <p:nvPr/>
        </p:nvSpPr>
        <p:spPr>
          <a:xfrm>
            <a:off x="717159" y="3609474"/>
            <a:ext cx="10757378" cy="0"/>
          </a:xfrm>
          <a:prstGeom prst="rect">
            <a:avLst/>
          </a:prstGeom>
          <a:noFill/>
          <a:ln/>
        </p:spPr>
        <p:txBody>
          <a:bodyPr wrap="square" rtlCol="0" anchor="t"/>
          <a:lstStyle/>
          <a:p>
            <a:pPr indent="0" marL="0">
              <a:buNone/>
            </a:pPr>
            <a:r>
              <a:rPr lang="en-US" sz="1400" dirty="0">
                <a:solidFill>
                  <a:srgbClr val="1A1A1A"/>
                </a:solidFill>
                <a:latin typeface="Calibri" pitchFamily="34" charset="0"/>
                <a:ea typeface="Calibri" pitchFamily="34" charset="-122"/>
                <a:cs typeface="Calibri" pitchFamily="34" charset="-120"/>
              </a:rPr>
              <a:t>It determines income. Mobility. Autonomy. How they are seen by the people deciding their next chapter. For everything that hangs on it, the working professional has remarkably little control over how it is captured, interpreted, or carried.</a:t>
            </a:r>
            <a:endParaRPr lang="en-US" sz="1400" dirty="0"/>
          </a:p>
        </p:txBody>
      </p:sp>
      <p:sp>
        <p:nvSpPr>
          <p:cNvPr id="7" name="Text 5"/>
          <p:cNvSpPr/>
          <p:nvPr/>
        </p:nvSpPr>
        <p:spPr>
          <a:xfrm>
            <a:off x="717159" y="6533147"/>
            <a:ext cx="6858000" cy="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Lens</a:t>
            </a:r>
            <a:endParaRPr lang="en-US" sz="1000" dirty="0"/>
          </a:p>
        </p:txBody>
      </p:sp>
      <p:sp>
        <p:nvSpPr>
          <p:cNvPr id="8" name="Text 6"/>
          <p:cNvSpPr/>
          <p:nvPr/>
        </p:nvSpPr>
        <p:spPr>
          <a:xfrm>
            <a:off x="11017337" y="6533147"/>
            <a:ext cx="457200" cy="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02 / 18</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17159" y="649705"/>
            <a:ext cx="717159" cy="36095"/>
          </a:xfrm>
          <a:prstGeom prst="rect">
            <a:avLst/>
          </a:prstGeom>
          <a:solidFill>
            <a:srgbClr val="D93025"/>
          </a:solidFill>
          <a:ln/>
        </p:spPr>
      </p:sp>
      <p:sp>
        <p:nvSpPr>
          <p:cNvPr id="3" name="Text 1"/>
          <p:cNvSpPr/>
          <p:nvPr/>
        </p:nvSpPr>
        <p:spPr>
          <a:xfrm>
            <a:off x="717159" y="757989"/>
            <a:ext cx="6858000" cy="0"/>
          </a:xfrm>
          <a:prstGeom prst="rect">
            <a:avLst/>
          </a:prstGeom>
          <a:noFill/>
          <a:ln/>
        </p:spPr>
        <p:txBody>
          <a:bodyPr wrap="square" rtlCol="0" anchor="ctr"/>
          <a:lstStyle/>
          <a:p>
            <a:pPr indent="0" marL="0">
              <a:buNone/>
            </a:pPr>
            <a:r>
              <a:rPr lang="en-US" sz="1100" b="1" spc="100" kern="0" dirty="0">
                <a:solidFill>
                  <a:srgbClr val="D93025"/>
                </a:solidFill>
                <a:latin typeface="Calibri" pitchFamily="34" charset="0"/>
                <a:ea typeface="Calibri" pitchFamily="34" charset="-122"/>
                <a:cs typeface="Calibri" pitchFamily="34" charset="-120"/>
              </a:rPr>
              <a:t>ACT I — AND</a:t>
            </a:r>
            <a:endParaRPr lang="en-US" sz="1100" dirty="0"/>
          </a:p>
        </p:txBody>
      </p:sp>
      <p:sp>
        <p:nvSpPr>
          <p:cNvPr id="4" name="Text 2"/>
          <p:cNvSpPr/>
          <p:nvPr/>
        </p:nvSpPr>
        <p:spPr>
          <a:xfrm>
            <a:off x="717159" y="1804737"/>
            <a:ext cx="10757378" cy="0"/>
          </a:xfrm>
          <a:prstGeom prst="rect">
            <a:avLst/>
          </a:prstGeom>
          <a:noFill/>
          <a:ln/>
        </p:spPr>
        <p:txBody>
          <a:bodyPr wrap="square"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Imagine a labor market where every working person carries a primary record of who they are at work.</a:t>
            </a:r>
            <a:endParaRPr lang="en-US" sz="2200" dirty="0"/>
          </a:p>
        </p:txBody>
      </p:sp>
      <p:sp>
        <p:nvSpPr>
          <p:cNvPr id="5" name="Text 3"/>
          <p:cNvSpPr/>
          <p:nvPr/>
        </p:nvSpPr>
        <p:spPr>
          <a:xfrm>
            <a:off x="717159" y="2707105"/>
            <a:ext cx="6858000" cy="0"/>
          </a:xfrm>
          <a:prstGeom prst="rect">
            <a:avLst/>
          </a:prstGeom>
          <a:noFill/>
          <a:ln/>
        </p:spPr>
        <p:txBody>
          <a:bodyPr wrap="square"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Signed by them. Read from by everyone else.</a:t>
            </a:r>
            <a:endParaRPr lang="en-US" sz="1600" dirty="0"/>
          </a:p>
        </p:txBody>
      </p:sp>
      <p:sp>
        <p:nvSpPr>
          <p:cNvPr id="6" name="Text 4"/>
          <p:cNvSpPr/>
          <p:nvPr/>
        </p:nvSpPr>
        <p:spPr>
          <a:xfrm>
            <a:off x="717159" y="3519237"/>
            <a:ext cx="10757378" cy="0"/>
          </a:xfrm>
          <a:prstGeom prst="rect">
            <a:avLst/>
          </a:prstGeom>
          <a:noFill/>
          <a:ln/>
        </p:spPr>
        <p:txBody>
          <a:bodyPr wrap="square" rtlCol="0" anchor="t"/>
          <a:lstStyle/>
          <a:p>
            <a:pPr indent="0" marL="0">
              <a:buNone/>
            </a:pPr>
            <a:r>
              <a:rPr lang="en-US" sz="1400" dirty="0">
                <a:solidFill>
                  <a:srgbClr val="1A1A1A"/>
                </a:solidFill>
                <a:latin typeface="Calibri" pitchFamily="34" charset="0"/>
                <a:ea typeface="Calibri" pitchFamily="34" charset="-122"/>
                <a:cs typeface="Calibri" pitchFamily="34" charset="-120"/>
              </a:rPr>
              <a:t>What energizes them. What they've built. How they operate. What they need next. Recruiters read from it. Employers read from it. Internal mobility runs on it. Coaches contribute to it. The person owns it. Today, that record exists for almost no one.</a:t>
            </a:r>
            <a:endParaRPr lang="en-US" sz="1400" dirty="0"/>
          </a:p>
        </p:txBody>
      </p:sp>
      <p:sp>
        <p:nvSpPr>
          <p:cNvPr id="7" name="Shape 5"/>
          <p:cNvSpPr/>
          <p:nvPr/>
        </p:nvSpPr>
        <p:spPr>
          <a:xfrm>
            <a:off x="5273345" y="3840480"/>
            <a:ext cx="1645920" cy="548640"/>
          </a:xfrm>
          <a:prstGeom prst="rect">
            <a:avLst/>
          </a:prstGeom>
          <a:solidFill>
            <a:srgbClr val="FFFFFF"/>
          </a:solidFill>
          <a:ln w="6350">
            <a:solidFill>
              <a:srgbClr val="1A1A1A"/>
            </a:solidFill>
            <a:prstDash val="solid"/>
          </a:ln>
        </p:spPr>
      </p:sp>
      <p:sp>
        <p:nvSpPr>
          <p:cNvPr id="8" name="Shape 6"/>
          <p:cNvSpPr/>
          <p:nvPr/>
        </p:nvSpPr>
        <p:spPr>
          <a:xfrm>
            <a:off x="5273345" y="3840480"/>
            <a:ext cx="1645920" cy="36576"/>
          </a:xfrm>
          <a:prstGeom prst="rect">
            <a:avLst/>
          </a:prstGeom>
          <a:solidFill>
            <a:srgbClr val="D93025"/>
          </a:solidFill>
          <a:ln/>
        </p:spPr>
      </p:sp>
      <p:sp>
        <p:nvSpPr>
          <p:cNvPr id="9" name="Text 7"/>
          <p:cNvSpPr/>
          <p:nvPr/>
        </p:nvSpPr>
        <p:spPr>
          <a:xfrm>
            <a:off x="5273345" y="3840480"/>
            <a:ext cx="1645920" cy="548640"/>
          </a:xfrm>
          <a:prstGeom prst="rect">
            <a:avLst/>
          </a:prstGeom>
          <a:noFill/>
          <a:ln/>
        </p:spPr>
        <p:txBody>
          <a:bodyPr wrap="square"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The Lens</a:t>
            </a:r>
            <a:endParaRPr lang="en-US" sz="1200" dirty="0"/>
          </a:p>
        </p:txBody>
      </p:sp>
      <p:sp>
        <p:nvSpPr>
          <p:cNvPr id="10" name="Text 8"/>
          <p:cNvSpPr/>
          <p:nvPr/>
        </p:nvSpPr>
        <p:spPr>
          <a:xfrm>
            <a:off x="3810305" y="3200400"/>
            <a:ext cx="914400" cy="365760"/>
          </a:xfrm>
          <a:prstGeom prst="rect">
            <a:avLst/>
          </a:prstGeom>
          <a:noFill/>
          <a:ln/>
        </p:spPr>
        <p:txBody>
          <a:bodyPr wrap="square" rtlCol="0" anchor="ctr"/>
          <a:lstStyle/>
          <a:p>
            <a:pPr algn="ctr" indent="0" marL="0">
              <a:buNone/>
            </a:pPr>
            <a:r>
              <a:rPr lang="en-US" sz="1100" dirty="0">
                <a:solidFill>
                  <a:srgbClr val="777777"/>
                </a:solidFill>
                <a:latin typeface="Calibri" pitchFamily="34" charset="0"/>
                <a:ea typeface="Calibri" pitchFamily="34" charset="-122"/>
                <a:cs typeface="Calibri" pitchFamily="34" charset="-120"/>
              </a:rPr>
              <a:t>Recruiter</a:t>
            </a:r>
            <a:endParaRPr lang="en-US" sz="1100" dirty="0"/>
          </a:p>
        </p:txBody>
      </p:sp>
      <p:sp>
        <p:nvSpPr>
          <p:cNvPr id="11" name="Text 9"/>
          <p:cNvSpPr/>
          <p:nvPr/>
        </p:nvSpPr>
        <p:spPr>
          <a:xfrm>
            <a:off x="7467905" y="3200400"/>
            <a:ext cx="914400" cy="365760"/>
          </a:xfrm>
          <a:prstGeom prst="rect">
            <a:avLst/>
          </a:prstGeom>
          <a:noFill/>
          <a:ln/>
        </p:spPr>
        <p:txBody>
          <a:bodyPr wrap="square" rtlCol="0" anchor="ctr"/>
          <a:lstStyle/>
          <a:p>
            <a:pPr algn="ctr" indent="0" marL="0">
              <a:buNone/>
            </a:pPr>
            <a:r>
              <a:rPr lang="en-US" sz="1100" dirty="0">
                <a:solidFill>
                  <a:srgbClr val="777777"/>
                </a:solidFill>
                <a:latin typeface="Calibri" pitchFamily="34" charset="0"/>
                <a:ea typeface="Calibri" pitchFamily="34" charset="-122"/>
                <a:cs typeface="Calibri" pitchFamily="34" charset="-120"/>
              </a:rPr>
              <a:t>Employer</a:t>
            </a:r>
            <a:endParaRPr lang="en-US" sz="1100" dirty="0"/>
          </a:p>
        </p:txBody>
      </p:sp>
      <p:sp>
        <p:nvSpPr>
          <p:cNvPr id="12" name="Text 10"/>
          <p:cNvSpPr/>
          <p:nvPr/>
        </p:nvSpPr>
        <p:spPr>
          <a:xfrm>
            <a:off x="3810305" y="4846320"/>
            <a:ext cx="914400" cy="365760"/>
          </a:xfrm>
          <a:prstGeom prst="rect">
            <a:avLst/>
          </a:prstGeom>
          <a:noFill/>
          <a:ln/>
        </p:spPr>
        <p:txBody>
          <a:bodyPr wrap="square" rtlCol="0" anchor="ctr"/>
          <a:lstStyle/>
          <a:p>
            <a:pPr algn="ctr" indent="0" marL="0">
              <a:buNone/>
            </a:pPr>
            <a:r>
              <a:rPr lang="en-US" sz="1100" dirty="0">
                <a:solidFill>
                  <a:srgbClr val="777777"/>
                </a:solidFill>
                <a:latin typeface="Calibri" pitchFamily="34" charset="0"/>
                <a:ea typeface="Calibri" pitchFamily="34" charset="-122"/>
                <a:cs typeface="Calibri" pitchFamily="34" charset="-120"/>
              </a:rPr>
              <a:t>Coach</a:t>
            </a:r>
            <a:endParaRPr lang="en-US" sz="1100" dirty="0"/>
          </a:p>
        </p:txBody>
      </p:sp>
      <p:sp>
        <p:nvSpPr>
          <p:cNvPr id="13" name="Text 11"/>
          <p:cNvSpPr/>
          <p:nvPr/>
        </p:nvSpPr>
        <p:spPr>
          <a:xfrm>
            <a:off x="7467905" y="4846320"/>
            <a:ext cx="914400" cy="365760"/>
          </a:xfrm>
          <a:prstGeom prst="rect">
            <a:avLst/>
          </a:prstGeom>
          <a:noFill/>
          <a:ln/>
        </p:spPr>
        <p:txBody>
          <a:bodyPr wrap="square" rtlCol="0" anchor="ctr"/>
          <a:lstStyle/>
          <a:p>
            <a:pPr algn="ctr" indent="0" marL="0">
              <a:buNone/>
            </a:pPr>
            <a:r>
              <a:rPr lang="en-US" sz="1100" dirty="0">
                <a:solidFill>
                  <a:srgbClr val="777777"/>
                </a:solidFill>
                <a:latin typeface="Calibri" pitchFamily="34" charset="0"/>
                <a:ea typeface="Calibri" pitchFamily="34" charset="-122"/>
                <a:cs typeface="Calibri" pitchFamily="34" charset="-120"/>
              </a:rPr>
              <a:t>Platform</a:t>
            </a:r>
            <a:endParaRPr lang="en-US" sz="1100" dirty="0"/>
          </a:p>
        </p:txBody>
      </p:sp>
      <p:sp>
        <p:nvSpPr>
          <p:cNvPr id="14" name="Text 12"/>
          <p:cNvSpPr/>
          <p:nvPr/>
        </p:nvSpPr>
        <p:spPr>
          <a:xfrm>
            <a:off x="717159" y="6533147"/>
            <a:ext cx="6858000" cy="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Lens</a:t>
            </a:r>
            <a:endParaRPr lang="en-US" sz="1000" dirty="0"/>
          </a:p>
        </p:txBody>
      </p:sp>
      <p:sp>
        <p:nvSpPr>
          <p:cNvPr id="15" name="Text 13"/>
          <p:cNvSpPr/>
          <p:nvPr/>
        </p:nvSpPr>
        <p:spPr>
          <a:xfrm>
            <a:off x="11017337" y="6533147"/>
            <a:ext cx="457200" cy="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03 / 18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17159" y="649705"/>
            <a:ext cx="717159" cy="36095"/>
          </a:xfrm>
          <a:prstGeom prst="rect">
            <a:avLst/>
          </a:prstGeom>
          <a:solidFill>
            <a:srgbClr val="D93025"/>
          </a:solidFill>
          <a:ln/>
        </p:spPr>
      </p:sp>
      <p:sp>
        <p:nvSpPr>
          <p:cNvPr id="3" name="Text 1"/>
          <p:cNvSpPr/>
          <p:nvPr/>
        </p:nvSpPr>
        <p:spPr>
          <a:xfrm>
            <a:off x="717159" y="757989"/>
            <a:ext cx="6858000" cy="0"/>
          </a:xfrm>
          <a:prstGeom prst="rect">
            <a:avLst/>
          </a:prstGeom>
          <a:noFill/>
          <a:ln/>
        </p:spPr>
        <p:txBody>
          <a:bodyPr wrap="square" rtlCol="0" anchor="ctr"/>
          <a:lstStyle/>
          <a:p>
            <a:pPr indent="0" marL="0">
              <a:buNone/>
            </a:pPr>
            <a:r>
              <a:rPr lang="en-US" sz="1100" b="1" spc="100" kern="0" dirty="0">
                <a:solidFill>
                  <a:srgbClr val="D93025"/>
                </a:solidFill>
                <a:latin typeface="Calibri" pitchFamily="34" charset="0"/>
                <a:ea typeface="Calibri" pitchFamily="34" charset="-122"/>
                <a:cs typeface="Calibri" pitchFamily="34" charset="-120"/>
              </a:rPr>
              <a:t>ACT I — AND</a:t>
            </a:r>
            <a:endParaRPr lang="en-US" sz="1100" dirty="0"/>
          </a:p>
        </p:txBody>
      </p:sp>
      <p:sp>
        <p:nvSpPr>
          <p:cNvPr id="4" name="Text 2"/>
          <p:cNvSpPr/>
          <p:nvPr/>
        </p:nvSpPr>
        <p:spPr>
          <a:xfrm>
            <a:off x="717159" y="1804737"/>
            <a:ext cx="10757378" cy="0"/>
          </a:xfrm>
          <a:prstGeom prst="rect">
            <a:avLst/>
          </a:prstGeom>
          <a:noFill/>
          <a:ln/>
        </p:spPr>
        <p:txBody>
          <a:bodyPr wrap="square"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For thirty years, the labor market has been digitizing the resume.</a:t>
            </a:r>
            <a:endParaRPr lang="en-US" sz="2200" dirty="0"/>
          </a:p>
        </p:txBody>
      </p:sp>
      <p:sp>
        <p:nvSpPr>
          <p:cNvPr id="5" name="Text 3"/>
          <p:cNvSpPr/>
          <p:nvPr/>
        </p:nvSpPr>
        <p:spPr>
          <a:xfrm>
            <a:off x="717159" y="2887579"/>
            <a:ext cx="10757378" cy="0"/>
          </a:xfrm>
          <a:prstGeom prst="rect">
            <a:avLst/>
          </a:prstGeom>
          <a:noFill/>
          <a:ln/>
        </p:spPr>
        <p:txBody>
          <a:bodyPr wrap="square" rtlCol="0" anchor="ctr"/>
          <a:lstStyle/>
          <a:p>
            <a:pPr indent="0" marL="0">
              <a:buNone/>
            </a:pPr>
            <a:r>
              <a:rPr lang="en-US" sz="1400" dirty="0">
                <a:solidFill>
                  <a:srgbClr val="444444"/>
                </a:solidFill>
                <a:latin typeface="Calibri" pitchFamily="34" charset="0"/>
                <a:ea typeface="Calibri" pitchFamily="34" charset="-122"/>
                <a:cs typeface="Calibri" pitchFamily="34" charset="-120"/>
              </a:rPr>
              <a:t>What it never had was the capability to capture identity at coaching depth — until now.</a:t>
            </a:r>
            <a:endParaRPr lang="en-US" sz="1400" dirty="0"/>
          </a:p>
        </p:txBody>
      </p:sp>
      <p:sp>
        <p:nvSpPr>
          <p:cNvPr id="6" name="Shape 4"/>
          <p:cNvSpPr/>
          <p:nvPr/>
        </p:nvSpPr>
        <p:spPr>
          <a:xfrm>
            <a:off x="1434317" y="4511842"/>
            <a:ext cx="8605902" cy="0"/>
          </a:xfrm>
          <a:prstGeom prst="line">
            <a:avLst/>
          </a:prstGeom>
          <a:noFill/>
          <a:ln w="6350">
            <a:solidFill>
              <a:srgbClr val="1A1A1A"/>
            </a:solidFill>
            <a:prstDash val="solid"/>
          </a:ln>
        </p:spPr>
      </p:sp>
      <p:sp>
        <p:nvSpPr>
          <p:cNvPr id="7" name="Shape 5"/>
          <p:cNvSpPr/>
          <p:nvPr/>
        </p:nvSpPr>
        <p:spPr>
          <a:xfrm>
            <a:off x="1434317" y="4439653"/>
            <a:ext cx="0" cy="144379"/>
          </a:xfrm>
          <a:prstGeom prst="line">
            <a:avLst/>
          </a:prstGeom>
          <a:noFill/>
          <a:ln w="6350">
            <a:solidFill>
              <a:srgbClr val="1A1A1A"/>
            </a:solidFill>
            <a:prstDash val="solid"/>
          </a:ln>
        </p:spPr>
      </p:sp>
      <p:sp>
        <p:nvSpPr>
          <p:cNvPr id="8" name="Text 6"/>
          <p:cNvSpPr/>
          <p:nvPr/>
        </p:nvSpPr>
        <p:spPr>
          <a:xfrm>
            <a:off x="1159997" y="4049829"/>
            <a:ext cx="548640" cy="0"/>
          </a:xfrm>
          <a:prstGeom prst="rect">
            <a:avLst/>
          </a:prstGeom>
          <a:noFill/>
          <a:ln/>
        </p:spPr>
        <p:txBody>
          <a:bodyPr wrap="square" rtlCol="0" anchor="ctr"/>
          <a:lstStyle/>
          <a:p>
            <a:pPr algn="ctr" indent="0" marL="0">
              <a:buNone/>
            </a:pPr>
            <a:r>
              <a:rPr lang="en-US" sz="1100" dirty="0">
                <a:solidFill>
                  <a:srgbClr val="777777"/>
                </a:solidFill>
                <a:latin typeface="Calibri" pitchFamily="34" charset="0"/>
                <a:ea typeface="Calibri" pitchFamily="34" charset="-122"/>
                <a:cs typeface="Calibri" pitchFamily="34" charset="-120"/>
              </a:rPr>
              <a:t>1995</a:t>
            </a:r>
            <a:endParaRPr lang="en-US" sz="1100" dirty="0"/>
          </a:p>
        </p:txBody>
      </p:sp>
      <p:sp>
        <p:nvSpPr>
          <p:cNvPr id="9" name="Text 7"/>
          <p:cNvSpPr/>
          <p:nvPr/>
        </p:nvSpPr>
        <p:spPr>
          <a:xfrm>
            <a:off x="977117" y="4872789"/>
            <a:ext cx="914400" cy="0"/>
          </a:xfrm>
          <a:prstGeom prst="rect">
            <a:avLst/>
          </a:prstGeom>
          <a:noFill/>
          <a:ln/>
        </p:spPr>
        <p:txBody>
          <a:bodyPr wrap="square"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Paper resume</a:t>
            </a:r>
            <a:endParaRPr lang="en-US" sz="1400" dirty="0"/>
          </a:p>
        </p:txBody>
      </p:sp>
      <p:sp>
        <p:nvSpPr>
          <p:cNvPr id="10" name="Text 8"/>
          <p:cNvSpPr/>
          <p:nvPr/>
        </p:nvSpPr>
        <p:spPr>
          <a:xfrm>
            <a:off x="977117" y="5233737"/>
            <a:ext cx="914400" cy="0"/>
          </a:xfrm>
          <a:prstGeom prst="rect">
            <a:avLst/>
          </a:prstGeom>
          <a:noFill/>
          <a:ln/>
        </p:spPr>
        <p:txBody>
          <a:bodyPr wrap="square" rtlCol="0" anchor="ctr"/>
          <a:lstStyle/>
          <a:p>
            <a:pPr algn="ctr" indent="0" marL="0">
              <a:buNone/>
            </a:pPr>
            <a:r>
              <a:rPr lang="en-US" sz="1100" dirty="0">
                <a:solidFill>
                  <a:srgbClr val="777777"/>
                </a:solidFill>
                <a:latin typeface="Calibri" pitchFamily="34" charset="0"/>
                <a:ea typeface="Calibri" pitchFamily="34" charset="-122"/>
                <a:cs typeface="Calibri" pitchFamily="34" charset="-120"/>
              </a:rPr>
              <a:t>Static credentials</a:t>
            </a:r>
            <a:endParaRPr lang="en-US" sz="1100" dirty="0"/>
          </a:p>
        </p:txBody>
      </p:sp>
      <p:sp>
        <p:nvSpPr>
          <p:cNvPr id="11" name="Shape 9"/>
          <p:cNvSpPr/>
          <p:nvPr/>
        </p:nvSpPr>
        <p:spPr>
          <a:xfrm>
            <a:off x="3585793" y="4439653"/>
            <a:ext cx="0" cy="144379"/>
          </a:xfrm>
          <a:prstGeom prst="line">
            <a:avLst/>
          </a:prstGeom>
          <a:noFill/>
          <a:ln w="6350">
            <a:solidFill>
              <a:srgbClr val="1A1A1A"/>
            </a:solidFill>
            <a:prstDash val="solid"/>
          </a:ln>
        </p:spPr>
      </p:sp>
      <p:sp>
        <p:nvSpPr>
          <p:cNvPr id="12" name="Text 10"/>
          <p:cNvSpPr/>
          <p:nvPr/>
        </p:nvSpPr>
        <p:spPr>
          <a:xfrm>
            <a:off x="3311473" y="4049829"/>
            <a:ext cx="548640" cy="0"/>
          </a:xfrm>
          <a:prstGeom prst="rect">
            <a:avLst/>
          </a:prstGeom>
          <a:noFill/>
          <a:ln/>
        </p:spPr>
        <p:txBody>
          <a:bodyPr wrap="square" rtlCol="0" anchor="ctr"/>
          <a:lstStyle/>
          <a:p>
            <a:pPr algn="ctr" indent="0" marL="0">
              <a:buNone/>
            </a:pPr>
            <a:r>
              <a:rPr lang="en-US" sz="1100" dirty="0">
                <a:solidFill>
                  <a:srgbClr val="777777"/>
                </a:solidFill>
                <a:latin typeface="Calibri" pitchFamily="34" charset="0"/>
                <a:ea typeface="Calibri" pitchFamily="34" charset="-122"/>
                <a:cs typeface="Calibri" pitchFamily="34" charset="-120"/>
              </a:rPr>
              <a:t>2003</a:t>
            </a:r>
            <a:endParaRPr lang="en-US" sz="1100" dirty="0"/>
          </a:p>
        </p:txBody>
      </p:sp>
      <p:sp>
        <p:nvSpPr>
          <p:cNvPr id="13" name="Text 11"/>
          <p:cNvSpPr/>
          <p:nvPr/>
        </p:nvSpPr>
        <p:spPr>
          <a:xfrm>
            <a:off x="3128593" y="4872789"/>
            <a:ext cx="914400" cy="0"/>
          </a:xfrm>
          <a:prstGeom prst="rect">
            <a:avLst/>
          </a:prstGeom>
          <a:noFill/>
          <a:ln/>
        </p:spPr>
        <p:txBody>
          <a:bodyPr wrap="square"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ATS-parsed</a:t>
            </a:r>
            <a:endParaRPr lang="en-US" sz="1400" dirty="0"/>
          </a:p>
        </p:txBody>
      </p:sp>
      <p:sp>
        <p:nvSpPr>
          <p:cNvPr id="14" name="Text 12"/>
          <p:cNvSpPr/>
          <p:nvPr/>
        </p:nvSpPr>
        <p:spPr>
          <a:xfrm>
            <a:off x="3128593" y="5233737"/>
            <a:ext cx="914400" cy="0"/>
          </a:xfrm>
          <a:prstGeom prst="rect">
            <a:avLst/>
          </a:prstGeom>
          <a:noFill/>
          <a:ln/>
        </p:spPr>
        <p:txBody>
          <a:bodyPr wrap="square" rtlCol="0" anchor="ctr"/>
          <a:lstStyle/>
          <a:p>
            <a:pPr algn="ctr" indent="0" marL="0">
              <a:buNone/>
            </a:pPr>
            <a:r>
              <a:rPr lang="en-US" sz="1100" dirty="0">
                <a:solidFill>
                  <a:srgbClr val="777777"/>
                </a:solidFill>
                <a:latin typeface="Calibri" pitchFamily="34" charset="0"/>
                <a:ea typeface="Calibri" pitchFamily="34" charset="-122"/>
                <a:cs typeface="Calibri" pitchFamily="34" charset="-120"/>
              </a:rPr>
              <a:t>Keyword extraction</a:t>
            </a:r>
            <a:endParaRPr lang="en-US" sz="1100" dirty="0"/>
          </a:p>
        </p:txBody>
      </p:sp>
      <p:sp>
        <p:nvSpPr>
          <p:cNvPr id="15" name="Shape 13"/>
          <p:cNvSpPr/>
          <p:nvPr/>
        </p:nvSpPr>
        <p:spPr>
          <a:xfrm>
            <a:off x="5737268" y="4439653"/>
            <a:ext cx="0" cy="144379"/>
          </a:xfrm>
          <a:prstGeom prst="line">
            <a:avLst/>
          </a:prstGeom>
          <a:noFill/>
          <a:ln w="6350">
            <a:solidFill>
              <a:srgbClr val="1A1A1A"/>
            </a:solidFill>
            <a:prstDash val="solid"/>
          </a:ln>
        </p:spPr>
      </p:sp>
      <p:sp>
        <p:nvSpPr>
          <p:cNvPr id="16" name="Text 14"/>
          <p:cNvSpPr/>
          <p:nvPr/>
        </p:nvSpPr>
        <p:spPr>
          <a:xfrm>
            <a:off x="5462948" y="4049829"/>
            <a:ext cx="548640" cy="0"/>
          </a:xfrm>
          <a:prstGeom prst="rect">
            <a:avLst/>
          </a:prstGeom>
          <a:noFill/>
          <a:ln/>
        </p:spPr>
        <p:txBody>
          <a:bodyPr wrap="square" rtlCol="0" anchor="ctr"/>
          <a:lstStyle/>
          <a:p>
            <a:pPr algn="ctr" indent="0" marL="0">
              <a:buNone/>
            </a:pPr>
            <a:r>
              <a:rPr lang="en-US" sz="1100" dirty="0">
                <a:solidFill>
                  <a:srgbClr val="777777"/>
                </a:solidFill>
                <a:latin typeface="Calibri" pitchFamily="34" charset="0"/>
                <a:ea typeface="Calibri" pitchFamily="34" charset="-122"/>
                <a:cs typeface="Calibri" pitchFamily="34" charset="-120"/>
              </a:rPr>
              <a:t>2010</a:t>
            </a:r>
            <a:endParaRPr lang="en-US" sz="1100" dirty="0"/>
          </a:p>
        </p:txBody>
      </p:sp>
      <p:sp>
        <p:nvSpPr>
          <p:cNvPr id="17" name="Text 15"/>
          <p:cNvSpPr/>
          <p:nvPr/>
        </p:nvSpPr>
        <p:spPr>
          <a:xfrm>
            <a:off x="5280068" y="4872789"/>
            <a:ext cx="914400" cy="0"/>
          </a:xfrm>
          <a:prstGeom prst="rect">
            <a:avLst/>
          </a:prstGeom>
          <a:noFill/>
          <a:ln/>
        </p:spPr>
        <p:txBody>
          <a:bodyPr wrap="square"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LinkedIn</a:t>
            </a:r>
            <a:endParaRPr lang="en-US" sz="1400" dirty="0"/>
          </a:p>
        </p:txBody>
      </p:sp>
      <p:sp>
        <p:nvSpPr>
          <p:cNvPr id="18" name="Text 16"/>
          <p:cNvSpPr/>
          <p:nvPr/>
        </p:nvSpPr>
        <p:spPr>
          <a:xfrm>
            <a:off x="5280068" y="5233737"/>
            <a:ext cx="914400" cy="0"/>
          </a:xfrm>
          <a:prstGeom prst="rect">
            <a:avLst/>
          </a:prstGeom>
          <a:noFill/>
          <a:ln/>
        </p:spPr>
        <p:txBody>
          <a:bodyPr wrap="square" rtlCol="0" anchor="ctr"/>
          <a:lstStyle/>
          <a:p>
            <a:pPr algn="ctr" indent="0" marL="0">
              <a:buNone/>
            </a:pPr>
            <a:r>
              <a:rPr lang="en-US" sz="1100" dirty="0">
                <a:solidFill>
                  <a:srgbClr val="777777"/>
                </a:solidFill>
                <a:latin typeface="Calibri" pitchFamily="34" charset="0"/>
                <a:ea typeface="Calibri" pitchFamily="34" charset="-122"/>
                <a:cs typeface="Calibri" pitchFamily="34" charset="-120"/>
              </a:rPr>
              <a:t>Public profile</a:t>
            </a:r>
            <a:endParaRPr lang="en-US" sz="1100" dirty="0"/>
          </a:p>
        </p:txBody>
      </p:sp>
      <p:sp>
        <p:nvSpPr>
          <p:cNvPr id="19" name="Shape 17"/>
          <p:cNvSpPr/>
          <p:nvPr/>
        </p:nvSpPr>
        <p:spPr>
          <a:xfrm>
            <a:off x="7888744" y="4439653"/>
            <a:ext cx="0" cy="144379"/>
          </a:xfrm>
          <a:prstGeom prst="line">
            <a:avLst/>
          </a:prstGeom>
          <a:noFill/>
          <a:ln w="6350">
            <a:solidFill>
              <a:srgbClr val="1A1A1A"/>
            </a:solidFill>
            <a:prstDash val="solid"/>
          </a:ln>
        </p:spPr>
      </p:sp>
      <p:sp>
        <p:nvSpPr>
          <p:cNvPr id="20" name="Text 18"/>
          <p:cNvSpPr/>
          <p:nvPr/>
        </p:nvSpPr>
        <p:spPr>
          <a:xfrm>
            <a:off x="7614424" y="4049829"/>
            <a:ext cx="548640" cy="0"/>
          </a:xfrm>
          <a:prstGeom prst="rect">
            <a:avLst/>
          </a:prstGeom>
          <a:noFill/>
          <a:ln/>
        </p:spPr>
        <p:txBody>
          <a:bodyPr wrap="square" rtlCol="0" anchor="ctr"/>
          <a:lstStyle/>
          <a:p>
            <a:pPr algn="ctr" indent="0" marL="0">
              <a:buNone/>
            </a:pPr>
            <a:r>
              <a:rPr lang="en-US" sz="1100" dirty="0">
                <a:solidFill>
                  <a:srgbClr val="777777"/>
                </a:solidFill>
                <a:latin typeface="Calibri" pitchFamily="34" charset="0"/>
                <a:ea typeface="Calibri" pitchFamily="34" charset="-122"/>
                <a:cs typeface="Calibri" pitchFamily="34" charset="-120"/>
              </a:rPr>
              <a:t>2017</a:t>
            </a:r>
            <a:endParaRPr lang="en-US" sz="1100" dirty="0"/>
          </a:p>
        </p:txBody>
      </p:sp>
      <p:sp>
        <p:nvSpPr>
          <p:cNvPr id="21" name="Text 19"/>
          <p:cNvSpPr/>
          <p:nvPr/>
        </p:nvSpPr>
        <p:spPr>
          <a:xfrm>
            <a:off x="7431544" y="4872789"/>
            <a:ext cx="914400" cy="0"/>
          </a:xfrm>
          <a:prstGeom prst="rect">
            <a:avLst/>
          </a:prstGeom>
          <a:noFill/>
          <a:ln/>
        </p:spPr>
        <p:txBody>
          <a:bodyPr wrap="square"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Assessments</a:t>
            </a:r>
            <a:endParaRPr lang="en-US" sz="1400" dirty="0"/>
          </a:p>
        </p:txBody>
      </p:sp>
      <p:sp>
        <p:nvSpPr>
          <p:cNvPr id="22" name="Text 20"/>
          <p:cNvSpPr/>
          <p:nvPr/>
        </p:nvSpPr>
        <p:spPr>
          <a:xfrm>
            <a:off x="7431544" y="5233737"/>
            <a:ext cx="914400" cy="0"/>
          </a:xfrm>
          <a:prstGeom prst="rect">
            <a:avLst/>
          </a:prstGeom>
          <a:noFill/>
          <a:ln/>
        </p:spPr>
        <p:txBody>
          <a:bodyPr wrap="square" rtlCol="0" anchor="ctr"/>
          <a:lstStyle/>
          <a:p>
            <a:pPr algn="ctr" indent="0" marL="0">
              <a:buNone/>
            </a:pPr>
            <a:r>
              <a:rPr lang="en-US" sz="1100" dirty="0">
                <a:solidFill>
                  <a:srgbClr val="777777"/>
                </a:solidFill>
                <a:latin typeface="Calibri" pitchFamily="34" charset="0"/>
                <a:ea typeface="Calibri" pitchFamily="34" charset="-122"/>
                <a:cs typeface="Calibri" pitchFamily="34" charset="-120"/>
              </a:rPr>
              <a:t>Trait verdicts</a:t>
            </a:r>
            <a:endParaRPr lang="en-US" sz="1100" dirty="0"/>
          </a:p>
        </p:txBody>
      </p:sp>
      <p:sp>
        <p:nvSpPr>
          <p:cNvPr id="23" name="Shape 21"/>
          <p:cNvSpPr/>
          <p:nvPr/>
        </p:nvSpPr>
        <p:spPr>
          <a:xfrm>
            <a:off x="10040220" y="4403558"/>
            <a:ext cx="0" cy="216568"/>
          </a:xfrm>
          <a:prstGeom prst="line">
            <a:avLst/>
          </a:prstGeom>
          <a:noFill/>
          <a:ln w="25400">
            <a:solidFill>
              <a:srgbClr val="D93025"/>
            </a:solidFill>
            <a:prstDash val="solid"/>
          </a:ln>
        </p:spPr>
      </p:sp>
      <p:sp>
        <p:nvSpPr>
          <p:cNvPr id="24" name="Text 22"/>
          <p:cNvSpPr/>
          <p:nvPr/>
        </p:nvSpPr>
        <p:spPr>
          <a:xfrm>
            <a:off x="9765900" y="4049829"/>
            <a:ext cx="548640" cy="0"/>
          </a:xfrm>
          <a:prstGeom prst="rect">
            <a:avLst/>
          </a:prstGeom>
          <a:noFill/>
          <a:ln/>
        </p:spPr>
        <p:txBody>
          <a:bodyPr wrap="square" rtlCol="0" anchor="ctr"/>
          <a:lstStyle/>
          <a:p>
            <a:pPr algn="ctr" indent="0" marL="0">
              <a:buNone/>
            </a:pPr>
            <a:r>
              <a:rPr lang="en-US" sz="1100" b="1" dirty="0">
                <a:solidFill>
                  <a:srgbClr val="D93025"/>
                </a:solidFill>
                <a:latin typeface="Calibri" pitchFamily="34" charset="0"/>
                <a:ea typeface="Calibri" pitchFamily="34" charset="-122"/>
                <a:cs typeface="Calibri" pitchFamily="34" charset="-120"/>
              </a:rPr>
              <a:t>2026</a:t>
            </a:r>
            <a:endParaRPr lang="en-US" sz="1100" dirty="0"/>
          </a:p>
        </p:txBody>
      </p:sp>
      <p:sp>
        <p:nvSpPr>
          <p:cNvPr id="25" name="Text 23"/>
          <p:cNvSpPr/>
          <p:nvPr/>
        </p:nvSpPr>
        <p:spPr>
          <a:xfrm>
            <a:off x="9583020" y="4872789"/>
            <a:ext cx="914400" cy="0"/>
          </a:xfrm>
          <a:prstGeom prst="rect">
            <a:avLst/>
          </a:prstGeom>
          <a:noFill/>
          <a:ln/>
        </p:spPr>
        <p:txBody>
          <a:bodyPr wrap="square" rtlCol="0" anchor="ctr"/>
          <a:lstStyle/>
          <a:p>
            <a:pPr algn="ctr" indent="0" marL="0">
              <a:buNone/>
            </a:pPr>
            <a:r>
              <a:rPr lang="en-US" sz="1400" b="1" dirty="0">
                <a:solidFill>
                  <a:srgbClr val="D93025"/>
                </a:solidFill>
                <a:latin typeface="Calibri" pitchFamily="34" charset="0"/>
                <a:ea typeface="Calibri" pitchFamily="34" charset="-122"/>
                <a:cs typeface="Calibri" pitchFamily="34" charset="-120"/>
              </a:rPr>
              <a:t>Lens</a:t>
            </a:r>
            <a:endParaRPr lang="en-US" sz="1400" dirty="0"/>
          </a:p>
        </p:txBody>
      </p:sp>
      <p:sp>
        <p:nvSpPr>
          <p:cNvPr id="26" name="Text 24"/>
          <p:cNvSpPr/>
          <p:nvPr/>
        </p:nvSpPr>
        <p:spPr>
          <a:xfrm>
            <a:off x="9583020" y="5233737"/>
            <a:ext cx="914400" cy="0"/>
          </a:xfrm>
          <a:prstGeom prst="rect">
            <a:avLst/>
          </a:prstGeom>
          <a:noFill/>
          <a:ln/>
        </p:spPr>
        <p:txBody>
          <a:bodyPr wrap="square"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Person-owned</a:t>
            </a:r>
            <a:endParaRPr lang="en-US" sz="1100" dirty="0"/>
          </a:p>
        </p:txBody>
      </p:sp>
      <p:sp>
        <p:nvSpPr>
          <p:cNvPr id="27" name="Shape 25"/>
          <p:cNvSpPr/>
          <p:nvPr/>
        </p:nvSpPr>
        <p:spPr>
          <a:xfrm>
            <a:off x="9681640" y="5504447"/>
            <a:ext cx="717159" cy="36095"/>
          </a:xfrm>
          <a:prstGeom prst="rect">
            <a:avLst/>
          </a:prstGeom>
          <a:solidFill>
            <a:srgbClr val="D93025"/>
          </a:solidFill>
          <a:ln/>
        </p:spPr>
      </p:sp>
      <p:sp>
        <p:nvSpPr>
          <p:cNvPr id="28" name="Text 26"/>
          <p:cNvSpPr/>
          <p:nvPr/>
        </p:nvSpPr>
        <p:spPr>
          <a:xfrm>
            <a:off x="717159" y="6533147"/>
            <a:ext cx="6858000" cy="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Lens</a:t>
            </a:r>
            <a:endParaRPr lang="en-US" sz="1000" dirty="0"/>
          </a:p>
        </p:txBody>
      </p:sp>
      <p:sp>
        <p:nvSpPr>
          <p:cNvPr id="29" name="Text 27"/>
          <p:cNvSpPr/>
          <p:nvPr/>
        </p:nvSpPr>
        <p:spPr>
          <a:xfrm>
            <a:off x="11017337" y="6533147"/>
            <a:ext cx="457200" cy="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04 / 18</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17159" y="649705"/>
            <a:ext cx="717159" cy="36095"/>
          </a:xfrm>
          <a:prstGeom prst="rect">
            <a:avLst/>
          </a:prstGeom>
          <a:solidFill>
            <a:srgbClr val="D93025"/>
          </a:solidFill>
          <a:ln/>
        </p:spPr>
      </p:sp>
      <p:sp>
        <p:nvSpPr>
          <p:cNvPr id="3" name="Text 1"/>
          <p:cNvSpPr/>
          <p:nvPr/>
        </p:nvSpPr>
        <p:spPr>
          <a:xfrm>
            <a:off x="717159" y="757989"/>
            <a:ext cx="6858000" cy="0"/>
          </a:xfrm>
          <a:prstGeom prst="rect">
            <a:avLst/>
          </a:prstGeom>
          <a:noFill/>
          <a:ln/>
        </p:spPr>
        <p:txBody>
          <a:bodyPr wrap="square" rtlCol="0" anchor="ctr"/>
          <a:lstStyle/>
          <a:p>
            <a:pPr indent="0" marL="0">
              <a:buNone/>
            </a:pPr>
            <a:r>
              <a:rPr lang="en-US" sz="1100" b="1" spc="100" kern="0" dirty="0">
                <a:solidFill>
                  <a:srgbClr val="D93025"/>
                </a:solidFill>
                <a:latin typeface="Calibri" pitchFamily="34" charset="0"/>
                <a:ea typeface="Calibri" pitchFamily="34" charset="-122"/>
                <a:cs typeface="Calibri" pitchFamily="34" charset="-120"/>
              </a:rPr>
              <a:t>ACT II — BUT</a:t>
            </a:r>
            <a:endParaRPr lang="en-US" sz="1100" dirty="0"/>
          </a:p>
        </p:txBody>
      </p:sp>
      <p:sp>
        <p:nvSpPr>
          <p:cNvPr id="4" name="Text 2"/>
          <p:cNvSpPr/>
          <p:nvPr/>
        </p:nvSpPr>
        <p:spPr>
          <a:xfrm>
            <a:off x="717159" y="1804737"/>
            <a:ext cx="10757378" cy="0"/>
          </a:xfrm>
          <a:prstGeom prst="rect">
            <a:avLst/>
          </a:prstGeom>
          <a:noFill/>
          <a:ln/>
        </p:spPr>
        <p:txBody>
          <a:bodyPr wrap="square"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No one holds a primary copy of who they are professionally.</a:t>
            </a:r>
            <a:endParaRPr lang="en-US" sz="2200" dirty="0"/>
          </a:p>
        </p:txBody>
      </p:sp>
      <p:sp>
        <p:nvSpPr>
          <p:cNvPr id="5" name="Text 3"/>
          <p:cNvSpPr/>
          <p:nvPr/>
        </p:nvSpPr>
        <p:spPr>
          <a:xfrm>
            <a:off x="717159" y="2815389"/>
            <a:ext cx="10757378" cy="0"/>
          </a:xfrm>
          <a:prstGeom prst="rect">
            <a:avLst/>
          </a:prstGeom>
          <a:noFill/>
          <a:ln/>
        </p:spPr>
        <p:txBody>
          <a:bodyPr wrap="square" rtlCol="0" anchor="ctr"/>
          <a:lstStyle/>
          <a:p>
            <a:pPr indent="0" marL="0">
              <a:buNone/>
            </a:pPr>
            <a:r>
              <a:rPr lang="en-US" sz="1400" dirty="0">
                <a:solidFill>
                  <a:srgbClr val="444444"/>
                </a:solidFill>
                <a:latin typeface="Calibri" pitchFamily="34" charset="0"/>
                <a:ea typeface="Calibri" pitchFamily="34" charset="-122"/>
                <a:cs typeface="Calibri" pitchFamily="34" charset="-120"/>
              </a:rPr>
              <a:t>Identity is fragmented across platforms that each own their own read.</a:t>
            </a:r>
            <a:endParaRPr lang="en-US" sz="1400" dirty="0"/>
          </a:p>
        </p:txBody>
      </p:sp>
      <p:sp>
        <p:nvSpPr>
          <p:cNvPr id="6" name="Shape 4"/>
          <p:cNvSpPr/>
          <p:nvPr/>
        </p:nvSpPr>
        <p:spPr>
          <a:xfrm>
            <a:off x="717159" y="3429000"/>
            <a:ext cx="3227213" cy="721895"/>
          </a:xfrm>
          <a:prstGeom prst="rect">
            <a:avLst/>
          </a:prstGeom>
          <a:solidFill>
            <a:srgbClr val="F5F5F5"/>
          </a:solidFill>
          <a:ln w="6350">
            <a:solidFill>
              <a:srgbClr val="1A1A1A"/>
            </a:solidFill>
            <a:prstDash val="solid"/>
          </a:ln>
        </p:spPr>
      </p:sp>
      <p:sp>
        <p:nvSpPr>
          <p:cNvPr id="7" name="Text 5"/>
          <p:cNvSpPr/>
          <p:nvPr/>
        </p:nvSpPr>
        <p:spPr>
          <a:xfrm>
            <a:off x="717159" y="3474720"/>
            <a:ext cx="3227213" cy="360947"/>
          </a:xfrm>
          <a:prstGeom prst="rect">
            <a:avLst/>
          </a:prstGeom>
          <a:noFill/>
          <a:ln/>
        </p:spPr>
        <p:txBody>
          <a:bodyPr wrap="square" rtlCol="0" anchor="b"/>
          <a:lstStyle/>
          <a:p>
            <a:pPr algn="ctr" indent="0" marL="0">
              <a:buNone/>
            </a:pPr>
            <a:r>
              <a:rPr lang="en-US" sz="1400" b="1" dirty="0">
                <a:solidFill>
                  <a:srgbClr val="1A1A1A"/>
                </a:solidFill>
                <a:latin typeface="Calibri" pitchFamily="34" charset="0"/>
                <a:ea typeface="Calibri" pitchFamily="34" charset="-122"/>
                <a:cs typeface="Calibri" pitchFamily="34" charset="-120"/>
              </a:rPr>
              <a:t>LinkedIn</a:t>
            </a:r>
            <a:endParaRPr lang="en-US" sz="1400" dirty="0"/>
          </a:p>
        </p:txBody>
      </p:sp>
      <p:sp>
        <p:nvSpPr>
          <p:cNvPr id="8" name="Text 6"/>
          <p:cNvSpPr/>
          <p:nvPr/>
        </p:nvSpPr>
        <p:spPr>
          <a:xfrm>
            <a:off x="717159" y="3789947"/>
            <a:ext cx="3227213" cy="360947"/>
          </a:xfrm>
          <a:prstGeom prst="rect">
            <a:avLst/>
          </a:prstGeom>
          <a:noFill/>
          <a:ln/>
        </p:spPr>
        <p:txBody>
          <a:bodyPr wrap="square" rtlCol="0" anchor="t"/>
          <a:lstStyle/>
          <a:p>
            <a:pPr algn="ctr" indent="0" marL="0">
              <a:buNone/>
            </a:pPr>
            <a:r>
              <a:rPr lang="en-US" sz="1100" dirty="0">
                <a:solidFill>
                  <a:srgbClr val="777777"/>
                </a:solidFill>
                <a:latin typeface="Calibri" pitchFamily="34" charset="0"/>
                <a:ea typeface="Calibri" pitchFamily="34" charset="-122"/>
                <a:cs typeface="Calibri" pitchFamily="34" charset="-120"/>
              </a:rPr>
              <a:t>Public profile</a:t>
            </a:r>
            <a:endParaRPr lang="en-US" sz="1100" dirty="0"/>
          </a:p>
        </p:txBody>
      </p:sp>
      <p:sp>
        <p:nvSpPr>
          <p:cNvPr id="9" name="Shape 7"/>
          <p:cNvSpPr/>
          <p:nvPr/>
        </p:nvSpPr>
        <p:spPr>
          <a:xfrm>
            <a:off x="8247323" y="3429000"/>
            <a:ext cx="3227213" cy="721895"/>
          </a:xfrm>
          <a:prstGeom prst="rect">
            <a:avLst/>
          </a:prstGeom>
          <a:solidFill>
            <a:srgbClr val="F5F5F5"/>
          </a:solidFill>
          <a:ln w="6350">
            <a:solidFill>
              <a:srgbClr val="1A1A1A"/>
            </a:solidFill>
            <a:prstDash val="solid"/>
          </a:ln>
        </p:spPr>
      </p:sp>
      <p:sp>
        <p:nvSpPr>
          <p:cNvPr id="10" name="Text 8"/>
          <p:cNvSpPr/>
          <p:nvPr/>
        </p:nvSpPr>
        <p:spPr>
          <a:xfrm>
            <a:off x="8247323" y="3474720"/>
            <a:ext cx="3227213" cy="360947"/>
          </a:xfrm>
          <a:prstGeom prst="rect">
            <a:avLst/>
          </a:prstGeom>
          <a:noFill/>
          <a:ln/>
        </p:spPr>
        <p:txBody>
          <a:bodyPr wrap="square" rtlCol="0" anchor="b"/>
          <a:lstStyle/>
          <a:p>
            <a:pPr algn="ctr" indent="0" marL="0">
              <a:buNone/>
            </a:pPr>
            <a:r>
              <a:rPr lang="en-US" sz="1400" b="1" dirty="0">
                <a:solidFill>
                  <a:srgbClr val="1A1A1A"/>
                </a:solidFill>
                <a:latin typeface="Calibri" pitchFamily="34" charset="0"/>
                <a:ea typeface="Calibri" pitchFamily="34" charset="-122"/>
                <a:cs typeface="Calibri" pitchFamily="34" charset="-120"/>
              </a:rPr>
              <a:t>ATS systems</a:t>
            </a:r>
            <a:endParaRPr lang="en-US" sz="1400" dirty="0"/>
          </a:p>
        </p:txBody>
      </p:sp>
      <p:sp>
        <p:nvSpPr>
          <p:cNvPr id="11" name="Text 9"/>
          <p:cNvSpPr/>
          <p:nvPr/>
        </p:nvSpPr>
        <p:spPr>
          <a:xfrm>
            <a:off x="8247323" y="3789947"/>
            <a:ext cx="3227213" cy="360947"/>
          </a:xfrm>
          <a:prstGeom prst="rect">
            <a:avLst/>
          </a:prstGeom>
          <a:noFill/>
          <a:ln/>
        </p:spPr>
        <p:txBody>
          <a:bodyPr wrap="square" rtlCol="0" anchor="t"/>
          <a:lstStyle/>
          <a:p>
            <a:pPr algn="ctr" indent="0" marL="0">
              <a:buNone/>
            </a:pPr>
            <a:r>
              <a:rPr lang="en-US" sz="1100" dirty="0">
                <a:solidFill>
                  <a:srgbClr val="777777"/>
                </a:solidFill>
                <a:latin typeface="Calibri" pitchFamily="34" charset="0"/>
                <a:ea typeface="Calibri" pitchFamily="34" charset="-122"/>
                <a:cs typeface="Calibri" pitchFamily="34" charset="-120"/>
              </a:rPr>
              <a:t>Parsed keywords</a:t>
            </a:r>
            <a:endParaRPr lang="en-US" sz="1100" dirty="0"/>
          </a:p>
        </p:txBody>
      </p:sp>
      <p:sp>
        <p:nvSpPr>
          <p:cNvPr id="12" name="Shape 10"/>
          <p:cNvSpPr/>
          <p:nvPr/>
        </p:nvSpPr>
        <p:spPr>
          <a:xfrm>
            <a:off x="717159" y="5414211"/>
            <a:ext cx="3227213" cy="721895"/>
          </a:xfrm>
          <a:prstGeom prst="rect">
            <a:avLst/>
          </a:prstGeom>
          <a:solidFill>
            <a:srgbClr val="F5F5F5"/>
          </a:solidFill>
          <a:ln w="6350">
            <a:solidFill>
              <a:srgbClr val="1A1A1A"/>
            </a:solidFill>
            <a:prstDash val="solid"/>
          </a:ln>
        </p:spPr>
      </p:sp>
      <p:sp>
        <p:nvSpPr>
          <p:cNvPr id="13" name="Text 11"/>
          <p:cNvSpPr/>
          <p:nvPr/>
        </p:nvSpPr>
        <p:spPr>
          <a:xfrm>
            <a:off x="717159" y="5459931"/>
            <a:ext cx="3227213" cy="360947"/>
          </a:xfrm>
          <a:prstGeom prst="rect">
            <a:avLst/>
          </a:prstGeom>
          <a:noFill/>
          <a:ln/>
        </p:spPr>
        <p:txBody>
          <a:bodyPr wrap="square" rtlCol="0" anchor="b"/>
          <a:lstStyle/>
          <a:p>
            <a:pPr algn="ctr" indent="0" marL="0">
              <a:buNone/>
            </a:pPr>
            <a:r>
              <a:rPr lang="en-US" sz="1400" b="1" dirty="0">
                <a:solidFill>
                  <a:srgbClr val="1A1A1A"/>
                </a:solidFill>
                <a:latin typeface="Calibri" pitchFamily="34" charset="0"/>
                <a:ea typeface="Calibri" pitchFamily="34" charset="-122"/>
                <a:cs typeface="Calibri" pitchFamily="34" charset="-120"/>
              </a:rPr>
              <a:t>Recruiters</a:t>
            </a:r>
            <a:endParaRPr lang="en-US" sz="1400" dirty="0"/>
          </a:p>
        </p:txBody>
      </p:sp>
      <p:sp>
        <p:nvSpPr>
          <p:cNvPr id="14" name="Text 12"/>
          <p:cNvSpPr/>
          <p:nvPr/>
        </p:nvSpPr>
        <p:spPr>
          <a:xfrm>
            <a:off x="717159" y="5775158"/>
            <a:ext cx="3227213" cy="360947"/>
          </a:xfrm>
          <a:prstGeom prst="rect">
            <a:avLst/>
          </a:prstGeom>
          <a:noFill/>
          <a:ln/>
        </p:spPr>
        <p:txBody>
          <a:bodyPr wrap="square" rtlCol="0" anchor="t"/>
          <a:lstStyle/>
          <a:p>
            <a:pPr algn="ctr" indent="0" marL="0">
              <a:buNone/>
            </a:pPr>
            <a:r>
              <a:rPr lang="en-US" sz="1100" dirty="0">
                <a:solidFill>
                  <a:srgbClr val="777777"/>
                </a:solidFill>
                <a:latin typeface="Calibri" pitchFamily="34" charset="0"/>
                <a:ea typeface="Calibri" pitchFamily="34" charset="-122"/>
                <a:cs typeface="Calibri" pitchFamily="34" charset="-120"/>
              </a:rPr>
              <a:t>Their shortlist</a:t>
            </a:r>
            <a:endParaRPr lang="en-US" sz="1100" dirty="0"/>
          </a:p>
        </p:txBody>
      </p:sp>
      <p:sp>
        <p:nvSpPr>
          <p:cNvPr id="15" name="Shape 13"/>
          <p:cNvSpPr/>
          <p:nvPr/>
        </p:nvSpPr>
        <p:spPr>
          <a:xfrm>
            <a:off x="8247323" y="5414211"/>
            <a:ext cx="3227213" cy="721895"/>
          </a:xfrm>
          <a:prstGeom prst="rect">
            <a:avLst/>
          </a:prstGeom>
          <a:solidFill>
            <a:srgbClr val="F5F5F5"/>
          </a:solidFill>
          <a:ln w="6350">
            <a:solidFill>
              <a:srgbClr val="1A1A1A"/>
            </a:solidFill>
            <a:prstDash val="solid"/>
          </a:ln>
        </p:spPr>
      </p:sp>
      <p:sp>
        <p:nvSpPr>
          <p:cNvPr id="16" name="Text 14"/>
          <p:cNvSpPr/>
          <p:nvPr/>
        </p:nvSpPr>
        <p:spPr>
          <a:xfrm>
            <a:off x="8247323" y="5459931"/>
            <a:ext cx="3227213" cy="360947"/>
          </a:xfrm>
          <a:prstGeom prst="rect">
            <a:avLst/>
          </a:prstGeom>
          <a:noFill/>
          <a:ln/>
        </p:spPr>
        <p:txBody>
          <a:bodyPr wrap="square" rtlCol="0" anchor="b"/>
          <a:lstStyle/>
          <a:p>
            <a:pPr algn="ctr" indent="0" marL="0">
              <a:buNone/>
            </a:pPr>
            <a:r>
              <a:rPr lang="en-US" sz="1400" b="1" dirty="0">
                <a:solidFill>
                  <a:srgbClr val="1A1A1A"/>
                </a:solidFill>
                <a:latin typeface="Calibri" pitchFamily="34" charset="0"/>
                <a:ea typeface="Calibri" pitchFamily="34" charset="-122"/>
                <a:cs typeface="Calibri" pitchFamily="34" charset="-120"/>
              </a:rPr>
              <a:t>Assessments</a:t>
            </a:r>
            <a:endParaRPr lang="en-US" sz="1400" dirty="0"/>
          </a:p>
        </p:txBody>
      </p:sp>
      <p:sp>
        <p:nvSpPr>
          <p:cNvPr id="17" name="Text 15"/>
          <p:cNvSpPr/>
          <p:nvPr/>
        </p:nvSpPr>
        <p:spPr>
          <a:xfrm>
            <a:off x="8247323" y="5775158"/>
            <a:ext cx="3227213" cy="360947"/>
          </a:xfrm>
          <a:prstGeom prst="rect">
            <a:avLst/>
          </a:prstGeom>
          <a:noFill/>
          <a:ln/>
        </p:spPr>
        <p:txBody>
          <a:bodyPr wrap="square" rtlCol="0" anchor="t"/>
          <a:lstStyle/>
          <a:p>
            <a:pPr algn="ctr" indent="0" marL="0">
              <a:buNone/>
            </a:pPr>
            <a:r>
              <a:rPr lang="en-US" sz="1100" dirty="0">
                <a:solidFill>
                  <a:srgbClr val="777777"/>
                </a:solidFill>
                <a:latin typeface="Calibri" pitchFamily="34" charset="0"/>
                <a:ea typeface="Calibri" pitchFamily="34" charset="-122"/>
                <a:cs typeface="Calibri" pitchFamily="34" charset="-120"/>
              </a:rPr>
              <a:t>Trait graph</a:t>
            </a:r>
            <a:endParaRPr lang="en-US" sz="1100" dirty="0"/>
          </a:p>
        </p:txBody>
      </p:sp>
      <p:sp>
        <p:nvSpPr>
          <p:cNvPr id="18" name="Shape 16"/>
          <p:cNvSpPr/>
          <p:nvPr/>
        </p:nvSpPr>
        <p:spPr>
          <a:xfrm>
            <a:off x="4482241" y="4331368"/>
            <a:ext cx="3227213" cy="902368"/>
          </a:xfrm>
          <a:prstGeom prst="rect">
            <a:avLst/>
          </a:prstGeom>
          <a:solidFill>
            <a:srgbClr val="FFFFFF"/>
          </a:solidFill>
          <a:ln w="6350">
            <a:solidFill>
              <a:srgbClr val="777777"/>
            </a:solidFill>
            <a:prstDash val="dash"/>
          </a:ln>
        </p:spPr>
      </p:sp>
      <p:sp>
        <p:nvSpPr>
          <p:cNvPr id="19" name="Text 17"/>
          <p:cNvSpPr/>
          <p:nvPr/>
        </p:nvSpPr>
        <p:spPr>
          <a:xfrm>
            <a:off x="4482241" y="4475747"/>
            <a:ext cx="3227213" cy="0"/>
          </a:xfrm>
          <a:prstGeom prst="rect">
            <a:avLst/>
          </a:prstGeom>
          <a:noFill/>
          <a:ln/>
        </p:spPr>
        <p:txBody>
          <a:bodyPr wrap="square" rtlCol="0" anchor="ctr"/>
          <a:lstStyle/>
          <a:p>
            <a:pPr algn="ctr" indent="0" marL="0">
              <a:buNone/>
            </a:pPr>
            <a:r>
              <a:rPr lang="en-US" sz="1400" b="1" dirty="0">
                <a:solidFill>
                  <a:srgbClr val="777777"/>
                </a:solidFill>
                <a:latin typeface="Calibri" pitchFamily="34" charset="0"/>
                <a:ea typeface="Calibri" pitchFamily="34" charset="-122"/>
                <a:cs typeface="Calibri" pitchFamily="34" charset="-120"/>
              </a:rPr>
              <a:t>The person</a:t>
            </a:r>
            <a:endParaRPr lang="en-US" sz="1400" dirty="0"/>
          </a:p>
        </p:txBody>
      </p:sp>
      <p:sp>
        <p:nvSpPr>
          <p:cNvPr id="20" name="Text 18"/>
          <p:cNvSpPr/>
          <p:nvPr/>
        </p:nvSpPr>
        <p:spPr>
          <a:xfrm>
            <a:off x="4482241" y="4836695"/>
            <a:ext cx="3227213" cy="0"/>
          </a:xfrm>
          <a:prstGeom prst="rect">
            <a:avLst/>
          </a:prstGeom>
          <a:noFill/>
          <a:ln/>
        </p:spPr>
        <p:txBody>
          <a:bodyPr wrap="square" rtlCol="0" anchor="ctr"/>
          <a:lstStyle/>
          <a:p>
            <a:pPr algn="ctr" indent="0" marL="0">
              <a:buNone/>
            </a:pPr>
            <a:r>
              <a:rPr lang="en-US" sz="1100" dirty="0">
                <a:solidFill>
                  <a:srgbClr val="777777"/>
                </a:solidFill>
                <a:latin typeface="Calibri" pitchFamily="34" charset="0"/>
                <a:ea typeface="Calibri" pitchFamily="34" charset="-122"/>
                <a:cs typeface="Calibri" pitchFamily="34" charset="-120"/>
              </a:rPr>
              <a:t>no primary copy</a:t>
            </a:r>
            <a:endParaRPr lang="en-US" sz="1100" dirty="0"/>
          </a:p>
        </p:txBody>
      </p:sp>
      <p:sp>
        <p:nvSpPr>
          <p:cNvPr id="21" name="Shape 19"/>
          <p:cNvSpPr/>
          <p:nvPr/>
        </p:nvSpPr>
        <p:spPr>
          <a:xfrm>
            <a:off x="3944372" y="3880184"/>
            <a:ext cx="573727" cy="541421"/>
          </a:xfrm>
          <a:prstGeom prst="line">
            <a:avLst/>
          </a:prstGeom>
          <a:noFill/>
          <a:ln w="9525">
            <a:solidFill>
              <a:srgbClr val="1A1A1A"/>
            </a:solidFill>
            <a:prstDash val="solid"/>
            <a:tailEnd type="arrow"/>
          </a:ln>
        </p:spPr>
      </p:sp>
      <p:sp>
        <p:nvSpPr>
          <p:cNvPr id="22" name="Shape 20"/>
          <p:cNvSpPr/>
          <p:nvPr/>
        </p:nvSpPr>
        <p:spPr>
          <a:xfrm>
            <a:off x="8247323" y="3880184"/>
            <a:ext cx="-573727" cy="541421"/>
          </a:xfrm>
          <a:prstGeom prst="line">
            <a:avLst/>
          </a:prstGeom>
          <a:noFill/>
          <a:ln w="9525">
            <a:solidFill>
              <a:srgbClr val="1A1A1A"/>
            </a:solidFill>
            <a:prstDash val="solid"/>
            <a:tailEnd type="arrow"/>
          </a:ln>
        </p:spPr>
      </p:sp>
      <p:sp>
        <p:nvSpPr>
          <p:cNvPr id="23" name="Shape 21"/>
          <p:cNvSpPr/>
          <p:nvPr/>
        </p:nvSpPr>
        <p:spPr>
          <a:xfrm>
            <a:off x="3944372" y="5775158"/>
            <a:ext cx="573727" cy="-631658"/>
          </a:xfrm>
          <a:prstGeom prst="line">
            <a:avLst/>
          </a:prstGeom>
          <a:noFill/>
          <a:ln w="9525">
            <a:solidFill>
              <a:srgbClr val="1A1A1A"/>
            </a:solidFill>
            <a:prstDash val="solid"/>
            <a:tailEnd type="arrow"/>
          </a:ln>
        </p:spPr>
      </p:sp>
      <p:sp>
        <p:nvSpPr>
          <p:cNvPr id="24" name="Shape 22"/>
          <p:cNvSpPr/>
          <p:nvPr/>
        </p:nvSpPr>
        <p:spPr>
          <a:xfrm>
            <a:off x="8247323" y="5775158"/>
            <a:ext cx="-573727" cy="-631658"/>
          </a:xfrm>
          <a:prstGeom prst="line">
            <a:avLst/>
          </a:prstGeom>
          <a:noFill/>
          <a:ln w="9525">
            <a:solidFill>
              <a:srgbClr val="1A1A1A"/>
            </a:solidFill>
            <a:prstDash val="solid"/>
            <a:tailEnd type="arrow"/>
          </a:ln>
        </p:spPr>
      </p:sp>
      <p:sp>
        <p:nvSpPr>
          <p:cNvPr id="25" name="Text 23"/>
          <p:cNvSpPr/>
          <p:nvPr/>
        </p:nvSpPr>
        <p:spPr>
          <a:xfrm>
            <a:off x="717159" y="6533147"/>
            <a:ext cx="6858000" cy="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Lens</a:t>
            </a:r>
            <a:endParaRPr lang="en-US" sz="1000" dirty="0"/>
          </a:p>
        </p:txBody>
      </p:sp>
      <p:sp>
        <p:nvSpPr>
          <p:cNvPr id="26" name="Text 24"/>
          <p:cNvSpPr/>
          <p:nvPr/>
        </p:nvSpPr>
        <p:spPr>
          <a:xfrm>
            <a:off x="11017337" y="6533147"/>
            <a:ext cx="457200" cy="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05 / 18</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17159" y="649705"/>
            <a:ext cx="717159" cy="36095"/>
          </a:xfrm>
          <a:prstGeom prst="rect">
            <a:avLst/>
          </a:prstGeom>
          <a:solidFill>
            <a:srgbClr val="D93025"/>
          </a:solidFill>
          <a:ln/>
        </p:spPr>
      </p:sp>
      <p:sp>
        <p:nvSpPr>
          <p:cNvPr id="3" name="Text 1"/>
          <p:cNvSpPr/>
          <p:nvPr/>
        </p:nvSpPr>
        <p:spPr>
          <a:xfrm>
            <a:off x="717159" y="757989"/>
            <a:ext cx="6858000" cy="0"/>
          </a:xfrm>
          <a:prstGeom prst="rect">
            <a:avLst/>
          </a:prstGeom>
          <a:noFill/>
          <a:ln/>
        </p:spPr>
        <p:txBody>
          <a:bodyPr wrap="square" rtlCol="0" anchor="ctr"/>
          <a:lstStyle/>
          <a:p>
            <a:pPr indent="0" marL="0">
              <a:buNone/>
            </a:pPr>
            <a:r>
              <a:rPr lang="en-US" sz="1100" b="1" spc="100" kern="0" dirty="0">
                <a:solidFill>
                  <a:srgbClr val="D93025"/>
                </a:solidFill>
                <a:latin typeface="Calibri" pitchFamily="34" charset="0"/>
                <a:ea typeface="Calibri" pitchFamily="34" charset="-122"/>
                <a:cs typeface="Calibri" pitchFamily="34" charset="-120"/>
              </a:rPr>
              <a:t>ACT II — BUT</a:t>
            </a:r>
            <a:endParaRPr lang="en-US" sz="1100" dirty="0"/>
          </a:p>
        </p:txBody>
      </p:sp>
      <p:sp>
        <p:nvSpPr>
          <p:cNvPr id="4" name="Text 2"/>
          <p:cNvSpPr/>
          <p:nvPr/>
        </p:nvSpPr>
        <p:spPr>
          <a:xfrm>
            <a:off x="717159" y="1804737"/>
            <a:ext cx="10757378" cy="0"/>
          </a:xfrm>
          <a:prstGeom prst="rect">
            <a:avLst/>
          </a:prstGeom>
          <a:noFill/>
          <a:ln/>
        </p:spPr>
        <p:txBody>
          <a:bodyPr wrap="square"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Fragmented identity is paid for in mis-hires, missed mobility, and miscategorization.</a:t>
            </a:r>
            <a:endParaRPr lang="en-US" sz="2200" dirty="0"/>
          </a:p>
        </p:txBody>
      </p:sp>
      <p:sp>
        <p:nvSpPr>
          <p:cNvPr id="5" name="Text 3"/>
          <p:cNvSpPr/>
          <p:nvPr/>
        </p:nvSpPr>
        <p:spPr>
          <a:xfrm>
            <a:off x="717159" y="2707105"/>
            <a:ext cx="10757378" cy="0"/>
          </a:xfrm>
          <a:prstGeom prst="rect">
            <a:avLst/>
          </a:prstGeom>
          <a:noFill/>
          <a:ln/>
        </p:spPr>
        <p:txBody>
          <a:bodyPr wrap="square" rtlCol="0" anchor="ctr"/>
          <a:lstStyle/>
          <a:p>
            <a:pPr indent="0" marL="0">
              <a:buNone/>
            </a:pPr>
            <a:r>
              <a:rPr lang="en-US" sz="1400" dirty="0">
                <a:solidFill>
                  <a:srgbClr val="444444"/>
                </a:solidFill>
                <a:latin typeface="Calibri" pitchFamily="34" charset="0"/>
                <a:ea typeface="Calibri" pitchFamily="34" charset="-122"/>
                <a:cs typeface="Calibri" pitchFamily="34" charset="-120"/>
              </a:rPr>
              <a:t>The labor market runs on roughly half the picture.</a:t>
            </a:r>
            <a:endParaRPr lang="en-US" sz="1400" dirty="0"/>
          </a:p>
        </p:txBody>
      </p:sp>
      <p:sp>
        <p:nvSpPr>
          <p:cNvPr id="6" name="Text 4"/>
          <p:cNvSpPr/>
          <p:nvPr/>
        </p:nvSpPr>
        <p:spPr>
          <a:xfrm>
            <a:off x="717159" y="3609474"/>
            <a:ext cx="914400" cy="0"/>
          </a:xfrm>
          <a:prstGeom prst="rect">
            <a:avLst/>
          </a:prstGeom>
          <a:noFill/>
          <a:ln/>
        </p:spPr>
        <p:txBody>
          <a:bodyPr wrap="square" rtlCol="0" anchor="ctr"/>
          <a:lstStyle/>
          <a:p>
            <a:pPr indent="0" marL="0">
              <a:buNone/>
            </a:pPr>
            <a:r>
              <a:rPr lang="en-US" sz="2800" b="1" dirty="0">
                <a:solidFill>
                  <a:srgbClr val="D93025"/>
                </a:solidFill>
                <a:latin typeface="Calibri" pitchFamily="34" charset="0"/>
                <a:ea typeface="Calibri" pitchFamily="34" charset="-122"/>
                <a:cs typeface="Calibri" pitchFamily="34" charset="-120"/>
              </a:rPr>
              <a:t>~40%</a:t>
            </a:r>
            <a:endParaRPr lang="en-US" sz="2800" dirty="0"/>
          </a:p>
        </p:txBody>
      </p:sp>
      <p:sp>
        <p:nvSpPr>
          <p:cNvPr id="7" name="Text 5"/>
          <p:cNvSpPr/>
          <p:nvPr/>
        </p:nvSpPr>
        <p:spPr>
          <a:xfrm>
            <a:off x="1722999" y="3700914"/>
            <a:ext cx="9751538" cy="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First-year executive turnover</a:t>
            </a:r>
            <a:endParaRPr lang="en-US" sz="1400" dirty="0"/>
          </a:p>
        </p:txBody>
      </p:sp>
      <p:sp>
        <p:nvSpPr>
          <p:cNvPr id="8" name="Text 6"/>
          <p:cNvSpPr/>
          <p:nvPr/>
        </p:nvSpPr>
        <p:spPr>
          <a:xfrm>
            <a:off x="717159" y="4331368"/>
            <a:ext cx="914400" cy="0"/>
          </a:xfrm>
          <a:prstGeom prst="rect">
            <a:avLst/>
          </a:prstGeom>
          <a:noFill/>
          <a:ln/>
        </p:spPr>
        <p:txBody>
          <a:bodyPr wrap="square" rtlCol="0" anchor="ctr"/>
          <a:lstStyle/>
          <a:p>
            <a:pPr indent="0" marL="0">
              <a:buNone/>
            </a:pPr>
            <a:r>
              <a:rPr lang="en-US" sz="2800" b="1" dirty="0">
                <a:solidFill>
                  <a:srgbClr val="D93025"/>
                </a:solidFill>
                <a:latin typeface="Calibri" pitchFamily="34" charset="0"/>
                <a:ea typeface="Calibri" pitchFamily="34" charset="-122"/>
                <a:cs typeface="Calibri" pitchFamily="34" charset="-120"/>
              </a:rPr>
              <a:t>77%</a:t>
            </a:r>
            <a:endParaRPr lang="en-US" sz="2800" dirty="0"/>
          </a:p>
        </p:txBody>
      </p:sp>
      <p:sp>
        <p:nvSpPr>
          <p:cNvPr id="9" name="Text 7"/>
          <p:cNvSpPr/>
          <p:nvPr/>
        </p:nvSpPr>
        <p:spPr>
          <a:xfrm>
            <a:off x="1722999" y="4422808"/>
            <a:ext cx="9751538" cy="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Companies lost talent to lack of career development</a:t>
            </a:r>
            <a:endParaRPr lang="en-US" sz="1400" dirty="0"/>
          </a:p>
        </p:txBody>
      </p:sp>
      <p:sp>
        <p:nvSpPr>
          <p:cNvPr id="10" name="Text 8"/>
          <p:cNvSpPr/>
          <p:nvPr/>
        </p:nvSpPr>
        <p:spPr>
          <a:xfrm>
            <a:off x="717159" y="5053263"/>
            <a:ext cx="914400" cy="0"/>
          </a:xfrm>
          <a:prstGeom prst="rect">
            <a:avLst/>
          </a:prstGeom>
          <a:noFill/>
          <a:ln/>
        </p:spPr>
        <p:txBody>
          <a:bodyPr wrap="square" rtlCol="0" anchor="ctr"/>
          <a:lstStyle/>
          <a:p>
            <a:pPr indent="0" marL="0">
              <a:buNone/>
            </a:pPr>
            <a:r>
              <a:rPr lang="en-US" sz="2800" b="1" dirty="0">
                <a:solidFill>
                  <a:srgbClr val="D93025"/>
                </a:solidFill>
                <a:latin typeface="Calibri" pitchFamily="34" charset="0"/>
                <a:ea typeface="Calibri" pitchFamily="34" charset="-122"/>
                <a:cs typeface="Calibri" pitchFamily="34" charset="-120"/>
              </a:rPr>
              <a:t>58%</a:t>
            </a:r>
            <a:endParaRPr lang="en-US" sz="2800" dirty="0"/>
          </a:p>
        </p:txBody>
      </p:sp>
      <p:sp>
        <p:nvSpPr>
          <p:cNvPr id="11" name="Text 9"/>
          <p:cNvSpPr/>
          <p:nvPr/>
        </p:nvSpPr>
        <p:spPr>
          <a:xfrm>
            <a:off x="1722999" y="5144703"/>
            <a:ext cx="9751538" cy="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Would leave if not considered for internal role</a:t>
            </a:r>
            <a:endParaRPr lang="en-US" sz="1400" dirty="0"/>
          </a:p>
        </p:txBody>
      </p:sp>
      <p:sp>
        <p:nvSpPr>
          <p:cNvPr id="12" name="Text 10"/>
          <p:cNvSpPr/>
          <p:nvPr/>
        </p:nvSpPr>
        <p:spPr>
          <a:xfrm>
            <a:off x="717159" y="5775158"/>
            <a:ext cx="914400" cy="0"/>
          </a:xfrm>
          <a:prstGeom prst="rect">
            <a:avLst/>
          </a:prstGeom>
          <a:noFill/>
          <a:ln/>
        </p:spPr>
        <p:txBody>
          <a:bodyPr wrap="square" rtlCol="0" anchor="ctr"/>
          <a:lstStyle/>
          <a:p>
            <a:pPr indent="0" marL="0">
              <a:buNone/>
            </a:pPr>
            <a:r>
              <a:rPr lang="en-US" sz="2800" b="1" dirty="0">
                <a:solidFill>
                  <a:srgbClr val="D93025"/>
                </a:solidFill>
                <a:latin typeface="Calibri" pitchFamily="34" charset="0"/>
                <a:ea typeface="Calibri" pitchFamily="34" charset="-122"/>
                <a:cs typeface="Calibri" pitchFamily="34" charset="-120"/>
              </a:rPr>
              <a:t>25%</a:t>
            </a:r>
            <a:endParaRPr lang="en-US" sz="2800" dirty="0"/>
          </a:p>
        </p:txBody>
      </p:sp>
      <p:sp>
        <p:nvSpPr>
          <p:cNvPr id="13" name="Text 11"/>
          <p:cNvSpPr/>
          <p:nvPr/>
        </p:nvSpPr>
        <p:spPr>
          <a:xfrm>
            <a:off x="1722999" y="5866598"/>
            <a:ext cx="9751538" cy="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Companies confident their internal mobility works</a:t>
            </a:r>
            <a:endParaRPr lang="en-US" sz="1400" dirty="0"/>
          </a:p>
        </p:txBody>
      </p:sp>
      <p:sp>
        <p:nvSpPr>
          <p:cNvPr id="14" name="Text 12"/>
          <p:cNvSpPr/>
          <p:nvPr/>
        </p:nvSpPr>
        <p:spPr>
          <a:xfrm>
            <a:off x="717159" y="6497053"/>
            <a:ext cx="10757378" cy="0"/>
          </a:xfrm>
          <a:prstGeom prst="rect">
            <a:avLst/>
          </a:prstGeom>
          <a:noFill/>
          <a:ln/>
        </p:spPr>
        <p:txBody>
          <a:bodyPr wrap="square" rtlCol="0" anchor="t"/>
          <a:lstStyle/>
          <a:p>
            <a:pPr indent="0" marL="0">
              <a:buNone/>
            </a:pPr>
            <a:r>
              <a:rPr lang="en-US" sz="1200" dirty="0">
                <a:solidFill>
                  <a:srgbClr val="444444"/>
                </a:solidFill>
                <a:latin typeface="Calibri" pitchFamily="34" charset="0"/>
                <a:ea typeface="Calibri" pitchFamily="34" charset="-122"/>
                <a:cs typeface="Calibri" pitchFamily="34" charset="-120"/>
              </a:rPr>
              <a:t>The cost is borne by the person, the employer, and the recruiter who placed the wrong fit. None of them have an artifact that would have changed the outcome.</a:t>
            </a:r>
            <a:endParaRPr lang="en-US" sz="1200" dirty="0"/>
          </a:p>
        </p:txBody>
      </p:sp>
      <p:sp>
        <p:nvSpPr>
          <p:cNvPr id="15" name="Text 13"/>
          <p:cNvSpPr/>
          <p:nvPr/>
        </p:nvSpPr>
        <p:spPr>
          <a:xfrm>
            <a:off x="717159" y="6533147"/>
            <a:ext cx="6858000" cy="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Lens</a:t>
            </a:r>
            <a:endParaRPr lang="en-US" sz="1000" dirty="0"/>
          </a:p>
        </p:txBody>
      </p:sp>
      <p:sp>
        <p:nvSpPr>
          <p:cNvPr id="16" name="Text 14"/>
          <p:cNvSpPr/>
          <p:nvPr/>
        </p:nvSpPr>
        <p:spPr>
          <a:xfrm>
            <a:off x="11017337" y="6533147"/>
            <a:ext cx="457200" cy="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06 / 18</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17159" y="649705"/>
            <a:ext cx="717159" cy="36095"/>
          </a:xfrm>
          <a:prstGeom prst="rect">
            <a:avLst/>
          </a:prstGeom>
          <a:solidFill>
            <a:srgbClr val="D93025"/>
          </a:solidFill>
          <a:ln/>
        </p:spPr>
      </p:sp>
      <p:sp>
        <p:nvSpPr>
          <p:cNvPr id="3" name="Text 1"/>
          <p:cNvSpPr/>
          <p:nvPr/>
        </p:nvSpPr>
        <p:spPr>
          <a:xfrm>
            <a:off x="717159" y="757989"/>
            <a:ext cx="6858000" cy="0"/>
          </a:xfrm>
          <a:prstGeom prst="rect">
            <a:avLst/>
          </a:prstGeom>
          <a:noFill/>
          <a:ln/>
        </p:spPr>
        <p:txBody>
          <a:bodyPr wrap="square" rtlCol="0" anchor="ctr"/>
          <a:lstStyle/>
          <a:p>
            <a:pPr indent="0" marL="0">
              <a:buNone/>
            </a:pPr>
            <a:r>
              <a:rPr lang="en-US" sz="1100" b="1" spc="100" kern="0" dirty="0">
                <a:solidFill>
                  <a:srgbClr val="D93025"/>
                </a:solidFill>
                <a:latin typeface="Calibri" pitchFamily="34" charset="0"/>
                <a:ea typeface="Calibri" pitchFamily="34" charset="-122"/>
                <a:cs typeface="Calibri" pitchFamily="34" charset="-120"/>
              </a:rPr>
              <a:t>ACT II — BUT</a:t>
            </a:r>
            <a:endParaRPr lang="en-US" sz="1100" dirty="0"/>
          </a:p>
        </p:txBody>
      </p:sp>
      <p:sp>
        <p:nvSpPr>
          <p:cNvPr id="4" name="Text 2"/>
          <p:cNvSpPr/>
          <p:nvPr/>
        </p:nvSpPr>
        <p:spPr>
          <a:xfrm>
            <a:off x="717159" y="1804737"/>
            <a:ext cx="10757378" cy="0"/>
          </a:xfrm>
          <a:prstGeom prst="rect">
            <a:avLst/>
          </a:prstGeom>
          <a:noFill/>
          <a:ln/>
        </p:spPr>
        <p:txBody>
          <a:bodyPr wrap="square"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None of today's tools produce a portable, structured, person-owned identity record.</a:t>
            </a:r>
            <a:endParaRPr lang="en-US" sz="2200" dirty="0"/>
          </a:p>
        </p:txBody>
      </p:sp>
      <p:sp>
        <p:nvSpPr>
          <p:cNvPr id="5" name="Text 3"/>
          <p:cNvSpPr/>
          <p:nvPr/>
        </p:nvSpPr>
        <p:spPr>
          <a:xfrm>
            <a:off x="717159" y="2707105"/>
            <a:ext cx="10757378" cy="0"/>
          </a:xfrm>
          <a:prstGeom prst="rect">
            <a:avLst/>
          </a:prstGeom>
          <a:noFill/>
          <a:ln/>
        </p:spPr>
        <p:txBody>
          <a:bodyPr wrap="square" rtlCol="0" anchor="ctr"/>
          <a:lstStyle/>
          <a:p>
            <a:pPr indent="0" marL="0">
              <a:buNone/>
            </a:pPr>
            <a:r>
              <a:rPr lang="en-US" sz="1400" dirty="0">
                <a:solidFill>
                  <a:srgbClr val="444444"/>
                </a:solidFill>
                <a:latin typeface="Calibri" pitchFamily="34" charset="0"/>
                <a:ea typeface="Calibri" pitchFamily="34" charset="-122"/>
                <a:cs typeface="Calibri" pitchFamily="34" charset="-120"/>
              </a:rPr>
              <a:t>Each one solves a different problem.</a:t>
            </a:r>
            <a:endParaRPr lang="en-US" sz="1400" dirty="0"/>
          </a:p>
        </p:txBody>
      </p:sp>
      <p:sp>
        <p:nvSpPr>
          <p:cNvPr id="6" name="Shape 4"/>
          <p:cNvSpPr/>
          <p:nvPr/>
        </p:nvSpPr>
        <p:spPr>
          <a:xfrm>
            <a:off x="717159" y="3248526"/>
            <a:ext cx="10757378" cy="0"/>
          </a:xfrm>
          <a:prstGeom prst="line">
            <a:avLst/>
          </a:prstGeom>
          <a:noFill/>
          <a:ln w="6350">
            <a:solidFill>
              <a:srgbClr val="1A1A1A"/>
            </a:solidFill>
            <a:prstDash val="solid"/>
          </a:ln>
        </p:spPr>
      </p:sp>
      <p:sp>
        <p:nvSpPr>
          <p:cNvPr id="7" name="Text 5"/>
          <p:cNvSpPr/>
          <p:nvPr/>
        </p:nvSpPr>
        <p:spPr>
          <a:xfrm>
            <a:off x="717159" y="3338763"/>
            <a:ext cx="1371600" cy="0"/>
          </a:xfrm>
          <a:prstGeom prst="rect">
            <a:avLst/>
          </a:prstGeom>
          <a:noFill/>
          <a:ln/>
        </p:spPr>
        <p:txBody>
          <a:bodyPr wrap="square" rtlCol="0" anchor="ctr"/>
          <a:lstStyle/>
          <a:p>
            <a:pPr indent="0" marL="0">
              <a:buNone/>
            </a:pPr>
            <a:r>
              <a:rPr lang="en-US" sz="1100" b="1" dirty="0">
                <a:solidFill>
                  <a:srgbClr val="777777"/>
                </a:solidFill>
                <a:latin typeface="Calibri" pitchFamily="34" charset="0"/>
                <a:ea typeface="Calibri" pitchFamily="34" charset="-122"/>
                <a:cs typeface="Calibri" pitchFamily="34" charset="-120"/>
              </a:rPr>
              <a:t>Tool</a:t>
            </a:r>
            <a:endParaRPr lang="en-US" sz="1100" dirty="0"/>
          </a:p>
        </p:txBody>
      </p:sp>
      <p:sp>
        <p:nvSpPr>
          <p:cNvPr id="8" name="Text 6"/>
          <p:cNvSpPr/>
          <p:nvPr/>
        </p:nvSpPr>
        <p:spPr>
          <a:xfrm>
            <a:off x="2180199" y="3338763"/>
            <a:ext cx="3200400" cy="0"/>
          </a:xfrm>
          <a:prstGeom prst="rect">
            <a:avLst/>
          </a:prstGeom>
          <a:noFill/>
          <a:ln/>
        </p:spPr>
        <p:txBody>
          <a:bodyPr wrap="square" rtlCol="0" anchor="ctr"/>
          <a:lstStyle/>
          <a:p>
            <a:pPr indent="0" marL="0">
              <a:buNone/>
            </a:pPr>
            <a:r>
              <a:rPr lang="en-US" sz="1100" b="1" dirty="0">
                <a:solidFill>
                  <a:srgbClr val="777777"/>
                </a:solidFill>
                <a:latin typeface="Calibri" pitchFamily="34" charset="0"/>
                <a:ea typeface="Calibri" pitchFamily="34" charset="-122"/>
                <a:cs typeface="Calibri" pitchFamily="34" charset="-120"/>
              </a:rPr>
              <a:t>What it does</a:t>
            </a:r>
            <a:endParaRPr lang="en-US" sz="1100" dirty="0"/>
          </a:p>
        </p:txBody>
      </p:sp>
      <p:sp>
        <p:nvSpPr>
          <p:cNvPr id="9" name="Text 7"/>
          <p:cNvSpPr/>
          <p:nvPr/>
        </p:nvSpPr>
        <p:spPr>
          <a:xfrm>
            <a:off x="5746359" y="3338763"/>
            <a:ext cx="4114800" cy="0"/>
          </a:xfrm>
          <a:prstGeom prst="rect">
            <a:avLst/>
          </a:prstGeom>
          <a:noFill/>
          <a:ln/>
        </p:spPr>
        <p:txBody>
          <a:bodyPr wrap="square" rtlCol="0" anchor="ctr"/>
          <a:lstStyle/>
          <a:p>
            <a:pPr indent="0" marL="0">
              <a:buNone/>
            </a:pPr>
            <a:r>
              <a:rPr lang="en-US" sz="1100" b="1" dirty="0">
                <a:solidFill>
                  <a:srgbClr val="777777"/>
                </a:solidFill>
                <a:latin typeface="Calibri" pitchFamily="34" charset="0"/>
                <a:ea typeface="Calibri" pitchFamily="34" charset="-122"/>
                <a:cs typeface="Calibri" pitchFamily="34" charset="-120"/>
              </a:rPr>
              <a:t>What it doesn't</a:t>
            </a:r>
            <a:endParaRPr lang="en-US" sz="1100" dirty="0"/>
          </a:p>
        </p:txBody>
      </p:sp>
      <p:sp>
        <p:nvSpPr>
          <p:cNvPr id="10" name="Shape 8"/>
          <p:cNvSpPr/>
          <p:nvPr/>
        </p:nvSpPr>
        <p:spPr>
          <a:xfrm>
            <a:off x="717159" y="3699711"/>
            <a:ext cx="10757378" cy="0"/>
          </a:xfrm>
          <a:prstGeom prst="line">
            <a:avLst/>
          </a:prstGeom>
          <a:noFill/>
          <a:ln w="6350">
            <a:solidFill>
              <a:srgbClr val="1A1A1A"/>
            </a:solidFill>
            <a:prstDash val="solid"/>
          </a:ln>
        </p:spPr>
      </p:sp>
      <p:sp>
        <p:nvSpPr>
          <p:cNvPr id="11" name="Text 9"/>
          <p:cNvSpPr/>
          <p:nvPr/>
        </p:nvSpPr>
        <p:spPr>
          <a:xfrm>
            <a:off x="717159" y="3789947"/>
            <a:ext cx="1371600" cy="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Resumes &amp; ATS</a:t>
            </a:r>
            <a:endParaRPr lang="en-US" sz="1200" dirty="0"/>
          </a:p>
        </p:txBody>
      </p:sp>
      <p:sp>
        <p:nvSpPr>
          <p:cNvPr id="12" name="Text 10"/>
          <p:cNvSpPr/>
          <p:nvPr/>
        </p:nvSpPr>
        <p:spPr>
          <a:xfrm>
            <a:off x="2180199" y="3789947"/>
            <a:ext cx="3200400" cy="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Optimized for parsing keywords</a:t>
            </a:r>
            <a:endParaRPr lang="en-US" sz="1200" dirty="0"/>
          </a:p>
        </p:txBody>
      </p:sp>
      <p:sp>
        <p:nvSpPr>
          <p:cNvPr id="13" name="Text 11"/>
          <p:cNvSpPr/>
          <p:nvPr/>
        </p:nvSpPr>
        <p:spPr>
          <a:xfrm>
            <a:off x="5746359" y="3789947"/>
            <a:ext cx="4114800" cy="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Not built to capture identity</a:t>
            </a:r>
            <a:endParaRPr lang="en-US" sz="1200" dirty="0"/>
          </a:p>
        </p:txBody>
      </p:sp>
      <p:sp>
        <p:nvSpPr>
          <p:cNvPr id="14" name="Shape 12"/>
          <p:cNvSpPr/>
          <p:nvPr/>
        </p:nvSpPr>
        <p:spPr>
          <a:xfrm>
            <a:off x="717159" y="4331368"/>
            <a:ext cx="10757378" cy="0"/>
          </a:xfrm>
          <a:prstGeom prst="line">
            <a:avLst/>
          </a:prstGeom>
          <a:noFill/>
          <a:ln w="6350">
            <a:solidFill>
              <a:srgbClr val="1A1A1A"/>
            </a:solidFill>
            <a:prstDash val="solid"/>
          </a:ln>
        </p:spPr>
      </p:sp>
      <p:sp>
        <p:nvSpPr>
          <p:cNvPr id="15" name="Text 13"/>
          <p:cNvSpPr/>
          <p:nvPr/>
        </p:nvSpPr>
        <p:spPr>
          <a:xfrm>
            <a:off x="717159" y="4421605"/>
            <a:ext cx="1371600" cy="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Assessments</a:t>
            </a:r>
            <a:endParaRPr lang="en-US" sz="1200" dirty="0"/>
          </a:p>
        </p:txBody>
      </p:sp>
      <p:sp>
        <p:nvSpPr>
          <p:cNvPr id="16" name="Text 14"/>
          <p:cNvSpPr/>
          <p:nvPr/>
        </p:nvSpPr>
        <p:spPr>
          <a:xfrm>
            <a:off x="2180199" y="4421605"/>
            <a:ext cx="3200400" cy="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Produce a graph for the buyer</a:t>
            </a:r>
            <a:endParaRPr lang="en-US" sz="1200" dirty="0"/>
          </a:p>
        </p:txBody>
      </p:sp>
      <p:sp>
        <p:nvSpPr>
          <p:cNvPr id="17" name="Text 15"/>
          <p:cNvSpPr/>
          <p:nvPr/>
        </p:nvSpPr>
        <p:spPr>
          <a:xfrm>
            <a:off x="5746359" y="4421605"/>
            <a:ext cx="4114800" cy="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The person doesn't own them</a:t>
            </a:r>
            <a:endParaRPr lang="en-US" sz="1200" dirty="0"/>
          </a:p>
        </p:txBody>
      </p:sp>
      <p:sp>
        <p:nvSpPr>
          <p:cNvPr id="18" name="Shape 16"/>
          <p:cNvSpPr/>
          <p:nvPr/>
        </p:nvSpPr>
        <p:spPr>
          <a:xfrm>
            <a:off x="717159" y="4963026"/>
            <a:ext cx="10757378" cy="0"/>
          </a:xfrm>
          <a:prstGeom prst="line">
            <a:avLst/>
          </a:prstGeom>
          <a:noFill/>
          <a:ln w="6350">
            <a:solidFill>
              <a:srgbClr val="1A1A1A"/>
            </a:solidFill>
            <a:prstDash val="solid"/>
          </a:ln>
        </p:spPr>
      </p:sp>
      <p:sp>
        <p:nvSpPr>
          <p:cNvPr id="19" name="Text 17"/>
          <p:cNvSpPr/>
          <p:nvPr/>
        </p:nvSpPr>
        <p:spPr>
          <a:xfrm>
            <a:off x="717159" y="5053263"/>
            <a:ext cx="1371600" cy="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LinkedIn</a:t>
            </a:r>
            <a:endParaRPr lang="en-US" sz="1200" dirty="0"/>
          </a:p>
        </p:txBody>
      </p:sp>
      <p:sp>
        <p:nvSpPr>
          <p:cNvPr id="20" name="Text 18"/>
          <p:cNvSpPr/>
          <p:nvPr/>
        </p:nvSpPr>
        <p:spPr>
          <a:xfrm>
            <a:off x="2180199" y="5053263"/>
            <a:ext cx="3200400" cy="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Narrative is partly owned</a:t>
            </a:r>
            <a:endParaRPr lang="en-US" sz="1200" dirty="0"/>
          </a:p>
        </p:txBody>
      </p:sp>
      <p:sp>
        <p:nvSpPr>
          <p:cNvPr id="21" name="Text 19"/>
          <p:cNvSpPr/>
          <p:nvPr/>
        </p:nvSpPr>
        <p:spPr>
          <a:xfrm>
            <a:off x="5746359" y="5053263"/>
            <a:ext cx="4114800" cy="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Format is shallow, platform-controlled</a:t>
            </a:r>
            <a:endParaRPr lang="en-US" sz="1200" dirty="0"/>
          </a:p>
        </p:txBody>
      </p:sp>
      <p:sp>
        <p:nvSpPr>
          <p:cNvPr id="22" name="Shape 20"/>
          <p:cNvSpPr/>
          <p:nvPr/>
        </p:nvSpPr>
        <p:spPr>
          <a:xfrm>
            <a:off x="717159" y="5594684"/>
            <a:ext cx="10757378" cy="0"/>
          </a:xfrm>
          <a:prstGeom prst="line">
            <a:avLst/>
          </a:prstGeom>
          <a:noFill/>
          <a:ln w="6350">
            <a:solidFill>
              <a:srgbClr val="1A1A1A"/>
            </a:solidFill>
            <a:prstDash val="solid"/>
          </a:ln>
        </p:spPr>
      </p:sp>
      <p:sp>
        <p:nvSpPr>
          <p:cNvPr id="23" name="Text 21"/>
          <p:cNvSpPr/>
          <p:nvPr/>
        </p:nvSpPr>
        <p:spPr>
          <a:xfrm>
            <a:off x="717159" y="5684921"/>
            <a:ext cx="1371600" cy="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Internal mobility</a:t>
            </a:r>
            <a:endParaRPr lang="en-US" sz="1200" dirty="0"/>
          </a:p>
        </p:txBody>
      </p:sp>
      <p:sp>
        <p:nvSpPr>
          <p:cNvPr id="24" name="Text 22"/>
          <p:cNvSpPr/>
          <p:nvPr/>
        </p:nvSpPr>
        <p:spPr>
          <a:xfrm>
            <a:off x="2180199" y="5684921"/>
            <a:ext cx="3200400" cy="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Match on skills</a:t>
            </a:r>
            <a:endParaRPr lang="en-US" sz="1200" dirty="0"/>
          </a:p>
        </p:txBody>
      </p:sp>
      <p:sp>
        <p:nvSpPr>
          <p:cNvPr id="25" name="Text 23"/>
          <p:cNvSpPr/>
          <p:nvPr/>
        </p:nvSpPr>
        <p:spPr>
          <a:xfrm>
            <a:off x="5746359" y="5684921"/>
            <a:ext cx="4114800" cy="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Identity layer is absent</a:t>
            </a:r>
            <a:endParaRPr lang="en-US" sz="1200" dirty="0"/>
          </a:p>
        </p:txBody>
      </p:sp>
      <p:sp>
        <p:nvSpPr>
          <p:cNvPr id="26" name="Shape 24"/>
          <p:cNvSpPr/>
          <p:nvPr/>
        </p:nvSpPr>
        <p:spPr>
          <a:xfrm>
            <a:off x="717159" y="6226342"/>
            <a:ext cx="10757378" cy="0"/>
          </a:xfrm>
          <a:prstGeom prst="line">
            <a:avLst/>
          </a:prstGeom>
          <a:noFill/>
          <a:ln w="6350">
            <a:solidFill>
              <a:srgbClr val="1A1A1A"/>
            </a:solidFill>
            <a:prstDash val="solid"/>
          </a:ln>
        </p:spPr>
      </p:sp>
      <p:sp>
        <p:nvSpPr>
          <p:cNvPr id="27" name="Text 25"/>
          <p:cNvSpPr/>
          <p:nvPr/>
        </p:nvSpPr>
        <p:spPr>
          <a:xfrm>
            <a:off x="717159" y="6136105"/>
            <a:ext cx="6858000" cy="0"/>
          </a:xfrm>
          <a:prstGeom prst="rect">
            <a:avLst/>
          </a:prstGeom>
          <a:noFill/>
          <a:ln/>
        </p:spPr>
        <p:txBody>
          <a:bodyPr wrap="square" rtlCol="0" anchor="ctr"/>
          <a:lstStyle/>
          <a:p>
            <a:pPr indent="0" marL="0">
              <a:buNone/>
            </a:pPr>
            <a:r>
              <a:rPr lang="en-US" sz="1400" i="1" dirty="0">
                <a:solidFill>
                  <a:srgbClr val="D93025"/>
                </a:solidFill>
                <a:latin typeface="Calibri" pitchFamily="34" charset="0"/>
                <a:ea typeface="Calibri" pitchFamily="34" charset="-122"/>
                <a:cs typeface="Calibri" pitchFamily="34" charset="-120"/>
              </a:rPr>
              <a:t>The white space isn't a feature gap. It's a missing primitive.</a:t>
            </a:r>
            <a:endParaRPr lang="en-US" sz="1400" dirty="0"/>
          </a:p>
        </p:txBody>
      </p:sp>
      <p:sp>
        <p:nvSpPr>
          <p:cNvPr id="28" name="Text 26"/>
          <p:cNvSpPr/>
          <p:nvPr/>
        </p:nvSpPr>
        <p:spPr>
          <a:xfrm>
            <a:off x="717159" y="6533147"/>
            <a:ext cx="6858000" cy="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Lens</a:t>
            </a:r>
            <a:endParaRPr lang="en-US" sz="1000" dirty="0"/>
          </a:p>
        </p:txBody>
      </p:sp>
      <p:sp>
        <p:nvSpPr>
          <p:cNvPr id="29" name="Text 27"/>
          <p:cNvSpPr/>
          <p:nvPr/>
        </p:nvSpPr>
        <p:spPr>
          <a:xfrm>
            <a:off x="11017337" y="6533147"/>
            <a:ext cx="457200" cy="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07 / 18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17159" y="649705"/>
            <a:ext cx="717159" cy="36095"/>
          </a:xfrm>
          <a:prstGeom prst="rect">
            <a:avLst/>
          </a:prstGeom>
          <a:solidFill>
            <a:srgbClr val="D93025"/>
          </a:solidFill>
          <a:ln/>
        </p:spPr>
      </p:sp>
      <p:sp>
        <p:nvSpPr>
          <p:cNvPr id="3" name="Text 1"/>
          <p:cNvSpPr/>
          <p:nvPr/>
        </p:nvSpPr>
        <p:spPr>
          <a:xfrm>
            <a:off x="717159" y="757989"/>
            <a:ext cx="6858000" cy="0"/>
          </a:xfrm>
          <a:prstGeom prst="rect">
            <a:avLst/>
          </a:prstGeom>
          <a:noFill/>
          <a:ln/>
        </p:spPr>
        <p:txBody>
          <a:bodyPr wrap="square" rtlCol="0" anchor="ctr"/>
          <a:lstStyle/>
          <a:p>
            <a:pPr indent="0" marL="0">
              <a:buNone/>
            </a:pPr>
            <a:r>
              <a:rPr lang="en-US" sz="1100" b="1" spc="100" kern="0" dirty="0">
                <a:solidFill>
                  <a:srgbClr val="D93025"/>
                </a:solidFill>
                <a:latin typeface="Calibri" pitchFamily="34" charset="0"/>
                <a:ea typeface="Calibri" pitchFamily="34" charset="-122"/>
                <a:cs typeface="Calibri" pitchFamily="34" charset="-120"/>
              </a:rPr>
              <a:t>ACT II — BUT</a:t>
            </a:r>
            <a:endParaRPr lang="en-US" sz="1100" dirty="0"/>
          </a:p>
        </p:txBody>
      </p:sp>
      <p:sp>
        <p:nvSpPr>
          <p:cNvPr id="4" name="Text 2"/>
          <p:cNvSpPr/>
          <p:nvPr/>
        </p:nvSpPr>
        <p:spPr>
          <a:xfrm>
            <a:off x="717159" y="1804737"/>
            <a:ext cx="10757378" cy="0"/>
          </a:xfrm>
          <a:prstGeom prst="rect">
            <a:avLst/>
          </a:prstGeom>
          <a:noFill/>
          <a:ln/>
        </p:spPr>
        <p:txBody>
          <a:bodyPr wrap="square"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Standard recruiter inputs reconstruct ~43% of identity-grade fit.</a:t>
            </a:r>
            <a:endParaRPr lang="en-US" sz="2200" dirty="0"/>
          </a:p>
        </p:txBody>
      </p:sp>
      <p:sp>
        <p:nvSpPr>
          <p:cNvPr id="5" name="Text 3"/>
          <p:cNvSpPr/>
          <p:nvPr/>
        </p:nvSpPr>
        <p:spPr>
          <a:xfrm>
            <a:off x="717159" y="2707105"/>
            <a:ext cx="10757378" cy="0"/>
          </a:xfrm>
          <a:prstGeom prst="rect">
            <a:avLst/>
          </a:prstGeom>
          <a:noFill/>
          <a:ln/>
        </p:spPr>
        <p:txBody>
          <a:bodyPr wrap="square" rtlCol="0" anchor="ctr"/>
          <a:lstStyle/>
          <a:p>
            <a:pPr indent="0" marL="0">
              <a:buNone/>
            </a:pPr>
            <a:r>
              <a:rPr lang="en-US" sz="1400" dirty="0">
                <a:solidFill>
                  <a:srgbClr val="444444"/>
                </a:solidFill>
                <a:latin typeface="Calibri" pitchFamily="34" charset="0"/>
                <a:ea typeface="Calibri" pitchFamily="34" charset="-122"/>
                <a:cs typeface="Calibri" pitchFamily="34" charset="-120"/>
              </a:rPr>
              <a:t>Signal Reconstructibility Test, 2026.</a:t>
            </a:r>
            <a:endParaRPr lang="en-US" sz="1400" dirty="0"/>
          </a:p>
        </p:txBody>
      </p:sp>
      <p:sp>
        <p:nvSpPr>
          <p:cNvPr id="6" name="Text 4"/>
          <p:cNvSpPr/>
          <p:nvPr/>
        </p:nvSpPr>
        <p:spPr>
          <a:xfrm>
            <a:off x="717159" y="3429000"/>
            <a:ext cx="10757378" cy="0"/>
          </a:xfrm>
          <a:prstGeom prst="rect">
            <a:avLst/>
          </a:prstGeom>
          <a:noFill/>
          <a:ln/>
        </p:spPr>
        <p:txBody>
          <a:bodyPr wrap="square" rtlCol="0" anchor="t"/>
          <a:lstStyle/>
          <a:p>
            <a:pPr indent="0" marL="0">
              <a:buNone/>
            </a:pPr>
            <a:r>
              <a:rPr lang="en-US" sz="1400" dirty="0">
                <a:solidFill>
                  <a:srgbClr val="1A1A1A"/>
                </a:solidFill>
                <a:latin typeface="Calibri" pitchFamily="34" charset="0"/>
                <a:ea typeface="Calibri" pitchFamily="34" charset="-122"/>
                <a:cs typeface="Calibri" pitchFamily="34" charset="-120"/>
              </a:rPr>
              <a:t>Three independent AI systems were given the same task: given a candidate's resume plus a standard assessment, reconstruct the artifact a coached intake produces.</a:t>
            </a:r>
            <a:endParaRPr lang="en-US" sz="1400" dirty="0"/>
          </a:p>
        </p:txBody>
      </p:sp>
      <p:sp>
        <p:nvSpPr>
          <p:cNvPr id="7" name="Shape 5"/>
          <p:cNvSpPr/>
          <p:nvPr/>
        </p:nvSpPr>
        <p:spPr>
          <a:xfrm>
            <a:off x="717159" y="4511842"/>
            <a:ext cx="7315200" cy="457200"/>
          </a:xfrm>
          <a:prstGeom prst="rect">
            <a:avLst/>
          </a:prstGeom>
          <a:solidFill>
            <a:srgbClr val="F5F5F5"/>
          </a:solidFill>
          <a:ln w="6350">
            <a:solidFill>
              <a:srgbClr val="1A1A1A"/>
            </a:solidFill>
            <a:prstDash val="solid"/>
          </a:ln>
        </p:spPr>
      </p:sp>
      <p:sp>
        <p:nvSpPr>
          <p:cNvPr id="8" name="Shape 6"/>
          <p:cNvSpPr/>
          <p:nvPr/>
        </p:nvSpPr>
        <p:spPr>
          <a:xfrm>
            <a:off x="717159" y="4511842"/>
            <a:ext cx="3145536" cy="457200"/>
          </a:xfrm>
          <a:prstGeom prst="rect">
            <a:avLst/>
          </a:prstGeom>
          <a:solidFill>
            <a:srgbClr val="D93025"/>
          </a:solidFill>
          <a:ln/>
        </p:spPr>
      </p:sp>
      <p:sp>
        <p:nvSpPr>
          <p:cNvPr id="9" name="Text 7"/>
          <p:cNvSpPr/>
          <p:nvPr/>
        </p:nvSpPr>
        <p:spPr>
          <a:xfrm>
            <a:off x="3954135" y="4511842"/>
            <a:ext cx="548640" cy="45720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43%</a:t>
            </a:r>
            <a:endParaRPr lang="en-US" sz="1400" dirty="0"/>
          </a:p>
        </p:txBody>
      </p:sp>
      <p:sp>
        <p:nvSpPr>
          <p:cNvPr id="10" name="Text 8"/>
          <p:cNvSpPr/>
          <p:nvPr/>
        </p:nvSpPr>
        <p:spPr>
          <a:xfrm>
            <a:off x="717159" y="5060482"/>
            <a:ext cx="6858000" cy="0"/>
          </a:xfrm>
          <a:prstGeom prst="rect">
            <a:avLst/>
          </a:prstGeom>
          <a:noFill/>
          <a:ln/>
        </p:spPr>
        <p:txBody>
          <a:bodyPr wrap="square" rtlCol="0" anchor="ctr"/>
          <a:lstStyle/>
          <a:p>
            <a:pPr indent="0" marL="0">
              <a:buNone/>
            </a:pPr>
            <a:r>
              <a:rPr lang="en-US" sz="1100" dirty="0">
                <a:solidFill>
                  <a:srgbClr val="777777"/>
                </a:solidFill>
                <a:latin typeface="Calibri" pitchFamily="34" charset="0"/>
                <a:ea typeface="Calibri" pitchFamily="34" charset="-122"/>
                <a:cs typeface="Calibri" pitchFamily="34" charset="-120"/>
              </a:rPr>
              <a:t>Mean reconstruction rate</a:t>
            </a:r>
            <a:endParaRPr lang="en-US" sz="1100" dirty="0"/>
          </a:p>
        </p:txBody>
      </p:sp>
      <p:sp>
        <p:nvSpPr>
          <p:cNvPr id="11" name="Text 9"/>
          <p:cNvSpPr/>
          <p:nvPr/>
        </p:nvSpPr>
        <p:spPr>
          <a:xfrm>
            <a:off x="717159" y="5594684"/>
            <a:ext cx="6858000" cy="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Largest gaps (signals that predict thriving):</a:t>
            </a:r>
            <a:endParaRPr lang="en-US" sz="1200" dirty="0"/>
          </a:p>
        </p:txBody>
      </p:sp>
      <p:sp>
        <p:nvSpPr>
          <p:cNvPr id="12" name="Text 10"/>
          <p:cNvSpPr/>
          <p:nvPr/>
        </p:nvSpPr>
        <p:spPr>
          <a:xfrm>
            <a:off x="717159" y="5955632"/>
            <a:ext cx="6858000" cy="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Values: 22%</a:t>
            </a:r>
            <a:endParaRPr lang="en-US" sz="1200" dirty="0"/>
          </a:p>
        </p:txBody>
      </p:sp>
      <p:sp>
        <p:nvSpPr>
          <p:cNvPr id="13" name="Text 11"/>
          <p:cNvSpPr/>
          <p:nvPr/>
        </p:nvSpPr>
        <p:spPr>
          <a:xfrm>
            <a:off x="2545959" y="5955632"/>
            <a:ext cx="6858000" cy="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Energy: 30%</a:t>
            </a:r>
            <a:endParaRPr lang="en-US" sz="1200" dirty="0"/>
          </a:p>
        </p:txBody>
      </p:sp>
      <p:sp>
        <p:nvSpPr>
          <p:cNvPr id="14" name="Text 12"/>
          <p:cNvSpPr/>
          <p:nvPr/>
        </p:nvSpPr>
        <p:spPr>
          <a:xfrm>
            <a:off x="4374759" y="5955632"/>
            <a:ext cx="6858000" cy="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Disqualifiers: 13%</a:t>
            </a:r>
            <a:endParaRPr lang="en-US" sz="1200" dirty="0"/>
          </a:p>
        </p:txBody>
      </p:sp>
      <p:sp>
        <p:nvSpPr>
          <p:cNvPr id="15" name="Text 13"/>
          <p:cNvSpPr/>
          <p:nvPr/>
        </p:nvSpPr>
        <p:spPr>
          <a:xfrm>
            <a:off x="717159" y="6497053"/>
            <a:ext cx="6858000" cy="0"/>
          </a:xfrm>
          <a:prstGeom prst="rect">
            <a:avLst/>
          </a:prstGeom>
          <a:noFill/>
          <a:ln/>
        </p:spPr>
        <p:txBody>
          <a:bodyPr wrap="square"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The labor market is making consequential decisions on roughly half the picture.</a:t>
            </a:r>
            <a:endParaRPr lang="en-US" sz="1200" dirty="0"/>
          </a:p>
        </p:txBody>
      </p:sp>
      <p:sp>
        <p:nvSpPr>
          <p:cNvPr id="16" name="Text 14"/>
          <p:cNvSpPr/>
          <p:nvPr/>
        </p:nvSpPr>
        <p:spPr>
          <a:xfrm>
            <a:off x="717159" y="6533147"/>
            <a:ext cx="6858000" cy="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Lens</a:t>
            </a:r>
            <a:endParaRPr lang="en-US" sz="1000" dirty="0"/>
          </a:p>
        </p:txBody>
      </p:sp>
      <p:sp>
        <p:nvSpPr>
          <p:cNvPr id="17" name="Text 15"/>
          <p:cNvSpPr/>
          <p:nvPr/>
        </p:nvSpPr>
        <p:spPr>
          <a:xfrm>
            <a:off x="11017337" y="6533147"/>
            <a:ext cx="457200" cy="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08 / 18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17159" y="649705"/>
            <a:ext cx="717159" cy="36095"/>
          </a:xfrm>
          <a:prstGeom prst="rect">
            <a:avLst/>
          </a:prstGeom>
          <a:solidFill>
            <a:srgbClr val="D93025"/>
          </a:solidFill>
          <a:ln/>
        </p:spPr>
      </p:sp>
      <p:sp>
        <p:nvSpPr>
          <p:cNvPr id="3" name="Text 1"/>
          <p:cNvSpPr/>
          <p:nvPr/>
        </p:nvSpPr>
        <p:spPr>
          <a:xfrm>
            <a:off x="717159" y="757989"/>
            <a:ext cx="6858000" cy="0"/>
          </a:xfrm>
          <a:prstGeom prst="rect">
            <a:avLst/>
          </a:prstGeom>
          <a:noFill/>
          <a:ln/>
        </p:spPr>
        <p:txBody>
          <a:bodyPr wrap="square" rtlCol="0" anchor="ctr"/>
          <a:lstStyle/>
          <a:p>
            <a:pPr indent="0" marL="0">
              <a:buNone/>
            </a:pPr>
            <a:r>
              <a:rPr lang="en-US" sz="1100" b="1" spc="100" kern="0" dirty="0">
                <a:solidFill>
                  <a:srgbClr val="D93025"/>
                </a:solidFill>
                <a:latin typeface="Calibri" pitchFamily="34" charset="0"/>
                <a:ea typeface="Calibri" pitchFamily="34" charset="-122"/>
                <a:cs typeface="Calibri" pitchFamily="34" charset="-120"/>
              </a:rPr>
              <a:t>ACT III — SO</a:t>
            </a:r>
            <a:endParaRPr lang="en-US" sz="1100" dirty="0"/>
          </a:p>
        </p:txBody>
      </p:sp>
      <p:sp>
        <p:nvSpPr>
          <p:cNvPr id="4" name="Text 2"/>
          <p:cNvSpPr/>
          <p:nvPr/>
        </p:nvSpPr>
        <p:spPr>
          <a:xfrm>
            <a:off x="717159" y="1768642"/>
            <a:ext cx="6858000" cy="0"/>
          </a:xfrm>
          <a:prstGeom prst="rect">
            <a:avLst/>
          </a:prstGeom>
          <a:noFill/>
          <a:ln/>
        </p:spPr>
        <p:txBody>
          <a:bodyPr wrap="square" rtlCol="0" anchor="ctr"/>
          <a:lstStyle/>
          <a:p>
            <a:pPr indent="0" marL="0">
              <a:buNone/>
            </a:pPr>
            <a:r>
              <a:rPr lang="en-US" sz="2800" b="1" dirty="0">
                <a:solidFill>
                  <a:srgbClr val="1A1A1A"/>
                </a:solidFill>
                <a:latin typeface="Calibri" pitchFamily="34" charset="0"/>
                <a:ea typeface="Calibri" pitchFamily="34" charset="-122"/>
                <a:cs typeface="Calibri" pitchFamily="34" charset="-120"/>
              </a:rPr>
              <a:t>Lens.</a:t>
            </a:r>
            <a:endParaRPr lang="en-US" sz="2800" dirty="0"/>
          </a:p>
        </p:txBody>
      </p:sp>
      <p:sp>
        <p:nvSpPr>
          <p:cNvPr id="5" name="Text 3"/>
          <p:cNvSpPr/>
          <p:nvPr/>
        </p:nvSpPr>
        <p:spPr>
          <a:xfrm>
            <a:off x="717159" y="2310063"/>
            <a:ext cx="6858000" cy="0"/>
          </a:xfrm>
          <a:prstGeom prst="rect">
            <a:avLst/>
          </a:prstGeom>
          <a:noFill/>
          <a:ln/>
        </p:spPr>
        <p:txBody>
          <a:bodyPr wrap="square" rtlCol="0" anchor="ctr"/>
          <a:lstStyle/>
          <a:p>
            <a:pPr indent="0" marL="0">
              <a:buNone/>
            </a:pPr>
            <a:r>
              <a:rPr lang="en-US" sz="1600" dirty="0">
                <a:solidFill>
                  <a:srgbClr val="1A1A1A"/>
                </a:solidFill>
                <a:latin typeface="Calibri" pitchFamily="34" charset="0"/>
                <a:ea typeface="Calibri" pitchFamily="34" charset="-122"/>
                <a:cs typeface="Calibri" pitchFamily="34" charset="-120"/>
              </a:rPr>
              <a:t>A portable identity primitive for the labor market.</a:t>
            </a:r>
            <a:endParaRPr lang="en-US" sz="1600" dirty="0"/>
          </a:p>
        </p:txBody>
      </p:sp>
      <p:sp>
        <p:nvSpPr>
          <p:cNvPr id="6" name="Shape 4"/>
          <p:cNvSpPr/>
          <p:nvPr/>
        </p:nvSpPr>
        <p:spPr>
          <a:xfrm>
            <a:off x="717159" y="2887579"/>
            <a:ext cx="10757378" cy="0"/>
          </a:xfrm>
          <a:prstGeom prst="line">
            <a:avLst/>
          </a:prstGeom>
          <a:noFill/>
          <a:ln w="6350">
            <a:solidFill>
              <a:srgbClr val="1A1A1A"/>
            </a:solidFill>
            <a:prstDash val="solid"/>
          </a:ln>
        </p:spPr>
      </p:sp>
      <p:sp>
        <p:nvSpPr>
          <p:cNvPr id="7" name="Text 5"/>
          <p:cNvSpPr/>
          <p:nvPr/>
        </p:nvSpPr>
        <p:spPr>
          <a:xfrm>
            <a:off x="717159" y="3140242"/>
            <a:ext cx="6858000" cy="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1.  Coached intake — produces a structured identity record.</a:t>
            </a:r>
            <a:endParaRPr lang="en-US" sz="1400" dirty="0"/>
          </a:p>
        </p:txBody>
      </p:sp>
      <p:sp>
        <p:nvSpPr>
          <p:cNvPr id="8" name="Shape 6"/>
          <p:cNvSpPr/>
          <p:nvPr/>
        </p:nvSpPr>
        <p:spPr>
          <a:xfrm>
            <a:off x="717159" y="3681663"/>
            <a:ext cx="10757378" cy="0"/>
          </a:xfrm>
          <a:prstGeom prst="line">
            <a:avLst/>
          </a:prstGeom>
          <a:noFill/>
          <a:ln w="6350">
            <a:solidFill>
              <a:srgbClr val="1A1A1A"/>
            </a:solidFill>
            <a:prstDash val="solid"/>
          </a:ln>
        </p:spPr>
      </p:sp>
      <p:sp>
        <p:nvSpPr>
          <p:cNvPr id="9" name="Text 7"/>
          <p:cNvSpPr/>
          <p:nvPr/>
        </p:nvSpPr>
        <p:spPr>
          <a:xfrm>
            <a:off x="717159" y="3934326"/>
            <a:ext cx="6858000" cy="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2.  Scoring layer — matches the lens bidirectionally against any opportunity.</a:t>
            </a:r>
            <a:endParaRPr lang="en-US" sz="1400" dirty="0"/>
          </a:p>
        </p:txBody>
      </p:sp>
      <p:sp>
        <p:nvSpPr>
          <p:cNvPr id="10" name="Shape 8"/>
          <p:cNvSpPr/>
          <p:nvPr/>
        </p:nvSpPr>
        <p:spPr>
          <a:xfrm>
            <a:off x="717159" y="4475747"/>
            <a:ext cx="10757378" cy="0"/>
          </a:xfrm>
          <a:prstGeom prst="line">
            <a:avLst/>
          </a:prstGeom>
          <a:noFill/>
          <a:ln w="6350">
            <a:solidFill>
              <a:srgbClr val="1A1A1A"/>
            </a:solidFill>
            <a:prstDash val="solid"/>
          </a:ln>
        </p:spPr>
      </p:sp>
      <p:sp>
        <p:nvSpPr>
          <p:cNvPr id="11" name="Text 9"/>
          <p:cNvSpPr/>
          <p:nvPr/>
        </p:nvSpPr>
        <p:spPr>
          <a:xfrm>
            <a:off x="717159" y="4728411"/>
            <a:ext cx="6858000" cy="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3.  Ownership model — the person holds the primary copy.</a:t>
            </a:r>
            <a:endParaRPr lang="en-US" sz="1400" dirty="0"/>
          </a:p>
        </p:txBody>
      </p:sp>
      <p:sp>
        <p:nvSpPr>
          <p:cNvPr id="12" name="Shape 10"/>
          <p:cNvSpPr/>
          <p:nvPr/>
        </p:nvSpPr>
        <p:spPr>
          <a:xfrm>
            <a:off x="717159" y="5269832"/>
            <a:ext cx="10757378" cy="0"/>
          </a:xfrm>
          <a:prstGeom prst="line">
            <a:avLst/>
          </a:prstGeom>
          <a:noFill/>
          <a:ln w="6350">
            <a:solidFill>
              <a:srgbClr val="1A1A1A"/>
            </a:solidFill>
            <a:prstDash val="solid"/>
          </a:ln>
        </p:spPr>
      </p:sp>
      <p:sp>
        <p:nvSpPr>
          <p:cNvPr id="13" name="Text 11"/>
          <p:cNvSpPr/>
          <p:nvPr/>
        </p:nvSpPr>
        <p:spPr>
          <a:xfrm>
            <a:off x="717159" y="5739063"/>
            <a:ext cx="6858000" cy="0"/>
          </a:xfrm>
          <a:prstGeom prst="rect">
            <a:avLst/>
          </a:prstGeom>
          <a:noFill/>
          <a:ln/>
        </p:spPr>
        <p:txBody>
          <a:bodyPr wrap="square" rtlCol="0" anchor="ctr"/>
          <a:lstStyle/>
          <a:p>
            <a:pPr indent="0" marL="0">
              <a:buNone/>
            </a:pPr>
            <a:r>
              <a:rPr lang="en-US" sz="1400" i="1" dirty="0">
                <a:solidFill>
                  <a:srgbClr val="1A1A1A"/>
                </a:solidFill>
                <a:latin typeface="Calibri" pitchFamily="34" charset="0"/>
                <a:ea typeface="Calibri" pitchFamily="34" charset="-122"/>
                <a:cs typeface="Calibri" pitchFamily="34" charset="-120"/>
              </a:rPr>
              <a:t>This is not a product category.</a:t>
            </a:r>
            <a:endParaRPr lang="en-US" sz="1400" dirty="0"/>
          </a:p>
        </p:txBody>
      </p:sp>
      <p:sp>
        <p:nvSpPr>
          <p:cNvPr id="14" name="Text 12"/>
          <p:cNvSpPr/>
          <p:nvPr/>
        </p:nvSpPr>
        <p:spPr>
          <a:xfrm>
            <a:off x="717159" y="6136105"/>
            <a:ext cx="6858000" cy="0"/>
          </a:xfrm>
          <a:prstGeom prst="rect">
            <a:avLst/>
          </a:prstGeom>
          <a:noFill/>
          <a:ln/>
        </p:spPr>
        <p:txBody>
          <a:bodyPr wrap="square" rtlCol="0" anchor="ctr"/>
          <a:lstStyle/>
          <a:p>
            <a:pPr indent="0" marL="0">
              <a:buNone/>
            </a:pPr>
            <a:r>
              <a:rPr lang="en-US" sz="1400" b="1" i="1" dirty="0">
                <a:solidFill>
                  <a:srgbClr val="D93025"/>
                </a:solidFill>
                <a:latin typeface="Calibri" pitchFamily="34" charset="0"/>
                <a:ea typeface="Calibri" pitchFamily="34" charset="-122"/>
                <a:cs typeface="Calibri" pitchFamily="34" charset="-120"/>
              </a:rPr>
              <a:t>It is the format the labor market has been missing.</a:t>
            </a:r>
            <a:endParaRPr lang="en-US" sz="1400" dirty="0"/>
          </a:p>
        </p:txBody>
      </p:sp>
      <p:sp>
        <p:nvSpPr>
          <p:cNvPr id="15" name="Text 13"/>
          <p:cNvSpPr/>
          <p:nvPr/>
        </p:nvSpPr>
        <p:spPr>
          <a:xfrm>
            <a:off x="717159" y="6533147"/>
            <a:ext cx="6858000" cy="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Lens</a:t>
            </a:r>
            <a:endParaRPr lang="en-US" sz="1000" dirty="0"/>
          </a:p>
        </p:txBody>
      </p:sp>
      <p:sp>
        <p:nvSpPr>
          <p:cNvPr id="16" name="Text 14"/>
          <p:cNvSpPr/>
          <p:nvPr/>
        </p:nvSpPr>
        <p:spPr>
          <a:xfrm>
            <a:off x="11017337" y="6533147"/>
            <a:ext cx="457200" cy="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09 / 18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17159" y="649705"/>
            <a:ext cx="717159" cy="36095"/>
          </a:xfrm>
          <a:prstGeom prst="rect">
            <a:avLst/>
          </a:prstGeom>
          <a:solidFill>
            <a:srgbClr val="D93025"/>
          </a:solidFill>
          <a:ln/>
        </p:spPr>
      </p:sp>
      <p:sp>
        <p:nvSpPr>
          <p:cNvPr id="3" name="Text 1"/>
          <p:cNvSpPr/>
          <p:nvPr/>
        </p:nvSpPr>
        <p:spPr>
          <a:xfrm>
            <a:off x="717159" y="757989"/>
            <a:ext cx="6858000" cy="0"/>
          </a:xfrm>
          <a:prstGeom prst="rect">
            <a:avLst/>
          </a:prstGeom>
          <a:noFill/>
          <a:ln/>
        </p:spPr>
        <p:txBody>
          <a:bodyPr wrap="square" rtlCol="0" anchor="ctr"/>
          <a:lstStyle/>
          <a:p>
            <a:pPr indent="0" marL="0">
              <a:buNone/>
            </a:pPr>
            <a:r>
              <a:rPr lang="en-US" sz="1100" b="1" spc="100" kern="0" dirty="0">
                <a:solidFill>
                  <a:srgbClr val="D93025"/>
                </a:solidFill>
                <a:latin typeface="Calibri" pitchFamily="34" charset="0"/>
                <a:ea typeface="Calibri" pitchFamily="34" charset="-122"/>
                <a:cs typeface="Calibri" pitchFamily="34" charset="-120"/>
              </a:rPr>
              <a:t>ACT III — SO</a:t>
            </a:r>
            <a:endParaRPr lang="en-US" sz="1100" dirty="0"/>
          </a:p>
        </p:txBody>
      </p:sp>
      <p:sp>
        <p:nvSpPr>
          <p:cNvPr id="4" name="Text 2"/>
          <p:cNvSpPr/>
          <p:nvPr/>
        </p:nvSpPr>
        <p:spPr>
          <a:xfrm>
            <a:off x="717159" y="1804737"/>
            <a:ext cx="10757378" cy="0"/>
          </a:xfrm>
          <a:prstGeom prst="rect">
            <a:avLst/>
          </a:prstGeom>
          <a:noFill/>
          <a:ln/>
        </p:spPr>
        <p:txBody>
          <a:bodyPr wrap="square"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PKI for professional identity.</a:t>
            </a:r>
            <a:endParaRPr lang="en-US" sz="2200" dirty="0"/>
          </a:p>
        </p:txBody>
      </p:sp>
      <p:sp>
        <p:nvSpPr>
          <p:cNvPr id="5" name="Text 3"/>
          <p:cNvSpPr/>
          <p:nvPr/>
        </p:nvSpPr>
        <p:spPr>
          <a:xfrm>
            <a:off x="717159" y="2346158"/>
            <a:ext cx="10757378" cy="0"/>
          </a:xfrm>
          <a:prstGeom prst="rect">
            <a:avLst/>
          </a:prstGeom>
          <a:noFill/>
          <a:ln/>
        </p:spPr>
        <p:txBody>
          <a:bodyPr wrap="square" rtlCol="0" anchor="ctr"/>
          <a:lstStyle/>
          <a:p>
            <a:pPr indent="0" marL="0">
              <a:buNone/>
            </a:pPr>
            <a:r>
              <a:rPr lang="en-US" sz="1400" dirty="0">
                <a:solidFill>
                  <a:srgbClr val="444444"/>
                </a:solidFill>
                <a:latin typeface="Calibri" pitchFamily="34" charset="0"/>
                <a:ea typeface="Calibri" pitchFamily="34" charset="-122"/>
                <a:cs typeface="Calibri" pitchFamily="34" charset="-120"/>
              </a:rPr>
              <a:t>The person owns the primary copy. Others sign — they don't own.</a:t>
            </a:r>
            <a:endParaRPr lang="en-US" sz="1400" dirty="0"/>
          </a:p>
        </p:txBody>
      </p:sp>
      <p:sp>
        <p:nvSpPr>
          <p:cNvPr id="6" name="Shape 4"/>
          <p:cNvSpPr/>
          <p:nvPr/>
        </p:nvSpPr>
        <p:spPr>
          <a:xfrm>
            <a:off x="717159" y="3429000"/>
            <a:ext cx="3227213" cy="721895"/>
          </a:xfrm>
          <a:prstGeom prst="rect">
            <a:avLst/>
          </a:prstGeom>
          <a:solidFill>
            <a:srgbClr val="F5F5F5"/>
          </a:solidFill>
          <a:ln w="6350">
            <a:solidFill>
              <a:srgbClr val="1A1A1A"/>
            </a:solidFill>
            <a:prstDash val="solid"/>
          </a:ln>
        </p:spPr>
      </p:sp>
      <p:sp>
        <p:nvSpPr>
          <p:cNvPr id="7" name="Text 5"/>
          <p:cNvSpPr/>
          <p:nvPr/>
        </p:nvSpPr>
        <p:spPr>
          <a:xfrm>
            <a:off x="717159" y="3474720"/>
            <a:ext cx="3227213" cy="360947"/>
          </a:xfrm>
          <a:prstGeom prst="rect">
            <a:avLst/>
          </a:prstGeom>
          <a:noFill/>
          <a:ln/>
        </p:spPr>
        <p:txBody>
          <a:bodyPr wrap="square" rtlCol="0" anchor="b"/>
          <a:lstStyle/>
          <a:p>
            <a:pPr algn="ctr" indent="0" marL="0">
              <a:buNone/>
            </a:pPr>
            <a:r>
              <a:rPr lang="en-US" sz="1400" b="1" dirty="0">
                <a:solidFill>
                  <a:srgbClr val="1A1A1A"/>
                </a:solidFill>
                <a:latin typeface="Calibri" pitchFamily="34" charset="0"/>
                <a:ea typeface="Calibri" pitchFamily="34" charset="-122"/>
                <a:cs typeface="Calibri" pitchFamily="34" charset="-120"/>
              </a:rPr>
              <a:t>Recruiter</a:t>
            </a:r>
            <a:endParaRPr lang="en-US" sz="1400" dirty="0"/>
          </a:p>
        </p:txBody>
      </p:sp>
      <p:sp>
        <p:nvSpPr>
          <p:cNvPr id="8" name="Text 6"/>
          <p:cNvSpPr/>
          <p:nvPr/>
        </p:nvSpPr>
        <p:spPr>
          <a:xfrm>
            <a:off x="717159" y="3789947"/>
            <a:ext cx="3227213" cy="360947"/>
          </a:xfrm>
          <a:prstGeom prst="rect">
            <a:avLst/>
          </a:prstGeom>
          <a:noFill/>
          <a:ln/>
        </p:spPr>
        <p:txBody>
          <a:bodyPr wrap="square" rtlCol="0" anchor="t"/>
          <a:lstStyle/>
          <a:p>
            <a:pPr algn="ctr" indent="0" marL="0">
              <a:buNone/>
            </a:pPr>
            <a:r>
              <a:rPr lang="en-US" sz="1100" dirty="0">
                <a:solidFill>
                  <a:srgbClr val="777777"/>
                </a:solidFill>
                <a:latin typeface="Calibri" pitchFamily="34" charset="0"/>
                <a:ea typeface="Calibri" pitchFamily="34" charset="-122"/>
                <a:cs typeface="Calibri" pitchFamily="34" charset="-120"/>
              </a:rPr>
              <a:t>Signs fit</a:t>
            </a:r>
            <a:endParaRPr lang="en-US" sz="1100" dirty="0"/>
          </a:p>
        </p:txBody>
      </p:sp>
      <p:sp>
        <p:nvSpPr>
          <p:cNvPr id="9" name="Shape 7"/>
          <p:cNvSpPr/>
          <p:nvPr/>
        </p:nvSpPr>
        <p:spPr>
          <a:xfrm>
            <a:off x="8247323" y="3429000"/>
            <a:ext cx="3227213" cy="721895"/>
          </a:xfrm>
          <a:prstGeom prst="rect">
            <a:avLst/>
          </a:prstGeom>
          <a:solidFill>
            <a:srgbClr val="F5F5F5"/>
          </a:solidFill>
          <a:ln w="6350">
            <a:solidFill>
              <a:srgbClr val="1A1A1A"/>
            </a:solidFill>
            <a:prstDash val="solid"/>
          </a:ln>
        </p:spPr>
      </p:sp>
      <p:sp>
        <p:nvSpPr>
          <p:cNvPr id="10" name="Text 8"/>
          <p:cNvSpPr/>
          <p:nvPr/>
        </p:nvSpPr>
        <p:spPr>
          <a:xfrm>
            <a:off x="8247323" y="3474720"/>
            <a:ext cx="3227213" cy="360947"/>
          </a:xfrm>
          <a:prstGeom prst="rect">
            <a:avLst/>
          </a:prstGeom>
          <a:noFill/>
          <a:ln/>
        </p:spPr>
        <p:txBody>
          <a:bodyPr wrap="square" rtlCol="0" anchor="b"/>
          <a:lstStyle/>
          <a:p>
            <a:pPr algn="ctr" indent="0" marL="0">
              <a:buNone/>
            </a:pPr>
            <a:r>
              <a:rPr lang="en-US" sz="1400" b="1" dirty="0">
                <a:solidFill>
                  <a:srgbClr val="1A1A1A"/>
                </a:solidFill>
                <a:latin typeface="Calibri" pitchFamily="34" charset="0"/>
                <a:ea typeface="Calibri" pitchFamily="34" charset="-122"/>
                <a:cs typeface="Calibri" pitchFamily="34" charset="-120"/>
              </a:rPr>
              <a:t>Employer</a:t>
            </a:r>
            <a:endParaRPr lang="en-US" sz="1400" dirty="0"/>
          </a:p>
        </p:txBody>
      </p:sp>
      <p:sp>
        <p:nvSpPr>
          <p:cNvPr id="11" name="Text 9"/>
          <p:cNvSpPr/>
          <p:nvPr/>
        </p:nvSpPr>
        <p:spPr>
          <a:xfrm>
            <a:off x="8247323" y="3789947"/>
            <a:ext cx="3227213" cy="360947"/>
          </a:xfrm>
          <a:prstGeom prst="rect">
            <a:avLst/>
          </a:prstGeom>
          <a:noFill/>
          <a:ln/>
        </p:spPr>
        <p:txBody>
          <a:bodyPr wrap="square" rtlCol="0" anchor="t"/>
          <a:lstStyle/>
          <a:p>
            <a:pPr algn="ctr" indent="0" marL="0">
              <a:buNone/>
            </a:pPr>
            <a:r>
              <a:rPr lang="en-US" sz="1100" dirty="0">
                <a:solidFill>
                  <a:srgbClr val="777777"/>
                </a:solidFill>
                <a:latin typeface="Calibri" pitchFamily="34" charset="0"/>
                <a:ea typeface="Calibri" pitchFamily="34" charset="-122"/>
                <a:cs typeface="Calibri" pitchFamily="34" charset="-120"/>
              </a:rPr>
              <a:t>Signs performance</a:t>
            </a:r>
            <a:endParaRPr lang="en-US" sz="1100" dirty="0"/>
          </a:p>
        </p:txBody>
      </p:sp>
      <p:sp>
        <p:nvSpPr>
          <p:cNvPr id="12" name="Shape 10"/>
          <p:cNvSpPr/>
          <p:nvPr/>
        </p:nvSpPr>
        <p:spPr>
          <a:xfrm>
            <a:off x="717159" y="5414211"/>
            <a:ext cx="3227213" cy="721895"/>
          </a:xfrm>
          <a:prstGeom prst="rect">
            <a:avLst/>
          </a:prstGeom>
          <a:solidFill>
            <a:srgbClr val="F5F5F5"/>
          </a:solidFill>
          <a:ln w="6350">
            <a:solidFill>
              <a:srgbClr val="1A1A1A"/>
            </a:solidFill>
            <a:prstDash val="solid"/>
          </a:ln>
        </p:spPr>
      </p:sp>
      <p:sp>
        <p:nvSpPr>
          <p:cNvPr id="13" name="Text 11"/>
          <p:cNvSpPr/>
          <p:nvPr/>
        </p:nvSpPr>
        <p:spPr>
          <a:xfrm>
            <a:off x="717159" y="5459931"/>
            <a:ext cx="3227213" cy="360947"/>
          </a:xfrm>
          <a:prstGeom prst="rect">
            <a:avLst/>
          </a:prstGeom>
          <a:noFill/>
          <a:ln/>
        </p:spPr>
        <p:txBody>
          <a:bodyPr wrap="square" rtlCol="0" anchor="b"/>
          <a:lstStyle/>
          <a:p>
            <a:pPr algn="ctr" indent="0" marL="0">
              <a:buNone/>
            </a:pPr>
            <a:r>
              <a:rPr lang="en-US" sz="1400" b="1" dirty="0">
                <a:solidFill>
                  <a:srgbClr val="1A1A1A"/>
                </a:solidFill>
                <a:latin typeface="Calibri" pitchFamily="34" charset="0"/>
                <a:ea typeface="Calibri" pitchFamily="34" charset="-122"/>
                <a:cs typeface="Calibri" pitchFamily="34" charset="-120"/>
              </a:rPr>
              <a:t>Coach</a:t>
            </a:r>
            <a:endParaRPr lang="en-US" sz="1400" dirty="0"/>
          </a:p>
        </p:txBody>
      </p:sp>
      <p:sp>
        <p:nvSpPr>
          <p:cNvPr id="14" name="Text 12"/>
          <p:cNvSpPr/>
          <p:nvPr/>
        </p:nvSpPr>
        <p:spPr>
          <a:xfrm>
            <a:off x="717159" y="5775158"/>
            <a:ext cx="3227213" cy="360947"/>
          </a:xfrm>
          <a:prstGeom prst="rect">
            <a:avLst/>
          </a:prstGeom>
          <a:noFill/>
          <a:ln/>
        </p:spPr>
        <p:txBody>
          <a:bodyPr wrap="square" rtlCol="0" anchor="t"/>
          <a:lstStyle/>
          <a:p>
            <a:pPr algn="ctr" indent="0" marL="0">
              <a:buNone/>
            </a:pPr>
            <a:r>
              <a:rPr lang="en-US" sz="1100" dirty="0">
                <a:solidFill>
                  <a:srgbClr val="777777"/>
                </a:solidFill>
                <a:latin typeface="Calibri" pitchFamily="34" charset="0"/>
                <a:ea typeface="Calibri" pitchFamily="34" charset="-122"/>
                <a:cs typeface="Calibri" pitchFamily="34" charset="-120"/>
              </a:rPr>
              <a:t>Signs development</a:t>
            </a:r>
            <a:endParaRPr lang="en-US" sz="1100" dirty="0"/>
          </a:p>
        </p:txBody>
      </p:sp>
      <p:sp>
        <p:nvSpPr>
          <p:cNvPr id="15" name="Shape 13"/>
          <p:cNvSpPr/>
          <p:nvPr/>
        </p:nvSpPr>
        <p:spPr>
          <a:xfrm>
            <a:off x="8247323" y="5414211"/>
            <a:ext cx="3227213" cy="721895"/>
          </a:xfrm>
          <a:prstGeom prst="rect">
            <a:avLst/>
          </a:prstGeom>
          <a:solidFill>
            <a:srgbClr val="F5F5F5"/>
          </a:solidFill>
          <a:ln w="6350">
            <a:solidFill>
              <a:srgbClr val="1A1A1A"/>
            </a:solidFill>
            <a:prstDash val="solid"/>
          </a:ln>
        </p:spPr>
      </p:sp>
      <p:sp>
        <p:nvSpPr>
          <p:cNvPr id="16" name="Text 14"/>
          <p:cNvSpPr/>
          <p:nvPr/>
        </p:nvSpPr>
        <p:spPr>
          <a:xfrm>
            <a:off x="8247323" y="5459931"/>
            <a:ext cx="3227213" cy="360947"/>
          </a:xfrm>
          <a:prstGeom prst="rect">
            <a:avLst/>
          </a:prstGeom>
          <a:noFill/>
          <a:ln/>
        </p:spPr>
        <p:txBody>
          <a:bodyPr wrap="square" rtlCol="0" anchor="b"/>
          <a:lstStyle/>
          <a:p>
            <a:pPr algn="ctr" indent="0" marL="0">
              <a:buNone/>
            </a:pPr>
            <a:r>
              <a:rPr lang="en-US" sz="1400" b="1" dirty="0">
                <a:solidFill>
                  <a:srgbClr val="1A1A1A"/>
                </a:solidFill>
                <a:latin typeface="Calibri" pitchFamily="34" charset="0"/>
                <a:ea typeface="Calibri" pitchFamily="34" charset="-122"/>
                <a:cs typeface="Calibri" pitchFamily="34" charset="-120"/>
              </a:rPr>
              <a:t>Internal mobility</a:t>
            </a:r>
            <a:endParaRPr lang="en-US" sz="1400" dirty="0"/>
          </a:p>
        </p:txBody>
      </p:sp>
      <p:sp>
        <p:nvSpPr>
          <p:cNvPr id="17" name="Text 15"/>
          <p:cNvSpPr/>
          <p:nvPr/>
        </p:nvSpPr>
        <p:spPr>
          <a:xfrm>
            <a:off x="8247323" y="5775158"/>
            <a:ext cx="3227213" cy="360947"/>
          </a:xfrm>
          <a:prstGeom prst="rect">
            <a:avLst/>
          </a:prstGeom>
          <a:noFill/>
          <a:ln/>
        </p:spPr>
        <p:txBody>
          <a:bodyPr wrap="square" rtlCol="0" anchor="t"/>
          <a:lstStyle/>
          <a:p>
            <a:pPr algn="ctr" indent="0" marL="0">
              <a:buNone/>
            </a:pPr>
            <a:r>
              <a:rPr lang="en-US" sz="1100" dirty="0">
                <a:solidFill>
                  <a:srgbClr val="777777"/>
                </a:solidFill>
                <a:latin typeface="Calibri" pitchFamily="34" charset="0"/>
                <a:ea typeface="Calibri" pitchFamily="34" charset="-122"/>
                <a:cs typeface="Calibri" pitchFamily="34" charset="-120"/>
              </a:rPr>
              <a:t>Signs role match</a:t>
            </a:r>
            <a:endParaRPr lang="en-US" sz="1100" dirty="0"/>
          </a:p>
        </p:txBody>
      </p:sp>
      <p:sp>
        <p:nvSpPr>
          <p:cNvPr id="18" name="Shape 16"/>
          <p:cNvSpPr/>
          <p:nvPr/>
        </p:nvSpPr>
        <p:spPr>
          <a:xfrm>
            <a:off x="4482241" y="4331368"/>
            <a:ext cx="3227213" cy="902368"/>
          </a:xfrm>
          <a:prstGeom prst="rect">
            <a:avLst/>
          </a:prstGeom>
          <a:solidFill>
            <a:srgbClr val="FFFFFF"/>
          </a:solidFill>
          <a:ln w="6350">
            <a:solidFill>
              <a:srgbClr val="1A1A1A"/>
            </a:solidFill>
            <a:prstDash val="solid"/>
          </a:ln>
        </p:spPr>
      </p:sp>
      <p:sp>
        <p:nvSpPr>
          <p:cNvPr id="19" name="Shape 17"/>
          <p:cNvSpPr/>
          <p:nvPr/>
        </p:nvSpPr>
        <p:spPr>
          <a:xfrm>
            <a:off x="4482241" y="4331368"/>
            <a:ext cx="3227213" cy="54142"/>
          </a:xfrm>
          <a:prstGeom prst="rect">
            <a:avLst/>
          </a:prstGeom>
          <a:solidFill>
            <a:srgbClr val="D93025"/>
          </a:solidFill>
          <a:ln/>
        </p:spPr>
      </p:sp>
      <p:sp>
        <p:nvSpPr>
          <p:cNvPr id="20" name="Text 18"/>
          <p:cNvSpPr/>
          <p:nvPr/>
        </p:nvSpPr>
        <p:spPr>
          <a:xfrm>
            <a:off x="4482241" y="4547937"/>
            <a:ext cx="3227213" cy="0"/>
          </a:xfrm>
          <a:prstGeom prst="rect">
            <a:avLst/>
          </a:prstGeom>
          <a:noFill/>
          <a:ln/>
        </p:spPr>
        <p:txBody>
          <a:bodyPr wrap="square"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The person</a:t>
            </a:r>
            <a:endParaRPr lang="en-US" sz="1400" dirty="0"/>
          </a:p>
        </p:txBody>
      </p:sp>
      <p:sp>
        <p:nvSpPr>
          <p:cNvPr id="21" name="Text 19"/>
          <p:cNvSpPr/>
          <p:nvPr/>
        </p:nvSpPr>
        <p:spPr>
          <a:xfrm>
            <a:off x="4482241" y="4872789"/>
            <a:ext cx="3227213" cy="0"/>
          </a:xfrm>
          <a:prstGeom prst="rect">
            <a:avLst/>
          </a:prstGeom>
          <a:noFill/>
          <a:ln/>
        </p:spPr>
        <p:txBody>
          <a:bodyPr wrap="square" rtlCol="0" anchor="ctr"/>
          <a:lstStyle/>
          <a:p>
            <a:pPr algn="ctr" indent="0" marL="0">
              <a:buNone/>
            </a:pPr>
            <a:r>
              <a:rPr lang="en-US" sz="1100" dirty="0">
                <a:solidFill>
                  <a:srgbClr val="777777"/>
                </a:solidFill>
                <a:latin typeface="Calibri" pitchFamily="34" charset="0"/>
                <a:ea typeface="Calibri" pitchFamily="34" charset="-122"/>
                <a:cs typeface="Calibri" pitchFamily="34" charset="-120"/>
              </a:rPr>
              <a:t>holds the primary copy</a:t>
            </a:r>
            <a:endParaRPr lang="en-US" sz="1100" dirty="0"/>
          </a:p>
        </p:txBody>
      </p:sp>
      <p:sp>
        <p:nvSpPr>
          <p:cNvPr id="22" name="Shape 20"/>
          <p:cNvSpPr/>
          <p:nvPr/>
        </p:nvSpPr>
        <p:spPr>
          <a:xfrm>
            <a:off x="3944372" y="3880184"/>
            <a:ext cx="573727" cy="595563"/>
          </a:xfrm>
          <a:prstGeom prst="line">
            <a:avLst/>
          </a:prstGeom>
          <a:noFill/>
          <a:ln w="9525">
            <a:solidFill>
              <a:srgbClr val="1A1A1A"/>
            </a:solidFill>
            <a:prstDash val="solid"/>
            <a:headEnd type="arrow"/>
            <a:tailEnd type="arrow"/>
          </a:ln>
        </p:spPr>
      </p:sp>
      <p:sp>
        <p:nvSpPr>
          <p:cNvPr id="23" name="Shape 21"/>
          <p:cNvSpPr/>
          <p:nvPr/>
        </p:nvSpPr>
        <p:spPr>
          <a:xfrm>
            <a:off x="8247323" y="3880184"/>
            <a:ext cx="-573727" cy="595563"/>
          </a:xfrm>
          <a:prstGeom prst="line">
            <a:avLst/>
          </a:prstGeom>
          <a:noFill/>
          <a:ln w="9525">
            <a:solidFill>
              <a:srgbClr val="1A1A1A"/>
            </a:solidFill>
            <a:prstDash val="solid"/>
            <a:headEnd type="arrow"/>
            <a:tailEnd type="arrow"/>
          </a:ln>
        </p:spPr>
      </p:sp>
      <p:sp>
        <p:nvSpPr>
          <p:cNvPr id="24" name="Shape 22"/>
          <p:cNvSpPr/>
          <p:nvPr/>
        </p:nvSpPr>
        <p:spPr>
          <a:xfrm>
            <a:off x="3944372" y="5775158"/>
            <a:ext cx="573727" cy="-595563"/>
          </a:xfrm>
          <a:prstGeom prst="line">
            <a:avLst/>
          </a:prstGeom>
          <a:noFill/>
          <a:ln w="9525">
            <a:solidFill>
              <a:srgbClr val="1A1A1A"/>
            </a:solidFill>
            <a:prstDash val="solid"/>
            <a:headEnd type="arrow"/>
            <a:tailEnd type="arrow"/>
          </a:ln>
        </p:spPr>
      </p:sp>
      <p:sp>
        <p:nvSpPr>
          <p:cNvPr id="25" name="Shape 23"/>
          <p:cNvSpPr/>
          <p:nvPr/>
        </p:nvSpPr>
        <p:spPr>
          <a:xfrm>
            <a:off x="8247323" y="5775158"/>
            <a:ext cx="-573727" cy="-595563"/>
          </a:xfrm>
          <a:prstGeom prst="line">
            <a:avLst/>
          </a:prstGeom>
          <a:noFill/>
          <a:ln w="9525">
            <a:solidFill>
              <a:srgbClr val="1A1A1A"/>
            </a:solidFill>
            <a:prstDash val="solid"/>
            <a:headEnd type="arrow"/>
            <a:tailEnd type="arrow"/>
          </a:ln>
        </p:spPr>
      </p:sp>
      <p:sp>
        <p:nvSpPr>
          <p:cNvPr id="26" name="Text 24"/>
          <p:cNvSpPr/>
          <p:nvPr/>
        </p:nvSpPr>
        <p:spPr>
          <a:xfrm>
            <a:off x="717159" y="6533147"/>
            <a:ext cx="6858000" cy="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Lens</a:t>
            </a:r>
            <a:endParaRPr lang="en-US" sz="1000" dirty="0"/>
          </a:p>
        </p:txBody>
      </p:sp>
      <p:sp>
        <p:nvSpPr>
          <p:cNvPr id="27" name="Text 25"/>
          <p:cNvSpPr/>
          <p:nvPr/>
        </p:nvSpPr>
        <p:spPr>
          <a:xfrm>
            <a:off x="11017337" y="6533147"/>
            <a:ext cx="457200" cy="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10 / 18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17159" y="649705"/>
            <a:ext cx="717159" cy="36095"/>
          </a:xfrm>
          <a:prstGeom prst="rect">
            <a:avLst/>
          </a:prstGeom>
          <a:solidFill>
            <a:srgbClr val="D93025"/>
          </a:solidFill>
          <a:ln/>
        </p:spPr>
      </p:sp>
      <p:sp>
        <p:nvSpPr>
          <p:cNvPr id="3" name="Text 1"/>
          <p:cNvSpPr/>
          <p:nvPr/>
        </p:nvSpPr>
        <p:spPr>
          <a:xfrm>
            <a:off x="717159" y="757989"/>
            <a:ext cx="6858000" cy="0"/>
          </a:xfrm>
          <a:prstGeom prst="rect">
            <a:avLst/>
          </a:prstGeom>
          <a:noFill/>
          <a:ln/>
        </p:spPr>
        <p:txBody>
          <a:bodyPr wrap="square" rtlCol="0" anchor="ctr"/>
          <a:lstStyle/>
          <a:p>
            <a:pPr indent="0" marL="0">
              <a:buNone/>
            </a:pPr>
            <a:r>
              <a:rPr lang="en-US" sz="1100" b="1" spc="100" kern="0" dirty="0">
                <a:solidFill>
                  <a:srgbClr val="D93025"/>
                </a:solidFill>
                <a:latin typeface="Calibri" pitchFamily="34" charset="0"/>
                <a:ea typeface="Calibri" pitchFamily="34" charset="-122"/>
                <a:cs typeface="Calibri" pitchFamily="34" charset="-120"/>
              </a:rPr>
              <a:t>ACT III — SO</a:t>
            </a:r>
            <a:endParaRPr lang="en-US" sz="1100" dirty="0"/>
          </a:p>
        </p:txBody>
      </p:sp>
      <p:sp>
        <p:nvSpPr>
          <p:cNvPr id="4" name="Text 2"/>
          <p:cNvSpPr/>
          <p:nvPr/>
        </p:nvSpPr>
        <p:spPr>
          <a:xfrm>
            <a:off x="717159" y="1804737"/>
            <a:ext cx="10757378" cy="0"/>
          </a:xfrm>
          <a:prstGeom prst="rect">
            <a:avLst/>
          </a:prstGeom>
          <a:noFill/>
          <a:ln/>
        </p:spPr>
        <p:txBody>
          <a:bodyPr wrap="square"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What's built today.</a:t>
            </a:r>
            <a:endParaRPr lang="en-US" sz="2200" dirty="0"/>
          </a:p>
        </p:txBody>
      </p:sp>
      <p:sp>
        <p:nvSpPr>
          <p:cNvPr id="5" name="Text 3"/>
          <p:cNvSpPr/>
          <p:nvPr/>
        </p:nvSpPr>
        <p:spPr>
          <a:xfrm>
            <a:off x="717159" y="2346158"/>
            <a:ext cx="10757378" cy="0"/>
          </a:xfrm>
          <a:prstGeom prst="rect">
            <a:avLst/>
          </a:prstGeom>
          <a:noFill/>
          <a:ln/>
        </p:spPr>
        <p:txBody>
          <a:bodyPr wrap="square" rtlCol="0" anchor="ctr"/>
          <a:lstStyle/>
          <a:p>
            <a:pPr indent="0" marL="0">
              <a:buNone/>
            </a:pPr>
            <a:r>
              <a:rPr lang="en-US" sz="1400" dirty="0">
                <a:solidFill>
                  <a:srgbClr val="444444"/>
                </a:solidFill>
                <a:latin typeface="Calibri" pitchFamily="34" charset="0"/>
                <a:ea typeface="Calibri" pitchFamily="34" charset="-122"/>
                <a:cs typeface="Calibri" pitchFamily="34" charset="-120"/>
              </a:rPr>
              <a:t>Working bidirectional system. Patent filed. Research question in flight.</a:t>
            </a:r>
            <a:endParaRPr lang="en-US" sz="1400" dirty="0"/>
          </a:p>
        </p:txBody>
      </p:sp>
      <p:sp>
        <p:nvSpPr>
          <p:cNvPr id="6" name="Shape 4"/>
          <p:cNvSpPr/>
          <p:nvPr/>
        </p:nvSpPr>
        <p:spPr>
          <a:xfrm>
            <a:off x="717159" y="3204009"/>
            <a:ext cx="109728" cy="109728"/>
          </a:xfrm>
          <a:prstGeom prst="ellipse">
            <a:avLst/>
          </a:prstGeom>
          <a:solidFill>
            <a:srgbClr val="D93025"/>
          </a:solidFill>
          <a:ln/>
        </p:spPr>
      </p:sp>
      <p:sp>
        <p:nvSpPr>
          <p:cNvPr id="7" name="Text 5"/>
          <p:cNvSpPr/>
          <p:nvPr/>
        </p:nvSpPr>
        <p:spPr>
          <a:xfrm>
            <a:off x="945759" y="3158289"/>
            <a:ext cx="2286000" cy="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Bidirectional Lens system</a:t>
            </a:r>
            <a:endParaRPr lang="en-US" sz="1400" dirty="0"/>
          </a:p>
        </p:txBody>
      </p:sp>
      <p:sp>
        <p:nvSpPr>
          <p:cNvPr id="8" name="Text 6"/>
          <p:cNvSpPr/>
          <p:nvPr/>
        </p:nvSpPr>
        <p:spPr>
          <a:xfrm>
            <a:off x="3277479" y="3158289"/>
            <a:ext cx="731520" cy="0"/>
          </a:xfrm>
          <a:prstGeom prst="rect">
            <a:avLst/>
          </a:prstGeom>
          <a:noFill/>
          <a:ln/>
        </p:spPr>
        <p:txBody>
          <a:bodyPr wrap="square" rtlCol="0" anchor="ctr"/>
          <a:lstStyle/>
          <a:p>
            <a:pPr indent="0" marL="0">
              <a:buNone/>
            </a:pPr>
            <a:r>
              <a:rPr lang="en-US" sz="1200" b="1" dirty="0">
                <a:solidFill>
                  <a:srgbClr val="D93025"/>
                </a:solidFill>
                <a:latin typeface="Calibri" pitchFamily="34" charset="0"/>
                <a:ea typeface="Calibri" pitchFamily="34" charset="-122"/>
                <a:cs typeface="Calibri" pitchFamily="34" charset="-120"/>
              </a:rPr>
              <a:t>Deployed</a:t>
            </a:r>
            <a:endParaRPr lang="en-US" sz="1200" dirty="0"/>
          </a:p>
        </p:txBody>
      </p:sp>
      <p:sp>
        <p:nvSpPr>
          <p:cNvPr id="9" name="Text 7"/>
          <p:cNvSpPr/>
          <p:nvPr/>
        </p:nvSpPr>
        <p:spPr>
          <a:xfrm>
            <a:off x="4100439" y="3158289"/>
            <a:ext cx="5943600" cy="0"/>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Coached intake, candidate lens, role lens, scoring engine</a:t>
            </a:r>
            <a:endParaRPr lang="en-US" sz="1100" dirty="0"/>
          </a:p>
        </p:txBody>
      </p:sp>
      <p:sp>
        <p:nvSpPr>
          <p:cNvPr id="10" name="Shape 8"/>
          <p:cNvSpPr/>
          <p:nvPr/>
        </p:nvSpPr>
        <p:spPr>
          <a:xfrm>
            <a:off x="717159" y="3925904"/>
            <a:ext cx="109728" cy="109728"/>
          </a:xfrm>
          <a:prstGeom prst="ellipse">
            <a:avLst/>
          </a:prstGeom>
          <a:solidFill>
            <a:srgbClr val="D93025"/>
          </a:solidFill>
          <a:ln/>
        </p:spPr>
      </p:sp>
      <p:sp>
        <p:nvSpPr>
          <p:cNvPr id="11" name="Text 9"/>
          <p:cNvSpPr/>
          <p:nvPr/>
        </p:nvSpPr>
        <p:spPr>
          <a:xfrm>
            <a:off x="945759" y="3880184"/>
            <a:ext cx="2286000" cy="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Provisional patent</a:t>
            </a:r>
            <a:endParaRPr lang="en-US" sz="1400" dirty="0"/>
          </a:p>
        </p:txBody>
      </p:sp>
      <p:sp>
        <p:nvSpPr>
          <p:cNvPr id="12" name="Text 10"/>
          <p:cNvSpPr/>
          <p:nvPr/>
        </p:nvSpPr>
        <p:spPr>
          <a:xfrm>
            <a:off x="3277479" y="3880184"/>
            <a:ext cx="731520" cy="0"/>
          </a:xfrm>
          <a:prstGeom prst="rect">
            <a:avLst/>
          </a:prstGeom>
          <a:noFill/>
          <a:ln/>
        </p:spPr>
        <p:txBody>
          <a:bodyPr wrap="square" rtlCol="0" anchor="ctr"/>
          <a:lstStyle/>
          <a:p>
            <a:pPr indent="0" marL="0">
              <a:buNone/>
            </a:pPr>
            <a:r>
              <a:rPr lang="en-US" sz="1200" b="1" dirty="0">
                <a:solidFill>
                  <a:srgbClr val="D93025"/>
                </a:solidFill>
                <a:latin typeface="Calibri" pitchFamily="34" charset="0"/>
                <a:ea typeface="Calibri" pitchFamily="34" charset="-122"/>
                <a:cs typeface="Calibri" pitchFamily="34" charset="-120"/>
              </a:rPr>
              <a:t>Filed</a:t>
            </a:r>
            <a:endParaRPr lang="en-US" sz="1200" dirty="0"/>
          </a:p>
        </p:txBody>
      </p:sp>
      <p:sp>
        <p:nvSpPr>
          <p:cNvPr id="13" name="Text 11"/>
          <p:cNvSpPr/>
          <p:nvPr/>
        </p:nvSpPr>
        <p:spPr>
          <a:xfrm>
            <a:off x="4100439" y="3880184"/>
            <a:ext cx="5943600" cy="0"/>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Application #64/015,187. Ten claims, three independent. Conversion deadline: March 24, 2027.</a:t>
            </a:r>
            <a:endParaRPr lang="en-US" sz="1100" dirty="0"/>
          </a:p>
        </p:txBody>
      </p:sp>
      <p:sp>
        <p:nvSpPr>
          <p:cNvPr id="14" name="Shape 12"/>
          <p:cNvSpPr/>
          <p:nvPr/>
        </p:nvSpPr>
        <p:spPr>
          <a:xfrm>
            <a:off x="717159" y="4647799"/>
            <a:ext cx="109728" cy="109728"/>
          </a:xfrm>
          <a:prstGeom prst="ellipse">
            <a:avLst/>
          </a:prstGeom>
          <a:solidFill>
            <a:srgbClr val="777777"/>
          </a:solidFill>
          <a:ln/>
        </p:spPr>
      </p:sp>
      <p:sp>
        <p:nvSpPr>
          <p:cNvPr id="15" name="Text 13"/>
          <p:cNvSpPr/>
          <p:nvPr/>
        </p:nvSpPr>
        <p:spPr>
          <a:xfrm>
            <a:off x="945759" y="4602079"/>
            <a:ext cx="2286000" cy="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NSF SBIR Project Pitch</a:t>
            </a:r>
            <a:endParaRPr lang="en-US" sz="1400" dirty="0"/>
          </a:p>
        </p:txBody>
      </p:sp>
      <p:sp>
        <p:nvSpPr>
          <p:cNvPr id="16" name="Text 14"/>
          <p:cNvSpPr/>
          <p:nvPr/>
        </p:nvSpPr>
        <p:spPr>
          <a:xfrm>
            <a:off x="3277479" y="4602079"/>
            <a:ext cx="731520" cy="0"/>
          </a:xfrm>
          <a:prstGeom prst="rect">
            <a:avLst/>
          </a:prstGeom>
          <a:noFill/>
          <a:ln/>
        </p:spPr>
        <p:txBody>
          <a:bodyPr wrap="square" rtlCol="0" anchor="ctr"/>
          <a:lstStyle/>
          <a:p>
            <a:pPr indent="0" marL="0">
              <a:buNone/>
            </a:pPr>
            <a:r>
              <a:rPr lang="en-US" sz="1200" b="1" dirty="0">
                <a:solidFill>
                  <a:srgbClr val="777777"/>
                </a:solidFill>
                <a:latin typeface="Calibri" pitchFamily="34" charset="0"/>
                <a:ea typeface="Calibri" pitchFamily="34" charset="-122"/>
                <a:cs typeface="Calibri" pitchFamily="34" charset="-120"/>
              </a:rPr>
              <a:t>In flight</a:t>
            </a:r>
            <a:endParaRPr lang="en-US" sz="1200" dirty="0"/>
          </a:p>
        </p:txBody>
      </p:sp>
      <p:sp>
        <p:nvSpPr>
          <p:cNvPr id="17" name="Text 15"/>
          <p:cNvSpPr/>
          <p:nvPr/>
        </p:nvSpPr>
        <p:spPr>
          <a:xfrm>
            <a:off x="4100439" y="4602079"/>
            <a:ext cx="5943600" cy="0"/>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Research question: does AI-facilitated structured identity discovery produce representations with higher predictive validity?</a:t>
            </a:r>
            <a:endParaRPr lang="en-US" sz="1100" dirty="0"/>
          </a:p>
        </p:txBody>
      </p:sp>
      <p:sp>
        <p:nvSpPr>
          <p:cNvPr id="18" name="Shape 16"/>
          <p:cNvSpPr/>
          <p:nvPr/>
        </p:nvSpPr>
        <p:spPr>
          <a:xfrm>
            <a:off x="717159" y="5369694"/>
            <a:ext cx="109728" cy="109728"/>
          </a:xfrm>
          <a:prstGeom prst="ellipse">
            <a:avLst/>
          </a:prstGeom>
          <a:solidFill>
            <a:srgbClr val="D93025"/>
          </a:solidFill>
          <a:ln/>
        </p:spPr>
      </p:sp>
      <p:sp>
        <p:nvSpPr>
          <p:cNvPr id="19" name="Text 17"/>
          <p:cNvSpPr/>
          <p:nvPr/>
        </p:nvSpPr>
        <p:spPr>
          <a:xfrm>
            <a:off x="945759" y="5323974"/>
            <a:ext cx="2286000" cy="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Zelman Labs LLC</a:t>
            </a:r>
            <a:endParaRPr lang="en-US" sz="1400" dirty="0"/>
          </a:p>
        </p:txBody>
      </p:sp>
      <p:sp>
        <p:nvSpPr>
          <p:cNvPr id="20" name="Text 18"/>
          <p:cNvSpPr/>
          <p:nvPr/>
        </p:nvSpPr>
        <p:spPr>
          <a:xfrm>
            <a:off x="3277479" y="5323974"/>
            <a:ext cx="731520" cy="0"/>
          </a:xfrm>
          <a:prstGeom prst="rect">
            <a:avLst/>
          </a:prstGeom>
          <a:noFill/>
          <a:ln/>
        </p:spPr>
        <p:txBody>
          <a:bodyPr wrap="square" rtlCol="0" anchor="ctr"/>
          <a:lstStyle/>
          <a:p>
            <a:pPr indent="0" marL="0">
              <a:buNone/>
            </a:pPr>
            <a:r>
              <a:rPr lang="en-US" sz="1200" b="1" dirty="0">
                <a:solidFill>
                  <a:srgbClr val="D93025"/>
                </a:solidFill>
                <a:latin typeface="Calibri" pitchFamily="34" charset="0"/>
                <a:ea typeface="Calibri" pitchFamily="34" charset="-122"/>
                <a:cs typeface="Calibri" pitchFamily="34" charset="-120"/>
              </a:rPr>
              <a:t>Active</a:t>
            </a:r>
            <a:endParaRPr lang="en-US" sz="1200" dirty="0"/>
          </a:p>
        </p:txBody>
      </p:sp>
      <p:sp>
        <p:nvSpPr>
          <p:cNvPr id="21" name="Text 19"/>
          <p:cNvSpPr/>
          <p:nvPr/>
        </p:nvSpPr>
        <p:spPr>
          <a:xfrm>
            <a:off x="4100439" y="5323974"/>
            <a:ext cx="5943600" cy="0"/>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SAM.gov registration active.</a:t>
            </a:r>
            <a:endParaRPr lang="en-US" sz="1100" dirty="0"/>
          </a:p>
        </p:txBody>
      </p:sp>
      <p:sp>
        <p:nvSpPr>
          <p:cNvPr id="22" name="Text 20"/>
          <p:cNvSpPr/>
          <p:nvPr/>
        </p:nvSpPr>
        <p:spPr>
          <a:xfrm>
            <a:off x="717159" y="6316579"/>
            <a:ext cx="6858000" cy="0"/>
          </a:xfrm>
          <a:prstGeom prst="rect">
            <a:avLst/>
          </a:prstGeom>
          <a:noFill/>
          <a:ln/>
        </p:spPr>
        <p:txBody>
          <a:bodyPr wrap="square" rtlCol="0" anchor="ctr"/>
          <a:lstStyle/>
          <a:p>
            <a:pPr indent="0" marL="0">
              <a:buNone/>
            </a:pPr>
            <a:r>
              <a:rPr lang="en-US" sz="1400" i="1" dirty="0">
                <a:solidFill>
                  <a:srgbClr val="1A1A1A"/>
                </a:solidFill>
                <a:latin typeface="Calibri" pitchFamily="34" charset="0"/>
                <a:ea typeface="Calibri" pitchFamily="34" charset="-122"/>
                <a:cs typeface="Calibri" pitchFamily="34" charset="-120"/>
              </a:rPr>
              <a:t>This is not a deck pitch. The format exists.</a:t>
            </a:r>
            <a:endParaRPr lang="en-US" sz="1400" dirty="0"/>
          </a:p>
        </p:txBody>
      </p:sp>
      <p:sp>
        <p:nvSpPr>
          <p:cNvPr id="23" name="Text 21"/>
          <p:cNvSpPr/>
          <p:nvPr/>
        </p:nvSpPr>
        <p:spPr>
          <a:xfrm>
            <a:off x="717159" y="6533147"/>
            <a:ext cx="6858000" cy="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Lens</a:t>
            </a:r>
            <a:endParaRPr lang="en-US" sz="1000" dirty="0"/>
          </a:p>
        </p:txBody>
      </p:sp>
      <p:sp>
        <p:nvSpPr>
          <p:cNvPr id="24" name="Text 22"/>
          <p:cNvSpPr/>
          <p:nvPr/>
        </p:nvSpPr>
        <p:spPr>
          <a:xfrm>
            <a:off x="11017337" y="6533147"/>
            <a:ext cx="457200" cy="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11 / 18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17159" y="649705"/>
            <a:ext cx="717159" cy="36095"/>
          </a:xfrm>
          <a:prstGeom prst="rect">
            <a:avLst/>
          </a:prstGeom>
          <a:solidFill>
            <a:srgbClr val="D93025"/>
          </a:solidFill>
          <a:ln/>
        </p:spPr>
      </p:sp>
      <p:sp>
        <p:nvSpPr>
          <p:cNvPr id="3" name="Text 1"/>
          <p:cNvSpPr/>
          <p:nvPr/>
        </p:nvSpPr>
        <p:spPr>
          <a:xfrm>
            <a:off x="717159" y="757989"/>
            <a:ext cx="6858000" cy="0"/>
          </a:xfrm>
          <a:prstGeom prst="rect">
            <a:avLst/>
          </a:prstGeom>
          <a:noFill/>
          <a:ln/>
        </p:spPr>
        <p:txBody>
          <a:bodyPr wrap="square" rtlCol="0" anchor="ctr"/>
          <a:lstStyle/>
          <a:p>
            <a:pPr indent="0" marL="0">
              <a:buNone/>
            </a:pPr>
            <a:r>
              <a:rPr lang="en-US" sz="1100" b="1" spc="100" kern="0" dirty="0">
                <a:solidFill>
                  <a:srgbClr val="D93025"/>
                </a:solidFill>
                <a:latin typeface="Calibri" pitchFamily="34" charset="0"/>
                <a:ea typeface="Calibri" pitchFamily="34" charset="-122"/>
                <a:cs typeface="Calibri" pitchFamily="34" charset="-120"/>
              </a:rPr>
              <a:t>ACT III — SO</a:t>
            </a:r>
            <a:endParaRPr lang="en-US" sz="1100" dirty="0"/>
          </a:p>
        </p:txBody>
      </p:sp>
      <p:sp>
        <p:nvSpPr>
          <p:cNvPr id="4" name="Text 2"/>
          <p:cNvSpPr/>
          <p:nvPr/>
        </p:nvSpPr>
        <p:spPr>
          <a:xfrm>
            <a:off x="717159" y="1804737"/>
            <a:ext cx="10757378" cy="0"/>
          </a:xfrm>
          <a:prstGeom prst="rect">
            <a:avLst/>
          </a:prstGeom>
          <a:noFill/>
          <a:ln/>
        </p:spPr>
        <p:txBody>
          <a:bodyPr wrap="square"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The roles take shape today.</a:t>
            </a:r>
            <a:endParaRPr lang="en-US" sz="2200" dirty="0"/>
          </a:p>
        </p:txBody>
      </p:sp>
      <p:sp>
        <p:nvSpPr>
          <p:cNvPr id="5" name="Text 3"/>
          <p:cNvSpPr/>
          <p:nvPr/>
        </p:nvSpPr>
        <p:spPr>
          <a:xfrm>
            <a:off x="717159" y="2346158"/>
            <a:ext cx="10757378" cy="0"/>
          </a:xfrm>
          <a:prstGeom prst="rect">
            <a:avLst/>
          </a:prstGeom>
          <a:noFill/>
          <a:ln/>
        </p:spPr>
        <p:txBody>
          <a:bodyPr wrap="square" rtlCol="0" anchor="ctr"/>
          <a:lstStyle/>
          <a:p>
            <a:pPr indent="0" marL="0">
              <a:buNone/>
            </a:pPr>
            <a:r>
              <a:rPr lang="en-US" sz="1400" dirty="0">
                <a:solidFill>
                  <a:srgbClr val="444444"/>
                </a:solidFill>
                <a:latin typeface="Calibri" pitchFamily="34" charset="0"/>
                <a:ea typeface="Calibri" pitchFamily="34" charset="-122"/>
                <a:cs typeface="Calibri" pitchFamily="34" charset="-120"/>
              </a:rPr>
              <a:t>Holder. Certificate authority. Each is an instance, not a separate product.</a:t>
            </a:r>
            <a:endParaRPr lang="en-US" sz="1400" dirty="0"/>
          </a:p>
        </p:txBody>
      </p:sp>
      <p:sp>
        <p:nvSpPr>
          <p:cNvPr id="6" name="Text 4"/>
          <p:cNvSpPr/>
          <p:nvPr/>
        </p:nvSpPr>
        <p:spPr>
          <a:xfrm>
            <a:off x="717159" y="3248526"/>
            <a:ext cx="3200400" cy="0"/>
          </a:xfrm>
          <a:prstGeom prst="rect">
            <a:avLst/>
          </a:prstGeom>
          <a:noFill/>
          <a:ln/>
        </p:spPr>
        <p:txBody>
          <a:bodyPr wrap="square"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Holder</a:t>
            </a:r>
            <a:endParaRPr lang="en-US" sz="1600" dirty="0"/>
          </a:p>
        </p:txBody>
      </p:sp>
      <p:sp>
        <p:nvSpPr>
          <p:cNvPr id="7" name="Text 5"/>
          <p:cNvSpPr/>
          <p:nvPr/>
        </p:nvSpPr>
        <p:spPr>
          <a:xfrm>
            <a:off x="717159" y="3789947"/>
            <a:ext cx="3200400" cy="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The working professional. Owns their lens. Carries it into every conversation.</a:t>
            </a:r>
            <a:endParaRPr lang="en-US" sz="1200" dirty="0"/>
          </a:p>
        </p:txBody>
      </p:sp>
      <p:sp>
        <p:nvSpPr>
          <p:cNvPr id="8" name="Text 6"/>
          <p:cNvSpPr/>
          <p:nvPr/>
        </p:nvSpPr>
        <p:spPr>
          <a:xfrm>
            <a:off x="717159" y="5053263"/>
            <a:ext cx="3200400" cy="0"/>
          </a:xfrm>
          <a:prstGeom prst="rect">
            <a:avLst/>
          </a:prstGeom>
          <a:noFill/>
          <a:ln/>
        </p:spPr>
        <p:txBody>
          <a:bodyPr wrap="square" rtlCol="0" anchor="ctr"/>
          <a:lstStyle/>
          <a:p>
            <a:pPr indent="0" marL="0">
              <a:buNone/>
            </a:pPr>
            <a:r>
              <a:rPr lang="en-US" sz="1100" dirty="0">
                <a:solidFill>
                  <a:srgbClr val="777777"/>
                </a:solidFill>
                <a:latin typeface="Calibri" pitchFamily="34" charset="0"/>
                <a:ea typeface="Calibri" pitchFamily="34" charset="-122"/>
                <a:cs typeface="Calibri" pitchFamily="34" charset="-120"/>
              </a:rPr>
              <a:t>Free intake; premium tier for ongoing scoring and daily briefing.</a:t>
            </a:r>
            <a:endParaRPr lang="en-US" sz="1100" dirty="0"/>
          </a:p>
        </p:txBody>
      </p:sp>
      <p:sp>
        <p:nvSpPr>
          <p:cNvPr id="9" name="Text 7"/>
          <p:cNvSpPr/>
          <p:nvPr/>
        </p:nvSpPr>
        <p:spPr>
          <a:xfrm>
            <a:off x="4191879" y="3248526"/>
            <a:ext cx="3200400" cy="0"/>
          </a:xfrm>
          <a:prstGeom prst="rect">
            <a:avLst/>
          </a:prstGeom>
          <a:noFill/>
          <a:ln/>
        </p:spPr>
        <p:txBody>
          <a:bodyPr wrap="square"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Premium CA</a:t>
            </a:r>
            <a:endParaRPr lang="en-US" sz="1600" dirty="0"/>
          </a:p>
        </p:txBody>
      </p:sp>
      <p:sp>
        <p:nvSpPr>
          <p:cNvPr id="10" name="Text 8"/>
          <p:cNvSpPr/>
          <p:nvPr/>
        </p:nvSpPr>
        <p:spPr>
          <a:xfrm>
            <a:off x="4191879" y="3789947"/>
            <a:ext cx="3200400" cy="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Retained boutique executive recruiters. $300K+ placements, where mis-hire cost is catastrophic.</a:t>
            </a:r>
            <a:endParaRPr lang="en-US" sz="1200" dirty="0"/>
          </a:p>
        </p:txBody>
      </p:sp>
      <p:sp>
        <p:nvSpPr>
          <p:cNvPr id="11" name="Text 9"/>
          <p:cNvSpPr/>
          <p:nvPr/>
        </p:nvSpPr>
        <p:spPr>
          <a:xfrm>
            <a:off x="4191879" y="5053263"/>
            <a:ext cx="3200400" cy="0"/>
          </a:xfrm>
          <a:prstGeom prst="rect">
            <a:avLst/>
          </a:prstGeom>
          <a:noFill/>
          <a:ln/>
        </p:spPr>
        <p:txBody>
          <a:bodyPr wrap="square" rtlCol="0" anchor="ctr"/>
          <a:lstStyle/>
          <a:p>
            <a:pPr indent="0" marL="0">
              <a:buNone/>
            </a:pPr>
            <a:r>
              <a:rPr lang="en-US" sz="1100" dirty="0">
                <a:solidFill>
                  <a:srgbClr val="777777"/>
                </a:solidFill>
                <a:latin typeface="Calibri" pitchFamily="34" charset="0"/>
                <a:ea typeface="Calibri" pitchFamily="34" charset="-122"/>
                <a:cs typeface="Calibri" pitchFamily="34" charset="-120"/>
              </a:rPr>
              <a:t>Validated band: $2–5K per search.</a:t>
            </a:r>
            <a:endParaRPr lang="en-US" sz="1100" dirty="0"/>
          </a:p>
        </p:txBody>
      </p:sp>
      <p:sp>
        <p:nvSpPr>
          <p:cNvPr id="12" name="Text 10"/>
          <p:cNvSpPr/>
          <p:nvPr/>
        </p:nvSpPr>
        <p:spPr>
          <a:xfrm>
            <a:off x="7666599" y="3248526"/>
            <a:ext cx="3200400" cy="0"/>
          </a:xfrm>
          <a:prstGeom prst="rect">
            <a:avLst/>
          </a:prstGeom>
          <a:noFill/>
          <a:ln/>
        </p:spPr>
        <p:txBody>
          <a:bodyPr wrap="square"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Volume CA</a:t>
            </a:r>
            <a:endParaRPr lang="en-US" sz="1600" dirty="0"/>
          </a:p>
        </p:txBody>
      </p:sp>
      <p:sp>
        <p:nvSpPr>
          <p:cNvPr id="13" name="Text 11"/>
          <p:cNvSpPr/>
          <p:nvPr/>
        </p:nvSpPr>
        <p:spPr>
          <a:xfrm>
            <a:off x="7666599" y="3789947"/>
            <a:ext cx="3200400" cy="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Coaches and internal mobility programs. Structured discovery is already part of the workflow.</a:t>
            </a:r>
            <a:endParaRPr lang="en-US" sz="1200" dirty="0"/>
          </a:p>
        </p:txBody>
      </p:sp>
      <p:sp>
        <p:nvSpPr>
          <p:cNvPr id="14" name="Text 12"/>
          <p:cNvSpPr/>
          <p:nvPr/>
        </p:nvSpPr>
        <p:spPr>
          <a:xfrm>
            <a:off x="7666599" y="5053263"/>
            <a:ext cx="3200400" cy="0"/>
          </a:xfrm>
          <a:prstGeom prst="rect">
            <a:avLst/>
          </a:prstGeom>
          <a:noFill/>
          <a:ln/>
        </p:spPr>
        <p:txBody>
          <a:bodyPr wrap="square" rtlCol="0" anchor="ctr"/>
          <a:lstStyle/>
          <a:p>
            <a:pPr indent="0" marL="0">
              <a:buNone/>
            </a:pPr>
            <a:r>
              <a:rPr lang="en-US" sz="1100" dirty="0">
                <a:solidFill>
                  <a:srgbClr val="777777"/>
                </a:solidFill>
                <a:latin typeface="Calibri" pitchFamily="34" charset="0"/>
                <a:ea typeface="Calibri" pitchFamily="34" charset="-122"/>
                <a:cs typeface="Calibri" pitchFamily="34" charset="-120"/>
              </a:rPr>
              <a:t>The format extends naturally.</a:t>
            </a:r>
            <a:endParaRPr lang="en-US" sz="1100" dirty="0"/>
          </a:p>
        </p:txBody>
      </p:sp>
      <p:sp>
        <p:nvSpPr>
          <p:cNvPr id="15" name="Text 13"/>
          <p:cNvSpPr/>
          <p:nvPr/>
        </p:nvSpPr>
        <p:spPr>
          <a:xfrm>
            <a:off x="717159" y="6316579"/>
            <a:ext cx="6858000" cy="0"/>
          </a:xfrm>
          <a:prstGeom prst="rect">
            <a:avLst/>
          </a:prstGeom>
          <a:noFill/>
          <a:ln/>
        </p:spPr>
        <p:txBody>
          <a:bodyPr wrap="square" rtlCol="0" anchor="ctr"/>
          <a:lstStyle/>
          <a:p>
            <a:pPr indent="0" marL="0">
              <a:buNone/>
            </a:pPr>
            <a:r>
              <a:rPr lang="en-US" sz="1400" i="1" dirty="0">
                <a:solidFill>
                  <a:srgbClr val="1A1A1A"/>
                </a:solidFill>
                <a:latin typeface="Calibri" pitchFamily="34" charset="0"/>
                <a:ea typeface="Calibri" pitchFamily="34" charset="-122"/>
                <a:cs typeface="Calibri" pitchFamily="34" charset="-120"/>
              </a:rPr>
              <a:t>The same primitive monetizes differently at each surface. The format is the asset.</a:t>
            </a:r>
            <a:endParaRPr lang="en-US" sz="1400" dirty="0"/>
          </a:p>
        </p:txBody>
      </p:sp>
      <p:sp>
        <p:nvSpPr>
          <p:cNvPr id="16" name="Text 14"/>
          <p:cNvSpPr/>
          <p:nvPr/>
        </p:nvSpPr>
        <p:spPr>
          <a:xfrm>
            <a:off x="717159" y="6533147"/>
            <a:ext cx="6858000" cy="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Lens</a:t>
            </a:r>
            <a:endParaRPr lang="en-US" sz="1000" dirty="0"/>
          </a:p>
        </p:txBody>
      </p:sp>
      <p:sp>
        <p:nvSpPr>
          <p:cNvPr id="17" name="Text 15"/>
          <p:cNvSpPr/>
          <p:nvPr/>
        </p:nvSpPr>
        <p:spPr>
          <a:xfrm>
            <a:off x="11017337" y="6533147"/>
            <a:ext cx="457200" cy="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12 / 18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17159" y="649705"/>
            <a:ext cx="717159" cy="36095"/>
          </a:xfrm>
          <a:prstGeom prst="rect">
            <a:avLst/>
          </a:prstGeom>
          <a:solidFill>
            <a:srgbClr val="D93025"/>
          </a:solidFill>
          <a:ln/>
        </p:spPr>
      </p:sp>
      <p:sp>
        <p:nvSpPr>
          <p:cNvPr id="3" name="Text 1"/>
          <p:cNvSpPr/>
          <p:nvPr/>
        </p:nvSpPr>
        <p:spPr>
          <a:xfrm>
            <a:off x="717159" y="757989"/>
            <a:ext cx="6858000" cy="0"/>
          </a:xfrm>
          <a:prstGeom prst="rect">
            <a:avLst/>
          </a:prstGeom>
          <a:noFill/>
          <a:ln/>
        </p:spPr>
        <p:txBody>
          <a:bodyPr wrap="square" rtlCol="0" anchor="ctr"/>
          <a:lstStyle/>
          <a:p>
            <a:pPr indent="0" marL="0">
              <a:buNone/>
            </a:pPr>
            <a:r>
              <a:rPr lang="en-US" sz="1100" b="1" spc="100" kern="0" dirty="0">
                <a:solidFill>
                  <a:srgbClr val="D93025"/>
                </a:solidFill>
                <a:latin typeface="Calibri" pitchFamily="34" charset="0"/>
                <a:ea typeface="Calibri" pitchFamily="34" charset="-122"/>
                <a:cs typeface="Calibri" pitchFamily="34" charset="-120"/>
              </a:rPr>
              <a:t>ACT III — SO</a:t>
            </a:r>
            <a:endParaRPr lang="en-US" sz="1100" dirty="0"/>
          </a:p>
        </p:txBody>
      </p:sp>
      <p:sp>
        <p:nvSpPr>
          <p:cNvPr id="4" name="Text 2"/>
          <p:cNvSpPr/>
          <p:nvPr/>
        </p:nvSpPr>
        <p:spPr>
          <a:xfrm>
            <a:off x="717159" y="1804737"/>
            <a:ext cx="10757378" cy="0"/>
          </a:xfrm>
          <a:prstGeom prst="rect">
            <a:avLst/>
          </a:prstGeom>
          <a:noFill/>
          <a:ln/>
        </p:spPr>
        <p:txBody>
          <a:bodyPr wrap="square"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Format. Patent. Validity question.</a:t>
            </a:r>
            <a:endParaRPr lang="en-US" sz="2200" dirty="0"/>
          </a:p>
        </p:txBody>
      </p:sp>
      <p:sp>
        <p:nvSpPr>
          <p:cNvPr id="5" name="Text 3"/>
          <p:cNvSpPr/>
          <p:nvPr/>
        </p:nvSpPr>
        <p:spPr>
          <a:xfrm>
            <a:off x="717159" y="2346158"/>
            <a:ext cx="10757378" cy="0"/>
          </a:xfrm>
          <a:prstGeom prst="rect">
            <a:avLst/>
          </a:prstGeom>
          <a:noFill/>
          <a:ln/>
        </p:spPr>
        <p:txBody>
          <a:bodyPr wrap="square" rtlCol="0" anchor="ctr"/>
          <a:lstStyle/>
          <a:p>
            <a:pPr indent="0" marL="0">
              <a:buNone/>
            </a:pPr>
            <a:r>
              <a:rPr lang="en-US" sz="1400" dirty="0">
                <a:solidFill>
                  <a:srgbClr val="444444"/>
                </a:solidFill>
                <a:latin typeface="Calibri" pitchFamily="34" charset="0"/>
                <a:ea typeface="Calibri" pitchFamily="34" charset="-122"/>
                <a:cs typeface="Calibri" pitchFamily="34" charset="-120"/>
              </a:rPr>
              <a:t>Three layers of defensibility, none of which compound on speed.</a:t>
            </a:r>
            <a:endParaRPr lang="en-US" sz="1400" dirty="0"/>
          </a:p>
        </p:txBody>
      </p:sp>
      <p:sp>
        <p:nvSpPr>
          <p:cNvPr id="6" name="Shape 4"/>
          <p:cNvSpPr/>
          <p:nvPr/>
        </p:nvSpPr>
        <p:spPr>
          <a:xfrm>
            <a:off x="717159" y="3204009"/>
            <a:ext cx="73152" cy="457200"/>
          </a:xfrm>
          <a:prstGeom prst="rect">
            <a:avLst/>
          </a:prstGeom>
          <a:solidFill>
            <a:srgbClr val="D93025"/>
          </a:solidFill>
          <a:ln/>
        </p:spPr>
      </p:sp>
      <p:sp>
        <p:nvSpPr>
          <p:cNvPr id="7" name="Text 5"/>
          <p:cNvSpPr/>
          <p:nvPr/>
        </p:nvSpPr>
        <p:spPr>
          <a:xfrm>
            <a:off x="900039" y="3158289"/>
            <a:ext cx="6858000" cy="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Format moat</a:t>
            </a:r>
            <a:endParaRPr lang="en-US" sz="1400" dirty="0"/>
          </a:p>
        </p:txBody>
      </p:sp>
      <p:sp>
        <p:nvSpPr>
          <p:cNvPr id="8" name="Text 6"/>
          <p:cNvSpPr/>
          <p:nvPr/>
        </p:nvSpPr>
        <p:spPr>
          <a:xfrm>
            <a:off x="900039" y="3386889"/>
            <a:ext cx="10574498" cy="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The artifact specification is the primitive. Once the labor market signs from a format, switching is structurally hard.</a:t>
            </a:r>
            <a:endParaRPr lang="en-US" sz="1200" dirty="0"/>
          </a:p>
        </p:txBody>
      </p:sp>
      <p:sp>
        <p:nvSpPr>
          <p:cNvPr id="9" name="Shape 7"/>
          <p:cNvSpPr/>
          <p:nvPr/>
        </p:nvSpPr>
        <p:spPr>
          <a:xfrm>
            <a:off x="717159" y="4196615"/>
            <a:ext cx="73152" cy="457200"/>
          </a:xfrm>
          <a:prstGeom prst="rect">
            <a:avLst/>
          </a:prstGeom>
          <a:solidFill>
            <a:srgbClr val="D93025"/>
          </a:solidFill>
          <a:ln/>
        </p:spPr>
      </p:sp>
      <p:sp>
        <p:nvSpPr>
          <p:cNvPr id="10" name="Text 8"/>
          <p:cNvSpPr/>
          <p:nvPr/>
        </p:nvSpPr>
        <p:spPr>
          <a:xfrm>
            <a:off x="900039" y="4150895"/>
            <a:ext cx="6858000" cy="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Patent moat</a:t>
            </a:r>
            <a:endParaRPr lang="en-US" sz="1400" dirty="0"/>
          </a:p>
        </p:txBody>
      </p:sp>
      <p:sp>
        <p:nvSpPr>
          <p:cNvPr id="11" name="Text 9"/>
          <p:cNvSpPr/>
          <p:nvPr/>
        </p:nvSpPr>
        <p:spPr>
          <a:xfrm>
            <a:off x="900039" y="4379495"/>
            <a:ext cx="10574498" cy="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Ten claims filed, including three independent claims covering bidirectional identity-first matching with portable artifact ownership.</a:t>
            </a:r>
            <a:endParaRPr lang="en-US" sz="1200" dirty="0"/>
          </a:p>
        </p:txBody>
      </p:sp>
      <p:sp>
        <p:nvSpPr>
          <p:cNvPr id="12" name="Shape 10"/>
          <p:cNvSpPr/>
          <p:nvPr/>
        </p:nvSpPr>
        <p:spPr>
          <a:xfrm>
            <a:off x="717159" y="5189220"/>
            <a:ext cx="73152" cy="457200"/>
          </a:xfrm>
          <a:prstGeom prst="rect">
            <a:avLst/>
          </a:prstGeom>
          <a:solidFill>
            <a:srgbClr val="D93025"/>
          </a:solidFill>
          <a:ln/>
        </p:spPr>
      </p:sp>
      <p:sp>
        <p:nvSpPr>
          <p:cNvPr id="13" name="Text 11"/>
          <p:cNvSpPr/>
          <p:nvPr/>
        </p:nvSpPr>
        <p:spPr>
          <a:xfrm>
            <a:off x="900039" y="5143500"/>
            <a:ext cx="6858000" cy="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Research moat</a:t>
            </a:r>
            <a:endParaRPr lang="en-US" sz="1400" dirty="0"/>
          </a:p>
        </p:txBody>
      </p:sp>
      <p:sp>
        <p:nvSpPr>
          <p:cNvPr id="14" name="Text 12"/>
          <p:cNvSpPr/>
          <p:nvPr/>
        </p:nvSpPr>
        <p:spPr>
          <a:xfrm>
            <a:off x="900039" y="5372100"/>
            <a:ext cx="10574498" cy="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Oh, Wang &amp; Mount (2011) meta-analysis established observer ratings predict job performance significantly better than self-reports. AI-facilitated coached discovery is the first method capable of moving structured self-report toward the observer-grade ceiling at scale.</a:t>
            </a:r>
            <a:endParaRPr lang="en-US" sz="1200" dirty="0"/>
          </a:p>
        </p:txBody>
      </p:sp>
      <p:sp>
        <p:nvSpPr>
          <p:cNvPr id="15" name="Text 13"/>
          <p:cNvSpPr/>
          <p:nvPr/>
        </p:nvSpPr>
        <p:spPr>
          <a:xfrm>
            <a:off x="717159" y="6316579"/>
            <a:ext cx="6858000" cy="0"/>
          </a:xfrm>
          <a:prstGeom prst="rect">
            <a:avLst/>
          </a:prstGeom>
          <a:noFill/>
          <a:ln/>
        </p:spPr>
        <p:txBody>
          <a:bodyPr wrap="square" rtlCol="0" anchor="ctr"/>
          <a:lstStyle/>
          <a:p>
            <a:pPr indent="0" marL="0">
              <a:buNone/>
            </a:pPr>
            <a:r>
              <a:rPr lang="en-US" sz="1400" i="1" dirty="0">
                <a:solidFill>
                  <a:srgbClr val="1A1A1A"/>
                </a:solidFill>
                <a:latin typeface="Calibri" pitchFamily="34" charset="0"/>
                <a:ea typeface="Calibri" pitchFamily="34" charset="-122"/>
                <a:cs typeface="Calibri" pitchFamily="34" charset="-120"/>
              </a:rPr>
              <a:t>Lens is not racing on speed. Lens is racing on the format precedent.</a:t>
            </a:r>
            <a:endParaRPr lang="en-US" sz="1400" dirty="0"/>
          </a:p>
        </p:txBody>
      </p:sp>
      <p:sp>
        <p:nvSpPr>
          <p:cNvPr id="16" name="Text 14"/>
          <p:cNvSpPr/>
          <p:nvPr/>
        </p:nvSpPr>
        <p:spPr>
          <a:xfrm>
            <a:off x="717159" y="6533147"/>
            <a:ext cx="6858000" cy="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Lens</a:t>
            </a:r>
            <a:endParaRPr lang="en-US" sz="1000" dirty="0"/>
          </a:p>
        </p:txBody>
      </p:sp>
      <p:sp>
        <p:nvSpPr>
          <p:cNvPr id="17" name="Text 15"/>
          <p:cNvSpPr/>
          <p:nvPr/>
        </p:nvSpPr>
        <p:spPr>
          <a:xfrm>
            <a:off x="11017337" y="6533147"/>
            <a:ext cx="457200" cy="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13 / 18</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17159" y="649705"/>
            <a:ext cx="717159" cy="36095"/>
          </a:xfrm>
          <a:prstGeom prst="rect">
            <a:avLst/>
          </a:prstGeom>
          <a:solidFill>
            <a:srgbClr val="D93025"/>
          </a:solidFill>
          <a:ln/>
        </p:spPr>
      </p:sp>
      <p:sp>
        <p:nvSpPr>
          <p:cNvPr id="3" name="Text 1"/>
          <p:cNvSpPr/>
          <p:nvPr/>
        </p:nvSpPr>
        <p:spPr>
          <a:xfrm>
            <a:off x="717159" y="757989"/>
            <a:ext cx="6858000" cy="0"/>
          </a:xfrm>
          <a:prstGeom prst="rect">
            <a:avLst/>
          </a:prstGeom>
          <a:noFill/>
          <a:ln/>
        </p:spPr>
        <p:txBody>
          <a:bodyPr wrap="square" rtlCol="0" anchor="ctr"/>
          <a:lstStyle/>
          <a:p>
            <a:pPr indent="0" marL="0">
              <a:buNone/>
            </a:pPr>
            <a:r>
              <a:rPr lang="en-US" sz="1100" b="1" spc="100" kern="0" dirty="0">
                <a:solidFill>
                  <a:srgbClr val="D93025"/>
                </a:solidFill>
                <a:latin typeface="Calibri" pitchFamily="34" charset="0"/>
                <a:ea typeface="Calibri" pitchFamily="34" charset="-122"/>
                <a:cs typeface="Calibri" pitchFamily="34" charset="-120"/>
              </a:rPr>
              <a:t>ACT III — SO</a:t>
            </a:r>
            <a:endParaRPr lang="en-US" sz="1100" dirty="0"/>
          </a:p>
        </p:txBody>
      </p:sp>
      <p:sp>
        <p:nvSpPr>
          <p:cNvPr id="4" name="Text 2"/>
          <p:cNvSpPr/>
          <p:nvPr/>
        </p:nvSpPr>
        <p:spPr>
          <a:xfrm>
            <a:off x="717159" y="1804737"/>
            <a:ext cx="10757378" cy="0"/>
          </a:xfrm>
          <a:prstGeom prst="rect">
            <a:avLst/>
          </a:prstGeom>
          <a:noFill/>
          <a:ln/>
        </p:spPr>
        <p:txBody>
          <a:bodyPr wrap="square"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I built Lens because the artifact I needed for myself didn't exist.</a:t>
            </a:r>
            <a:endParaRPr lang="en-US" sz="2200" dirty="0"/>
          </a:p>
        </p:txBody>
      </p:sp>
      <p:sp>
        <p:nvSpPr>
          <p:cNvPr id="5" name="Text 3"/>
          <p:cNvSpPr/>
          <p:nvPr/>
        </p:nvSpPr>
        <p:spPr>
          <a:xfrm>
            <a:off x="717159" y="2526632"/>
            <a:ext cx="10757378" cy="0"/>
          </a:xfrm>
          <a:prstGeom prst="rect">
            <a:avLst/>
          </a:prstGeom>
          <a:noFill/>
          <a:ln/>
        </p:spPr>
        <p:txBody>
          <a:bodyPr wrap="square" rtlCol="0" anchor="ctr"/>
          <a:lstStyle/>
          <a:p>
            <a:pPr indent="0" marL="0">
              <a:buNone/>
            </a:pPr>
            <a:r>
              <a:rPr lang="en-US" sz="1400" dirty="0">
                <a:solidFill>
                  <a:srgbClr val="444444"/>
                </a:solidFill>
                <a:latin typeface="Calibri" pitchFamily="34" charset="0"/>
                <a:ea typeface="Calibri" pitchFamily="34" charset="-122"/>
                <a:cs typeface="Calibri" pitchFamily="34" charset="-120"/>
              </a:rPr>
              <a:t>The miscategorization is not a hypothesis. It's how this started.</a:t>
            </a:r>
            <a:endParaRPr lang="en-US" sz="1400" dirty="0"/>
          </a:p>
        </p:txBody>
      </p:sp>
      <p:sp>
        <p:nvSpPr>
          <p:cNvPr id="6" name="Text 4"/>
          <p:cNvSpPr/>
          <p:nvPr/>
        </p:nvSpPr>
        <p:spPr>
          <a:xfrm>
            <a:off x="717159" y="3429000"/>
            <a:ext cx="10757378" cy="0"/>
          </a:xfrm>
          <a:prstGeom prst="rect">
            <a:avLst/>
          </a:prstGeom>
          <a:noFill/>
          <a:ln/>
        </p:spPr>
        <p:txBody>
          <a:bodyPr wrap="square" rtlCol="0" anchor="t"/>
          <a:lstStyle/>
          <a:p>
            <a:pPr indent="0" marL="0">
              <a:buNone/>
            </a:pPr>
            <a:r>
              <a:rPr lang="en-US" sz="1400" dirty="0">
                <a:solidFill>
                  <a:srgbClr val="1A1A1A"/>
                </a:solidFill>
                <a:latin typeface="Calibri" pitchFamily="34" charset="0"/>
                <a:ea typeface="Calibri" pitchFamily="34" charset="-122"/>
                <a:cs typeface="Calibri" pitchFamily="34" charset="-120"/>
              </a:rPr>
              <a:t>A senior career — renewal accountability, four years of 0-to-1, customer success leadership — reads on a ten-second scan of one historical title as "support expert."</a:t>
            </a:r>
            <a:endParaRPr lang="en-US" sz="1400" dirty="0"/>
          </a:p>
        </p:txBody>
      </p:sp>
      <p:sp>
        <p:nvSpPr>
          <p:cNvPr id="7" name="Text 5"/>
          <p:cNvSpPr/>
          <p:nvPr/>
        </p:nvSpPr>
        <p:spPr>
          <a:xfrm>
            <a:off x="717159" y="4331368"/>
            <a:ext cx="10757378" cy="0"/>
          </a:xfrm>
          <a:prstGeom prst="rect">
            <a:avLst/>
          </a:prstGeom>
          <a:noFill/>
          <a:ln/>
        </p:spPr>
        <p:txBody>
          <a:bodyPr wrap="square" rtlCol="0" anchor="t"/>
          <a:lstStyle/>
          <a:p>
            <a:pPr indent="0" marL="0">
              <a:buNone/>
            </a:pPr>
            <a:r>
              <a:rPr lang="en-US" sz="1400" dirty="0">
                <a:solidFill>
                  <a:srgbClr val="1A1A1A"/>
                </a:solidFill>
                <a:latin typeface="Calibri" pitchFamily="34" charset="0"/>
                <a:ea typeface="Calibri" pitchFamily="34" charset="-122"/>
                <a:cs typeface="Calibri" pitchFamily="34" charset="-120"/>
              </a:rPr>
              <a:t>The scan is wrong. It sticks. Every recruiter conversation begins from a miscategorization the candidate has no way to redirect.</a:t>
            </a:r>
            <a:endParaRPr lang="en-US" sz="1400" dirty="0"/>
          </a:p>
        </p:txBody>
      </p:sp>
      <p:sp>
        <p:nvSpPr>
          <p:cNvPr id="8" name="Text 6"/>
          <p:cNvSpPr/>
          <p:nvPr/>
        </p:nvSpPr>
        <p:spPr>
          <a:xfrm>
            <a:off x="717159" y="5233737"/>
            <a:ext cx="10757378" cy="0"/>
          </a:xfrm>
          <a:prstGeom prst="rect">
            <a:avLst/>
          </a:prstGeom>
          <a:noFill/>
          <a:ln/>
        </p:spPr>
        <p:txBody>
          <a:bodyPr wrap="square" rtlCol="0" anchor="t"/>
          <a:lstStyle/>
          <a:p>
            <a:pPr indent="0" marL="0">
              <a:buNone/>
            </a:pPr>
            <a:r>
              <a:rPr lang="en-US" sz="1400" dirty="0">
                <a:solidFill>
                  <a:srgbClr val="1A1A1A"/>
                </a:solidFill>
                <a:latin typeface="Calibri" pitchFamily="34" charset="0"/>
                <a:ea typeface="Calibri" pitchFamily="34" charset="-122"/>
                <a:cs typeface="Calibri" pitchFamily="34" charset="-120"/>
              </a:rPr>
              <a:t>I lived the cost. I started building the artifact for myself, and the artifact wanted to be a primitive.</a:t>
            </a:r>
            <a:endParaRPr lang="en-US" sz="1400" dirty="0"/>
          </a:p>
        </p:txBody>
      </p:sp>
      <p:sp>
        <p:nvSpPr>
          <p:cNvPr id="9" name="Text 7"/>
          <p:cNvSpPr/>
          <p:nvPr/>
        </p:nvSpPr>
        <p:spPr>
          <a:xfrm>
            <a:off x="717159" y="6226342"/>
            <a:ext cx="10757378" cy="0"/>
          </a:xfrm>
          <a:prstGeom prst="rect">
            <a:avLst/>
          </a:prstGeom>
          <a:noFill/>
          <a:ln/>
        </p:spPr>
        <p:txBody>
          <a:bodyPr wrap="square" rtlCol="0" anchor="ctr"/>
          <a:lstStyle/>
          <a:p>
            <a:pPr indent="0" marL="0">
              <a:buNone/>
            </a:pPr>
            <a:r>
              <a:rPr lang="en-US" sz="1200" i="1" dirty="0">
                <a:solidFill>
                  <a:srgbClr val="444444"/>
                </a:solidFill>
                <a:latin typeface="Calibri" pitchFamily="34" charset="0"/>
                <a:ea typeface="Calibri" pitchFamily="34" charset="-122"/>
                <a:cs typeface="Calibri" pitchFamily="34" charset="-120"/>
              </a:rPr>
              <a:t>The personal story is the proof point: this happens to senior operators every day, and there is currently no way to fix it.</a:t>
            </a:r>
            <a:endParaRPr lang="en-US" sz="1200" dirty="0"/>
          </a:p>
        </p:txBody>
      </p:sp>
      <p:sp>
        <p:nvSpPr>
          <p:cNvPr id="10" name="Text 8"/>
          <p:cNvSpPr/>
          <p:nvPr/>
        </p:nvSpPr>
        <p:spPr>
          <a:xfrm>
            <a:off x="717159" y="6533147"/>
            <a:ext cx="6858000" cy="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Lens</a:t>
            </a:r>
            <a:endParaRPr lang="en-US" sz="1000" dirty="0"/>
          </a:p>
        </p:txBody>
      </p:sp>
      <p:sp>
        <p:nvSpPr>
          <p:cNvPr id="11" name="Text 9"/>
          <p:cNvSpPr/>
          <p:nvPr/>
        </p:nvSpPr>
        <p:spPr>
          <a:xfrm>
            <a:off x="11017337" y="6533147"/>
            <a:ext cx="457200" cy="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14 / 18</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717159" y="649705"/>
            <a:ext cx="717159" cy="36095"/>
          </a:xfrm>
          <a:prstGeom prst="rect">
            <a:avLst/>
          </a:prstGeom>
          <a:solidFill>
            <a:srgbClr val="D93025"/>
          </a:solidFill>
          <a:ln/>
        </p:spPr>
      </p:sp>
      <p:sp>
        <p:nvSpPr>
          <p:cNvPr id="3" name="Text 1"/>
          <p:cNvSpPr/>
          <p:nvPr/>
        </p:nvSpPr>
        <p:spPr>
          <a:xfrm>
            <a:off x="717159" y="757989"/>
            <a:ext cx="6858000" cy="0"/>
          </a:xfrm>
          <a:prstGeom prst="rect">
            <a:avLst/>
          </a:prstGeom>
          <a:noFill/>
          <a:ln/>
        </p:spPr>
        <p:txBody>
          <a:bodyPr wrap="square" rtlCol="0" anchor="ctr"/>
          <a:lstStyle/>
          <a:p>
            <a:pPr indent="0" marL="0">
              <a:buNone/>
            </a:pPr>
            <a:r>
              <a:rPr lang="en-US" sz="1100" b="1" spc="100" kern="0" dirty="0">
                <a:solidFill>
                  <a:srgbClr val="D93025"/>
                </a:solidFill>
                <a:latin typeface="Calibri" pitchFamily="34" charset="0"/>
                <a:ea typeface="Calibri" pitchFamily="34" charset="-122"/>
                <a:cs typeface="Calibri" pitchFamily="34" charset="-120"/>
              </a:rPr>
              <a:t>ACT III — SO</a:t>
            </a:r>
            <a:endParaRPr lang="en-US" sz="1100" dirty="0"/>
          </a:p>
        </p:txBody>
      </p:sp>
      <p:sp>
        <p:nvSpPr>
          <p:cNvPr id="4" name="Text 2"/>
          <p:cNvSpPr/>
          <p:nvPr/>
        </p:nvSpPr>
        <p:spPr>
          <a:xfrm>
            <a:off x="717159" y="1804737"/>
            <a:ext cx="10757378" cy="0"/>
          </a:xfrm>
          <a:prstGeom prst="rect">
            <a:avLst/>
          </a:prstGeom>
          <a:noFill/>
          <a:ln/>
        </p:spPr>
        <p:txBody>
          <a:bodyPr wrap="square"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The protocol monetizes wherever signing happens.</a:t>
            </a:r>
            <a:endParaRPr lang="en-US" sz="2200" dirty="0"/>
          </a:p>
        </p:txBody>
      </p:sp>
      <p:sp>
        <p:nvSpPr>
          <p:cNvPr id="5" name="Text 3"/>
          <p:cNvSpPr/>
          <p:nvPr/>
        </p:nvSpPr>
        <p:spPr>
          <a:xfrm>
            <a:off x="717159" y="2346158"/>
            <a:ext cx="10757378" cy="0"/>
          </a:xfrm>
          <a:prstGeom prst="rect">
            <a:avLst/>
          </a:prstGeom>
          <a:noFill/>
          <a:ln/>
        </p:spPr>
        <p:txBody>
          <a:bodyPr wrap="square" rtlCol="0" anchor="ctr"/>
          <a:lstStyle/>
          <a:p>
            <a:pPr indent="0" marL="0">
              <a:buNone/>
            </a:pPr>
            <a:r>
              <a:rPr lang="en-US" sz="1400" dirty="0">
                <a:solidFill>
                  <a:srgbClr val="444444"/>
                </a:solidFill>
                <a:latin typeface="Calibri" pitchFamily="34" charset="0"/>
                <a:ea typeface="Calibri" pitchFamily="34" charset="-122"/>
                <a:cs typeface="Calibri" pitchFamily="34" charset="-120"/>
              </a:rPr>
              <a:t>Multiple surfaces. One asset.</a:t>
            </a:r>
            <a:endParaRPr lang="en-US" sz="1400" dirty="0"/>
          </a:p>
        </p:txBody>
      </p:sp>
      <p:sp>
        <p:nvSpPr>
          <p:cNvPr id="6" name="Shape 4"/>
          <p:cNvSpPr/>
          <p:nvPr/>
        </p:nvSpPr>
        <p:spPr>
          <a:xfrm>
            <a:off x="717159" y="3204009"/>
            <a:ext cx="73152" cy="73152"/>
          </a:xfrm>
          <a:prstGeom prst="rect">
            <a:avLst/>
          </a:prstGeom>
          <a:solidFill>
            <a:srgbClr val="D93025"/>
          </a:solidFill>
          <a:ln/>
        </p:spPr>
      </p:sp>
      <p:sp>
        <p:nvSpPr>
          <p:cNvPr id="7" name="Text 5"/>
          <p:cNvSpPr/>
          <p:nvPr/>
        </p:nvSpPr>
        <p:spPr>
          <a:xfrm>
            <a:off x="900039" y="3158289"/>
            <a:ext cx="4846320" cy="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Per-search revenue</a:t>
            </a:r>
            <a:endParaRPr lang="en-US" sz="1300" dirty="0"/>
          </a:p>
        </p:txBody>
      </p:sp>
      <p:sp>
        <p:nvSpPr>
          <p:cNvPr id="8" name="Text 6"/>
          <p:cNvSpPr/>
          <p:nvPr/>
        </p:nvSpPr>
        <p:spPr>
          <a:xfrm>
            <a:off x="900039" y="3386889"/>
            <a:ext cx="4846320" cy="0"/>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From retained boutique CAs at the premium tier. Validated band: $2–5K per placement.</a:t>
            </a:r>
            <a:endParaRPr lang="en-US" sz="1100" dirty="0"/>
          </a:p>
        </p:txBody>
      </p:sp>
      <p:sp>
        <p:nvSpPr>
          <p:cNvPr id="9" name="Shape 7"/>
          <p:cNvSpPr/>
          <p:nvPr/>
        </p:nvSpPr>
        <p:spPr>
          <a:xfrm>
            <a:off x="6020679" y="3204009"/>
            <a:ext cx="73152" cy="73152"/>
          </a:xfrm>
          <a:prstGeom prst="rect">
            <a:avLst/>
          </a:prstGeom>
          <a:solidFill>
            <a:srgbClr val="D93025"/>
          </a:solidFill>
          <a:ln/>
        </p:spPr>
      </p:sp>
      <p:sp>
        <p:nvSpPr>
          <p:cNvPr id="10" name="Text 8"/>
          <p:cNvSpPr/>
          <p:nvPr/>
        </p:nvSpPr>
        <p:spPr>
          <a:xfrm>
            <a:off x="6203559" y="3158289"/>
            <a:ext cx="4846320" cy="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Premium holder subscriptions</a:t>
            </a:r>
            <a:endParaRPr lang="en-US" sz="1300" dirty="0"/>
          </a:p>
        </p:txBody>
      </p:sp>
      <p:sp>
        <p:nvSpPr>
          <p:cNvPr id="11" name="Text 9"/>
          <p:cNvSpPr/>
          <p:nvPr/>
        </p:nvSpPr>
        <p:spPr>
          <a:xfrm>
            <a:off x="6203559" y="3386889"/>
            <a:ext cx="4846320" cy="0"/>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Portable lens, ongoing scoring, daily scored briefing. Consumer-LTV play.</a:t>
            </a:r>
            <a:endParaRPr lang="en-US" sz="1100" dirty="0"/>
          </a:p>
        </p:txBody>
      </p:sp>
      <p:sp>
        <p:nvSpPr>
          <p:cNvPr id="12" name="Shape 10"/>
          <p:cNvSpPr/>
          <p:nvPr/>
        </p:nvSpPr>
        <p:spPr>
          <a:xfrm>
            <a:off x="717159" y="4301289"/>
            <a:ext cx="73152" cy="73152"/>
          </a:xfrm>
          <a:prstGeom prst="rect">
            <a:avLst/>
          </a:prstGeom>
          <a:solidFill>
            <a:srgbClr val="D93025"/>
          </a:solidFill>
          <a:ln/>
        </p:spPr>
      </p:sp>
      <p:sp>
        <p:nvSpPr>
          <p:cNvPr id="13" name="Text 11"/>
          <p:cNvSpPr/>
          <p:nvPr/>
        </p:nvSpPr>
        <p:spPr>
          <a:xfrm>
            <a:off x="900039" y="4255569"/>
            <a:ext cx="4846320" cy="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Enterprise licenses</a:t>
            </a:r>
            <a:endParaRPr lang="en-US" sz="1300" dirty="0"/>
          </a:p>
        </p:txBody>
      </p:sp>
      <p:sp>
        <p:nvSpPr>
          <p:cNvPr id="14" name="Text 12"/>
          <p:cNvSpPr/>
          <p:nvPr/>
        </p:nvSpPr>
        <p:spPr>
          <a:xfrm>
            <a:off x="900039" y="4484169"/>
            <a:ext cx="4846320" cy="0"/>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From internal mobility programs. Structurally stronger long-tail enterprise wedge.</a:t>
            </a:r>
            <a:endParaRPr lang="en-US" sz="1100" dirty="0"/>
          </a:p>
        </p:txBody>
      </p:sp>
      <p:sp>
        <p:nvSpPr>
          <p:cNvPr id="15" name="Shape 13"/>
          <p:cNvSpPr/>
          <p:nvPr/>
        </p:nvSpPr>
        <p:spPr>
          <a:xfrm>
            <a:off x="6020679" y="4301289"/>
            <a:ext cx="73152" cy="73152"/>
          </a:xfrm>
          <a:prstGeom prst="rect">
            <a:avLst/>
          </a:prstGeom>
          <a:solidFill>
            <a:srgbClr val="D93025"/>
          </a:solidFill>
          <a:ln/>
        </p:spPr>
      </p:sp>
      <p:sp>
        <p:nvSpPr>
          <p:cNvPr id="16" name="Text 14"/>
          <p:cNvSpPr/>
          <p:nvPr/>
        </p:nvSpPr>
        <p:spPr>
          <a:xfrm>
            <a:off x="6203559" y="4255569"/>
            <a:ext cx="4846320" cy="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Coach platform fees</a:t>
            </a:r>
            <a:endParaRPr lang="en-US" sz="1300" dirty="0"/>
          </a:p>
        </p:txBody>
      </p:sp>
      <p:sp>
        <p:nvSpPr>
          <p:cNvPr id="17" name="Text 15"/>
          <p:cNvSpPr/>
          <p:nvPr/>
        </p:nvSpPr>
        <p:spPr>
          <a:xfrm>
            <a:off x="6203559" y="4484169"/>
            <a:ext cx="4846320" cy="0"/>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As the format scales and structured discovery becomes a category.</a:t>
            </a:r>
            <a:endParaRPr lang="en-US" sz="1100" dirty="0"/>
          </a:p>
        </p:txBody>
      </p:sp>
      <p:sp>
        <p:nvSpPr>
          <p:cNvPr id="18" name="Text 16"/>
          <p:cNvSpPr/>
          <p:nvPr/>
        </p:nvSpPr>
        <p:spPr>
          <a:xfrm>
            <a:off x="717159" y="6316579"/>
            <a:ext cx="10757378" cy="0"/>
          </a:xfrm>
          <a:prstGeom prst="rect">
            <a:avLst/>
          </a:prstGeom>
          <a:noFill/>
          <a:ln/>
        </p:spPr>
        <p:txBody>
          <a:bodyPr wrap="square" rtlCol="0" anchor="ctr"/>
          <a:lstStyle/>
          <a:p>
            <a:pPr indent="0" marL="0">
              <a:buNone/>
            </a:pPr>
            <a:r>
              <a:rPr lang="en-US" sz="1400" i="1" dirty="0">
                <a:solidFill>
                  <a:srgbClr val="1A1A1A"/>
                </a:solidFill>
                <a:latin typeface="Calibri" pitchFamily="34" charset="0"/>
                <a:ea typeface="Calibri" pitchFamily="34" charset="-122"/>
                <a:cs typeface="Calibri" pitchFamily="34" charset="-120"/>
              </a:rPr>
              <a:t>Each surface monetizes the same primitive. The format is the moat. The revenue is the consequence.</a:t>
            </a:r>
            <a:endParaRPr lang="en-US" sz="1400" dirty="0"/>
          </a:p>
        </p:txBody>
      </p:sp>
      <p:sp>
        <p:nvSpPr>
          <p:cNvPr id="19" name="Text 17"/>
          <p:cNvSpPr/>
          <p:nvPr/>
        </p:nvSpPr>
        <p:spPr>
          <a:xfrm>
            <a:off x="717159" y="6533147"/>
            <a:ext cx="6858000" cy="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Lens</a:t>
            </a:r>
            <a:endParaRPr lang="en-US" sz="1000" dirty="0"/>
          </a:p>
        </p:txBody>
      </p:sp>
      <p:sp>
        <p:nvSpPr>
          <p:cNvPr id="20" name="Text 18"/>
          <p:cNvSpPr/>
          <p:nvPr/>
        </p:nvSpPr>
        <p:spPr>
          <a:xfrm>
            <a:off x="11017337" y="6533147"/>
            <a:ext cx="457200" cy="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15 / 18</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17159" y="649705"/>
            <a:ext cx="717159" cy="36095"/>
          </a:xfrm>
          <a:prstGeom prst="rect">
            <a:avLst/>
          </a:prstGeom>
          <a:solidFill>
            <a:srgbClr val="D93025"/>
          </a:solidFill>
          <a:ln/>
        </p:spPr>
      </p:sp>
      <p:sp>
        <p:nvSpPr>
          <p:cNvPr id="3" name="Text 1"/>
          <p:cNvSpPr/>
          <p:nvPr/>
        </p:nvSpPr>
        <p:spPr>
          <a:xfrm>
            <a:off x="717159" y="757989"/>
            <a:ext cx="6858000" cy="0"/>
          </a:xfrm>
          <a:prstGeom prst="rect">
            <a:avLst/>
          </a:prstGeom>
          <a:noFill/>
          <a:ln/>
        </p:spPr>
        <p:txBody>
          <a:bodyPr wrap="square" rtlCol="0" anchor="ctr"/>
          <a:lstStyle/>
          <a:p>
            <a:pPr indent="0" marL="0">
              <a:buNone/>
            </a:pPr>
            <a:r>
              <a:rPr lang="en-US" sz="1100" b="1" spc="100" kern="0" dirty="0">
                <a:solidFill>
                  <a:srgbClr val="D93025"/>
                </a:solidFill>
                <a:latin typeface="Calibri" pitchFamily="34" charset="0"/>
                <a:ea typeface="Calibri" pitchFamily="34" charset="-122"/>
                <a:cs typeface="Calibri" pitchFamily="34" charset="-120"/>
              </a:rPr>
              <a:t>HORIZON</a:t>
            </a:r>
            <a:endParaRPr lang="en-US" sz="1100" dirty="0"/>
          </a:p>
        </p:txBody>
      </p:sp>
      <p:sp>
        <p:nvSpPr>
          <p:cNvPr id="4" name="Text 2"/>
          <p:cNvSpPr/>
          <p:nvPr/>
        </p:nvSpPr>
        <p:spPr>
          <a:xfrm>
            <a:off x="717159" y="1804737"/>
            <a:ext cx="10757378" cy="0"/>
          </a:xfrm>
          <a:prstGeom prst="rect">
            <a:avLst/>
          </a:prstGeom>
          <a:noFill/>
          <a:ln/>
        </p:spPr>
        <p:txBody>
          <a:bodyPr wrap="square"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A labor market with a primary identity layer.</a:t>
            </a:r>
            <a:endParaRPr lang="en-US" sz="2200" dirty="0"/>
          </a:p>
        </p:txBody>
      </p:sp>
      <p:sp>
        <p:nvSpPr>
          <p:cNvPr id="5" name="Text 3"/>
          <p:cNvSpPr/>
          <p:nvPr/>
        </p:nvSpPr>
        <p:spPr>
          <a:xfrm>
            <a:off x="717159" y="2310063"/>
            <a:ext cx="10757378" cy="0"/>
          </a:xfrm>
          <a:prstGeom prst="rect">
            <a:avLst/>
          </a:prstGeom>
          <a:noFill/>
          <a:ln/>
        </p:spPr>
        <p:txBody>
          <a:bodyPr wrap="square" rtlCol="0" anchor="ctr"/>
          <a:lstStyle/>
          <a:p>
            <a:pPr indent="0" marL="0">
              <a:buNone/>
            </a:pPr>
            <a:r>
              <a:rPr lang="en-US" sz="1400" dirty="0">
                <a:solidFill>
                  <a:srgbClr val="444444"/>
                </a:solidFill>
                <a:latin typeface="Calibri" pitchFamily="34" charset="0"/>
                <a:ea typeface="Calibri" pitchFamily="34" charset="-122"/>
                <a:cs typeface="Calibri" pitchFamily="34" charset="-120"/>
              </a:rPr>
              <a:t>What changes when every working person owns their lens.</a:t>
            </a:r>
            <a:endParaRPr lang="en-US" sz="1400" dirty="0"/>
          </a:p>
        </p:txBody>
      </p:sp>
      <p:sp>
        <p:nvSpPr>
          <p:cNvPr id="6" name="Shape 4"/>
          <p:cNvSpPr/>
          <p:nvPr/>
        </p:nvSpPr>
        <p:spPr>
          <a:xfrm>
            <a:off x="717159" y="2815389"/>
            <a:ext cx="10757378" cy="0"/>
          </a:xfrm>
          <a:prstGeom prst="line">
            <a:avLst/>
          </a:prstGeom>
          <a:noFill/>
          <a:ln w="6350">
            <a:solidFill>
              <a:srgbClr val="1A1A1A"/>
            </a:solidFill>
            <a:prstDash val="solid"/>
          </a:ln>
        </p:spPr>
      </p:sp>
      <p:sp>
        <p:nvSpPr>
          <p:cNvPr id="7" name="Shape 5"/>
          <p:cNvSpPr/>
          <p:nvPr/>
        </p:nvSpPr>
        <p:spPr>
          <a:xfrm>
            <a:off x="717159" y="3248526"/>
            <a:ext cx="143432" cy="36095"/>
          </a:xfrm>
          <a:prstGeom prst="rect">
            <a:avLst/>
          </a:prstGeom>
          <a:solidFill>
            <a:srgbClr val="D93025"/>
          </a:solidFill>
          <a:ln/>
        </p:spPr>
      </p:sp>
      <p:sp>
        <p:nvSpPr>
          <p:cNvPr id="8" name="Text 6"/>
          <p:cNvSpPr/>
          <p:nvPr/>
        </p:nvSpPr>
        <p:spPr>
          <a:xfrm>
            <a:off x="945759" y="3157086"/>
            <a:ext cx="10528778" cy="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Hiring conversations begin from substance, not from a ten-second scan.</a:t>
            </a:r>
            <a:endParaRPr lang="en-US" sz="1400" dirty="0"/>
          </a:p>
        </p:txBody>
      </p:sp>
      <p:sp>
        <p:nvSpPr>
          <p:cNvPr id="9" name="Shape 7"/>
          <p:cNvSpPr/>
          <p:nvPr/>
        </p:nvSpPr>
        <p:spPr>
          <a:xfrm>
            <a:off x="717159" y="3753853"/>
            <a:ext cx="143432" cy="36095"/>
          </a:xfrm>
          <a:prstGeom prst="rect">
            <a:avLst/>
          </a:prstGeom>
          <a:solidFill>
            <a:srgbClr val="D93025"/>
          </a:solidFill>
          <a:ln/>
        </p:spPr>
      </p:sp>
      <p:sp>
        <p:nvSpPr>
          <p:cNvPr id="10" name="Text 8"/>
          <p:cNvSpPr/>
          <p:nvPr/>
        </p:nvSpPr>
        <p:spPr>
          <a:xfrm>
            <a:off x="945759" y="3662413"/>
            <a:ext cx="10528778" cy="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Internal mobility runs on identity, not on skills lists.</a:t>
            </a:r>
            <a:endParaRPr lang="en-US" sz="1400" dirty="0"/>
          </a:p>
        </p:txBody>
      </p:sp>
      <p:sp>
        <p:nvSpPr>
          <p:cNvPr id="11" name="Shape 9"/>
          <p:cNvSpPr/>
          <p:nvPr/>
        </p:nvSpPr>
        <p:spPr>
          <a:xfrm>
            <a:off x="717159" y="4259179"/>
            <a:ext cx="143432" cy="36095"/>
          </a:xfrm>
          <a:prstGeom prst="rect">
            <a:avLst/>
          </a:prstGeom>
          <a:solidFill>
            <a:srgbClr val="D93025"/>
          </a:solidFill>
          <a:ln/>
        </p:spPr>
      </p:sp>
      <p:sp>
        <p:nvSpPr>
          <p:cNvPr id="12" name="Text 10"/>
          <p:cNvSpPr/>
          <p:nvPr/>
        </p:nvSpPr>
        <p:spPr>
          <a:xfrm>
            <a:off x="945759" y="4167739"/>
            <a:ext cx="10528778" cy="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Mis-hires drop because the inputs finally include what determines fit.</a:t>
            </a:r>
            <a:endParaRPr lang="en-US" sz="1400" dirty="0"/>
          </a:p>
        </p:txBody>
      </p:sp>
      <p:sp>
        <p:nvSpPr>
          <p:cNvPr id="13" name="Shape 11"/>
          <p:cNvSpPr/>
          <p:nvPr/>
        </p:nvSpPr>
        <p:spPr>
          <a:xfrm>
            <a:off x="717159" y="4764505"/>
            <a:ext cx="143432" cy="36095"/>
          </a:xfrm>
          <a:prstGeom prst="rect">
            <a:avLst/>
          </a:prstGeom>
          <a:solidFill>
            <a:srgbClr val="D93025"/>
          </a:solidFill>
          <a:ln/>
        </p:spPr>
      </p:sp>
      <p:sp>
        <p:nvSpPr>
          <p:cNvPr id="14" name="Text 12"/>
          <p:cNvSpPr/>
          <p:nvPr/>
        </p:nvSpPr>
        <p:spPr>
          <a:xfrm>
            <a:off x="945759" y="4673065"/>
            <a:ext cx="10528778" cy="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Recruiters compete on judgment, not on parsing.</a:t>
            </a:r>
            <a:endParaRPr lang="en-US" sz="1400" dirty="0"/>
          </a:p>
        </p:txBody>
      </p:sp>
      <p:sp>
        <p:nvSpPr>
          <p:cNvPr id="15" name="Shape 13"/>
          <p:cNvSpPr/>
          <p:nvPr/>
        </p:nvSpPr>
        <p:spPr>
          <a:xfrm>
            <a:off x="717159" y="5269832"/>
            <a:ext cx="143432" cy="36095"/>
          </a:xfrm>
          <a:prstGeom prst="rect">
            <a:avLst/>
          </a:prstGeom>
          <a:solidFill>
            <a:srgbClr val="D93025"/>
          </a:solidFill>
          <a:ln/>
        </p:spPr>
      </p:sp>
      <p:sp>
        <p:nvSpPr>
          <p:cNvPr id="16" name="Text 14"/>
          <p:cNvSpPr/>
          <p:nvPr/>
        </p:nvSpPr>
        <p:spPr>
          <a:xfrm>
            <a:off x="945759" y="5178392"/>
            <a:ext cx="10528778" cy="0"/>
          </a:xfrm>
          <a:prstGeom prst="rect">
            <a:avLst/>
          </a:prstGeom>
          <a:noFill/>
          <a:ln/>
        </p:spPr>
        <p:txBody>
          <a:bodyPr wrap="square" rtlCol="0" anchor="ctr"/>
          <a:lstStyle/>
          <a:p>
            <a:pPr indent="0" marL="0">
              <a:buNone/>
            </a:pPr>
            <a:r>
              <a:rPr lang="en-US" sz="1400" dirty="0">
                <a:solidFill>
                  <a:srgbClr val="1A1A1A"/>
                </a:solidFill>
                <a:latin typeface="Calibri" pitchFamily="34" charset="0"/>
                <a:ea typeface="Calibri" pitchFamily="34" charset="-122"/>
                <a:cs typeface="Calibri" pitchFamily="34" charset="-120"/>
              </a:rPr>
              <a:t>Coaches and employers contribute to a record that compounds across a career.</a:t>
            </a:r>
            <a:endParaRPr lang="en-US" sz="1400" dirty="0"/>
          </a:p>
        </p:txBody>
      </p:sp>
      <p:sp>
        <p:nvSpPr>
          <p:cNvPr id="17" name="Shape 15"/>
          <p:cNvSpPr/>
          <p:nvPr/>
        </p:nvSpPr>
        <p:spPr>
          <a:xfrm>
            <a:off x="717159" y="5739063"/>
            <a:ext cx="10757378" cy="0"/>
          </a:xfrm>
          <a:prstGeom prst="line">
            <a:avLst/>
          </a:prstGeom>
          <a:noFill/>
          <a:ln w="6350">
            <a:solidFill>
              <a:srgbClr val="1A1A1A"/>
            </a:solidFill>
            <a:prstDash val="solid"/>
          </a:ln>
        </p:spPr>
      </p:sp>
      <p:sp>
        <p:nvSpPr>
          <p:cNvPr id="18" name="Text 16"/>
          <p:cNvSpPr/>
          <p:nvPr/>
        </p:nvSpPr>
        <p:spPr>
          <a:xfrm>
            <a:off x="717159" y="5991726"/>
            <a:ext cx="6858000" cy="0"/>
          </a:xfrm>
          <a:prstGeom prst="rect">
            <a:avLst/>
          </a:prstGeom>
          <a:noFill/>
          <a:ln/>
        </p:spPr>
        <p:txBody>
          <a:bodyPr wrap="square" rtlCol="0" anchor="ctr"/>
          <a:lstStyle/>
          <a:p>
            <a:pPr indent="0" marL="0">
              <a:buNone/>
            </a:pPr>
            <a:r>
              <a:rPr lang="en-US" sz="1400" i="1" dirty="0">
                <a:solidFill>
                  <a:srgbClr val="1A1A1A"/>
                </a:solidFill>
                <a:latin typeface="Calibri" pitchFamily="34" charset="0"/>
                <a:ea typeface="Calibri" pitchFamily="34" charset="-122"/>
                <a:cs typeface="Calibri" pitchFamily="34" charset="-120"/>
              </a:rPr>
              <a:t>This is what the labor market looks like in ten years.</a:t>
            </a:r>
            <a:endParaRPr lang="en-US" sz="1400" dirty="0"/>
          </a:p>
        </p:txBody>
      </p:sp>
      <p:sp>
        <p:nvSpPr>
          <p:cNvPr id="19" name="Text 17"/>
          <p:cNvSpPr/>
          <p:nvPr/>
        </p:nvSpPr>
        <p:spPr>
          <a:xfrm>
            <a:off x="717159" y="6352674"/>
            <a:ext cx="6858000" cy="0"/>
          </a:xfrm>
          <a:prstGeom prst="rect">
            <a:avLst/>
          </a:prstGeom>
          <a:noFill/>
          <a:ln/>
        </p:spPr>
        <p:txBody>
          <a:bodyPr wrap="square" rtlCol="0" anchor="ctr"/>
          <a:lstStyle/>
          <a:p>
            <a:pPr indent="0" marL="0">
              <a:buNone/>
            </a:pPr>
            <a:r>
              <a:rPr lang="en-US" sz="1400" b="1" i="1" dirty="0">
                <a:solidFill>
                  <a:srgbClr val="D93025"/>
                </a:solidFill>
                <a:latin typeface="Calibri" pitchFamily="34" charset="0"/>
                <a:ea typeface="Calibri" pitchFamily="34" charset="-122"/>
                <a:cs typeface="Calibri" pitchFamily="34" charset="-120"/>
              </a:rPr>
              <a:t>The question is who builds the primitive.</a:t>
            </a:r>
            <a:endParaRPr lang="en-US" sz="1400" dirty="0"/>
          </a:p>
        </p:txBody>
      </p:sp>
      <p:sp>
        <p:nvSpPr>
          <p:cNvPr id="20" name="Text 18"/>
          <p:cNvSpPr/>
          <p:nvPr/>
        </p:nvSpPr>
        <p:spPr>
          <a:xfrm>
            <a:off x="11017337" y="6533147"/>
            <a:ext cx="457200" cy="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16 / 18</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717159" y="649705"/>
            <a:ext cx="717159" cy="36095"/>
          </a:xfrm>
          <a:prstGeom prst="rect">
            <a:avLst/>
          </a:prstGeom>
          <a:solidFill>
            <a:srgbClr val="D93025"/>
          </a:solidFill>
          <a:ln/>
        </p:spPr>
      </p:sp>
      <p:sp>
        <p:nvSpPr>
          <p:cNvPr id="3" name="Text 1"/>
          <p:cNvSpPr/>
          <p:nvPr/>
        </p:nvSpPr>
        <p:spPr>
          <a:xfrm>
            <a:off x="717159" y="757989"/>
            <a:ext cx="6858000" cy="0"/>
          </a:xfrm>
          <a:prstGeom prst="rect">
            <a:avLst/>
          </a:prstGeom>
          <a:noFill/>
          <a:ln/>
        </p:spPr>
        <p:txBody>
          <a:bodyPr wrap="square" rtlCol="0" anchor="ctr"/>
          <a:lstStyle/>
          <a:p>
            <a:pPr indent="0" marL="0">
              <a:buNone/>
            </a:pPr>
            <a:r>
              <a:rPr lang="en-US" sz="1100" b="1" spc="100" kern="0" dirty="0">
                <a:solidFill>
                  <a:srgbClr val="D93025"/>
                </a:solidFill>
                <a:latin typeface="Calibri" pitchFamily="34" charset="0"/>
                <a:ea typeface="Calibri" pitchFamily="34" charset="-122"/>
                <a:cs typeface="Calibri" pitchFamily="34" charset="-120"/>
              </a:rPr>
              <a:t>ASK</a:t>
            </a:r>
            <a:endParaRPr lang="en-US" sz="1100" dirty="0"/>
          </a:p>
        </p:txBody>
      </p:sp>
      <p:sp>
        <p:nvSpPr>
          <p:cNvPr id="4" name="Text 2"/>
          <p:cNvSpPr/>
          <p:nvPr/>
        </p:nvSpPr>
        <p:spPr>
          <a:xfrm>
            <a:off x="717159" y="1804737"/>
            <a:ext cx="10757378" cy="0"/>
          </a:xfrm>
          <a:prstGeom prst="rect">
            <a:avLst/>
          </a:prstGeom>
          <a:noFill/>
          <a:ln/>
        </p:spPr>
        <p:txBody>
          <a:bodyPr wrap="square"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Raising [AMOUNT] to build the protocol and accumulate the format precedent.</a:t>
            </a:r>
            <a:endParaRPr lang="en-US" sz="2200" dirty="0"/>
          </a:p>
        </p:txBody>
      </p:sp>
      <p:sp>
        <p:nvSpPr>
          <p:cNvPr id="5" name="Text 3"/>
          <p:cNvSpPr/>
          <p:nvPr/>
        </p:nvSpPr>
        <p:spPr>
          <a:xfrm>
            <a:off x="717159" y="2526632"/>
            <a:ext cx="10757378" cy="0"/>
          </a:xfrm>
          <a:prstGeom prst="rect">
            <a:avLst/>
          </a:prstGeom>
          <a:noFill/>
          <a:ln/>
        </p:spPr>
        <p:txBody>
          <a:bodyPr wrap="square" rtlCol="0" anchor="ctr"/>
          <a:lstStyle/>
          <a:p>
            <a:pPr indent="0" marL="0">
              <a:buNone/>
            </a:pPr>
            <a:r>
              <a:rPr lang="en-US" sz="1400" dirty="0">
                <a:solidFill>
                  <a:srgbClr val="444444"/>
                </a:solidFill>
                <a:latin typeface="Calibri" pitchFamily="34" charset="0"/>
                <a:ea typeface="Calibri" pitchFamily="34" charset="-122"/>
                <a:cs typeface="Calibri" pitchFamily="34" charset="-120"/>
              </a:rPr>
              <a:t>[12–18 months] to [milestone].</a:t>
            </a:r>
            <a:endParaRPr lang="en-US" sz="1400" dirty="0"/>
          </a:p>
        </p:txBody>
      </p:sp>
      <p:sp>
        <p:nvSpPr>
          <p:cNvPr id="6" name="Text 4"/>
          <p:cNvSpPr/>
          <p:nvPr/>
        </p:nvSpPr>
        <p:spPr>
          <a:xfrm>
            <a:off x="717159" y="3248526"/>
            <a:ext cx="6858000" cy="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Use of funds</a:t>
            </a:r>
            <a:endParaRPr lang="en-US" sz="1400" dirty="0"/>
          </a:p>
        </p:txBody>
      </p:sp>
      <p:sp>
        <p:nvSpPr>
          <p:cNvPr id="7" name="Text 5"/>
          <p:cNvSpPr/>
          <p:nvPr/>
        </p:nvSpPr>
        <p:spPr>
          <a:xfrm>
            <a:off x="717159" y="3609474"/>
            <a:ext cx="10757378" cy="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Protocol build (intake + scoring + artifact format), CA channel validation (premium and volume), research credibility (NSF SBIR submission, peer-reviewed publication), nonprovisional patent conversion.</a:t>
            </a:r>
            <a:endParaRPr lang="en-US" sz="1200" dirty="0"/>
          </a:p>
        </p:txBody>
      </p:sp>
      <p:sp>
        <p:nvSpPr>
          <p:cNvPr id="8" name="Text 6"/>
          <p:cNvSpPr/>
          <p:nvPr/>
        </p:nvSpPr>
        <p:spPr>
          <a:xfrm>
            <a:off x="717159" y="4511842"/>
            <a:ext cx="6858000" cy="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Milestones, 18 months out</a:t>
            </a:r>
            <a:endParaRPr lang="en-US" sz="1400" dirty="0"/>
          </a:p>
        </p:txBody>
      </p:sp>
      <p:sp>
        <p:nvSpPr>
          <p:cNvPr id="9" name="Text 7"/>
          <p:cNvSpPr/>
          <p:nvPr/>
        </p:nvSpPr>
        <p:spPr>
          <a:xfrm>
            <a:off x="717159" y="4872789"/>
            <a:ext cx="10757378" cy="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[N] holders with active lenses; [N] retained boutique CAs signing under contract; [N] internal mobility pilots; nonprovisional patent issued; SBIR Phase I awarded.</a:t>
            </a:r>
            <a:endParaRPr lang="en-US" sz="1200" dirty="0"/>
          </a:p>
        </p:txBody>
      </p:sp>
      <p:sp>
        <p:nvSpPr>
          <p:cNvPr id="10" name="Text 8"/>
          <p:cNvSpPr/>
          <p:nvPr/>
        </p:nvSpPr>
        <p:spPr>
          <a:xfrm>
            <a:off x="717159" y="5775158"/>
            <a:ext cx="6858000" cy="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Lead investor profile</a:t>
            </a:r>
            <a:endParaRPr lang="en-US" sz="1400" dirty="0"/>
          </a:p>
        </p:txBody>
      </p:sp>
      <p:sp>
        <p:nvSpPr>
          <p:cNvPr id="11" name="Text 9"/>
          <p:cNvSpPr/>
          <p:nvPr/>
        </p:nvSpPr>
        <p:spPr>
          <a:xfrm>
            <a:off x="717159" y="6136105"/>
            <a:ext cx="10757378" cy="0"/>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Vision-stage capital comfortable with primitive-stage builds. Comfortable with format precedent as a moat. Comfortable with the holder-CA two-sided architecture taking time to compound.</a:t>
            </a:r>
            <a:endParaRPr lang="en-US" sz="1200" dirty="0"/>
          </a:p>
        </p:txBody>
      </p:sp>
      <p:sp>
        <p:nvSpPr>
          <p:cNvPr id="12" name="Text 10"/>
          <p:cNvSpPr/>
          <p:nvPr/>
        </p:nvSpPr>
        <p:spPr>
          <a:xfrm>
            <a:off x="717159" y="6533147"/>
            <a:ext cx="6858000" cy="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Lens</a:t>
            </a:r>
            <a:endParaRPr lang="en-US" sz="1000" dirty="0"/>
          </a:p>
        </p:txBody>
      </p:sp>
      <p:sp>
        <p:nvSpPr>
          <p:cNvPr id="13" name="Text 11"/>
          <p:cNvSpPr/>
          <p:nvPr/>
        </p:nvSpPr>
        <p:spPr>
          <a:xfrm>
            <a:off x="11017337" y="6533147"/>
            <a:ext cx="457200" cy="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17 / 18</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17159" y="2286000"/>
            <a:ext cx="10757378" cy="0"/>
          </a:xfrm>
          <a:prstGeom prst="rect">
            <a:avLst/>
          </a:prstGeom>
          <a:noFill/>
          <a:ln/>
        </p:spPr>
        <p:txBody>
          <a:bodyPr wrap="square" rtlCol="0" anchor="ctr"/>
          <a:lstStyle/>
          <a:p>
            <a:pPr indent="0" marL="0">
              <a:buNone/>
            </a:pPr>
            <a:r>
              <a:rPr lang="en-US" sz="4800" b="1" dirty="0">
                <a:solidFill>
                  <a:srgbClr val="1A1A1A"/>
                </a:solidFill>
                <a:latin typeface="Calibri" pitchFamily="34" charset="0"/>
                <a:ea typeface="Calibri" pitchFamily="34" charset="-122"/>
                <a:cs typeface="Calibri" pitchFamily="34" charset="-120"/>
              </a:rPr>
              <a:t>Lens.</a:t>
            </a:r>
            <a:endParaRPr lang="en-US" sz="4800" dirty="0"/>
          </a:p>
        </p:txBody>
      </p:sp>
      <p:sp>
        <p:nvSpPr>
          <p:cNvPr id="3" name="Shape 1"/>
          <p:cNvSpPr/>
          <p:nvPr/>
        </p:nvSpPr>
        <p:spPr>
          <a:xfrm>
            <a:off x="717159" y="3017520"/>
            <a:ext cx="1828800" cy="0"/>
          </a:xfrm>
          <a:prstGeom prst="line">
            <a:avLst/>
          </a:prstGeom>
          <a:noFill/>
          <a:ln w="6350">
            <a:solidFill>
              <a:srgbClr val="1A1A1A"/>
            </a:solidFill>
            <a:prstDash val="solid"/>
          </a:ln>
        </p:spPr>
      </p:sp>
      <p:sp>
        <p:nvSpPr>
          <p:cNvPr id="4" name="Text 2"/>
          <p:cNvSpPr/>
          <p:nvPr/>
        </p:nvSpPr>
        <p:spPr>
          <a:xfrm>
            <a:off x="717159" y="3200400"/>
            <a:ext cx="10757378" cy="0"/>
          </a:xfrm>
          <a:prstGeom prst="rect">
            <a:avLst/>
          </a:prstGeom>
          <a:noFill/>
          <a:ln/>
        </p:spPr>
        <p:txBody>
          <a:bodyPr wrap="square" rtlCol="0" anchor="ctr"/>
          <a:lstStyle/>
          <a:p>
            <a:pPr indent="0" marL="0">
              <a:buNone/>
            </a:pPr>
            <a:r>
              <a:rPr lang="en-US" sz="1800" dirty="0">
                <a:solidFill>
                  <a:srgbClr val="444444"/>
                </a:solidFill>
                <a:latin typeface="Calibri" pitchFamily="34" charset="0"/>
                <a:ea typeface="Calibri" pitchFamily="34" charset="-122"/>
                <a:cs typeface="Calibri" pitchFamily="34" charset="-120"/>
              </a:rPr>
              <a:t>Professional identity, owned by the person.</a:t>
            </a:r>
            <a:endParaRPr lang="en-US" sz="1800" dirty="0"/>
          </a:p>
        </p:txBody>
      </p:sp>
      <p:sp>
        <p:nvSpPr>
          <p:cNvPr id="5" name="Text 3"/>
          <p:cNvSpPr/>
          <p:nvPr/>
        </p:nvSpPr>
        <p:spPr>
          <a:xfrm>
            <a:off x="717159" y="3657600"/>
            <a:ext cx="10757378" cy="0"/>
          </a:xfrm>
          <a:prstGeom prst="rect">
            <a:avLst/>
          </a:prstGeom>
          <a:noFill/>
          <a:ln/>
        </p:spPr>
        <p:txBody>
          <a:bodyPr wrap="square" rtlCol="0" anchor="ctr"/>
          <a:lstStyle/>
          <a:p>
            <a:pPr indent="0" marL="0">
              <a:buNone/>
            </a:pPr>
            <a:r>
              <a:rPr lang="en-US" sz="1400" i="1" dirty="0">
                <a:solidFill>
                  <a:srgbClr val="D93025"/>
                </a:solidFill>
                <a:latin typeface="Calibri" pitchFamily="34" charset="0"/>
                <a:ea typeface="Calibri" pitchFamily="34" charset="-122"/>
                <a:cs typeface="Calibri" pitchFamily="34" charset="-120"/>
              </a:rPr>
              <a:t>The primitive the labor market has been missing.</a:t>
            </a:r>
            <a:endParaRPr lang="en-US" sz="1400" dirty="0"/>
          </a:p>
        </p:txBody>
      </p:sp>
      <p:sp>
        <p:nvSpPr>
          <p:cNvPr id="6" name="Text 4"/>
          <p:cNvSpPr/>
          <p:nvPr/>
        </p:nvSpPr>
        <p:spPr>
          <a:xfrm>
            <a:off x="717159" y="6533147"/>
            <a:ext cx="6858000" cy="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Lens</a:t>
            </a:r>
            <a:endParaRPr lang="en-US" sz="1000" dirty="0"/>
          </a:p>
        </p:txBody>
      </p:sp>
      <p:sp>
        <p:nvSpPr>
          <p:cNvPr id="7" name="Text 5"/>
          <p:cNvSpPr/>
          <p:nvPr/>
        </p:nvSpPr>
        <p:spPr>
          <a:xfrm>
            <a:off x="11017337" y="6533147"/>
            <a:ext cx="457200" cy="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18 / 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Zelman Labs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Lens — Investor Pitch (Thesis-as-Hero)</dc:title>
  <dc:subject>Professional identity, owned by the person</dc:subject>
  <dc:creator>Eric Zelman</dc:creator>
  <cp:lastModifiedBy>Eric Zelman</cp:lastModifiedBy>
  <cp:revision>1</cp:revision>
  <dcterms:created xsi:type="dcterms:W3CDTF">2026-04-28T20:57:53Z</dcterms:created>
  <dcterms:modified xsi:type="dcterms:W3CDTF">2026-04-28T20:57:53Z</dcterms:modified>
</cp:coreProperties>
</file>