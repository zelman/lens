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 built a system to find my next job. It works so well that the system itself became the product.'
Key points to hit:
- This started as a personal job search tool, not a startup idea. The product is the proof of concept.
- The one-liner on screen IS the pitch. Read it once, let it land.
- 'Patent filing this week' - mention you have a 14-page provisional with 10 claims ready to file.
- 'Zero-funded competitor IP' - Jack &amp; Jill raised $20M and filed zero patents. That's your opening.
Don't linger here. This slide sets the frame. Move to slide 2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 Three stats, each tells a different story:
74% false positives: 'In my own job search pipeline, 3 out of 4 matches from keyword-based scoring were wrong. I was getting alerts for roles that looked right on paper but were completely wrong for who I actually am. That's the problem with keyword matching - it can't see values, energy, or work style.'
85% filled through networks: 'The roles I actually want - founding CS leadership at early-stage companies - never hit job boards. They're filled through founder networks. The current system doesn't even surface the right opportunities.'
$0 coaching ROI: 'I spent $2,000+ on career coaching with James Pratt. It was transformative. But when someone asks what I got for that money, there's no artifact, no document, no measurable output. The clarity is real but invisible. What if coaching produced a functional document that drove automated matching? Then the ROI becomes traceable.'
PAUSE after this slide. Let the audience sit with the problem before you show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IS - The concept slide. Keep it simple.
'A lens is not a resume. A resume is a keyword-optimized version of your work history that you rewrite for every application. A lens is a structured identity document - it captures who you actually are. Your values, your energy patterns, how you work, what fills you, what drains you.'
'The lens is produced through a guided discovery conversation - either with an AI or with a career coach whose methodology has been encoded into the system. Takes 25-45 minutes. Most people say it's the most honest career conversation they've ever had.'
'Then the lens goes to work. It governs an automated scoring pipeline that evaluates every opportunity against your identity signals. You get a daily briefing, not a job alert. The briefing tells you WHY each match scored the way it did.'
'Indelible' - use this word. 'The version of you that persists across roles, industries, and life stages. Your titles change. Your skills evolve. Your essence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INNOVATION - This is the slide that makes people lean forward.
'Every existing system scores in one direction - the company evaluates the candidate, or the candidate searches for jobs. We score in BOTH directions with DIFFERENT dimensions.'
Point to the left column: 'The candidate asks: does this opportunity fit ME? Scored on mission, role, culture, skill, work style, energy.'
Point to the right column: 'The company asks: does this person fit US? Scored on builder orientation, relational fit, domain fluency, values alignment, work style compatibility, energy match.'
'Notice these are DIFFERENT dimensions. That's the key insight - the two sides ask different questions, so they need different scoring systems. We call this asymmetric matching.'
'The output is two independent scores plus a Mutual Fit composite, plus a Match Report that explains exactly which signals align, which create tension, and what interview questions to ask about the tensions.'
IF SOMEONE ASKS FOR A DEMO: 'The Role Lens Scorer is deployed on Vercel right now. I can show you a live score.' Have the URL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DIFFERENTIATION - Walk through the table row by row, but spend the most time on the last two rows.
'ATS systems like Greenhouse and Lever are pipeline tools. They manage workflow. They don't match on identity signals. No patents on matching methods.'
'DISC and StrengthsFinder produce trait inventories - they tell you what type you are, but they don't connect to job matching at all. Gallup protects CliftonStrengths through copyright, not patents.'
'Jack &amp; Jill is our closest functional competitor. $20M seed from Creandum. They do a 10-20 minute AI interview and recommend jobs. But their matching is symmetric - same features both directions. No structured identity document. No feedback loop. No drift detection. And critically - ZERO patent filings. We searched.'
PUNCH LINE: 'We're filing a provisional patent this week with 10 claims covering three independent methods. Our best-funded competitor has $20M and no IP protection. That's our window.'
Anticipate the question: 'How do you know they haven't filed?' Answer: 'We searched Google Patents, USPTO, and Justia. The team member with 5 patents got them at PolyAI for conversational AI voice agents - unrelated to job matching.'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 Three numbers, don't overcomplicate.
TAM $35.2B: 'The digital talent acquisition market in 2026, growing at 12% per year. This is the full market for technology that connects people to jobs. Source: Business Research Insights.'
SAM $4.2B: 'Coaching platforms specifically - the intersection of coaching and technology. This is where we enter because our distribution is coach-as-channel. Source: Future Market Insights.'
SOM $12M: 'Our year 3 target. 1,000 subscribers at $50/month, 10 coach partners with revenue share, and 3 enterprise pilots. This is achievable with the bootstrapping path on the next slides.'
THREE ENTRY POINTS: 'We're not picking one market. We have three simultaneous entry points that reinforce each other. Job seekers generate data. Coaches improve lens quality. Enterprise pays the highest per-seat revenue. The flywheel connects all three.'
The 167K coaches number is from ICF 2025 Global Coaching Study. The 72% using AI is from GM Insights 2025 TA Software report. Have sources ready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 Walk through the table by stream, not by year.
B2C: '$50/month subscription. That's less than a single hour of career coaching. For that, you get daily scored briefings personalized to your identity signals. Year 1 target is 50 subscribers - that's achievable through Todd's network and James's referrals alone.'
Coach Channel: 'Coaches earn revenue share on every subscriber they refer or who uses their persona. A coach with 50 clients who converts 20 to the platform generates $12K/year in passive income for the coach and $12K for us. At 10 coaches, that's $180K.'
Enterprise: 'This is where the real money is. Per-seat licensing for bidirectional matching. $200-500/month per seat. A company with 50 hiring managers paying $300/seat is $180K/year from one client. Year 1 is pilot-only, but by Year 3 with 5 enterprise clients, this stream alone is $420K.'
UNIT ECONOMICS: '$50/month sub costs us about $3/month in API calls to Claude. That's 94% gross margin. This is a software business, not a services business.'
IF ASKED about churn: 'Passive monitoring is the retention engine. The lens scores opportunities continuously even when you're not actively looking. That's why you keep paying.'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BOOTSTRAPPING - This is the 'I don't need your money' slide. It's the most powerful thing you can say to an investor.
'I can reach revenue without raising a dollar. Here's the path.'
NOW: 'The free tool is built. The patent is ready to file. Testing is active with Nathan and James. Cost: zero.'
Q2: 'First paid subscribers. My only cost is API calls - about $200/month at 50 subscribers. Todd's network provides warm referrals. James's coaching persona goes live as the first channel.'
Q3: 'Two coach partners generating referral revenue. Enterprise demos using the live Role Lens Scorer on Vercel. Content marketing on LinkedIn using the Lens for Beginners doc.'
Q4: 'Seed-ready. 100+ subscribers, real retention data, 2+ coaches proving the channel model, at least one enterprise pilot. Data flywheel producing measurable scoring improvements.'
BREAKEVEN LINE: '100 subscribers at $50/month = $5K/month. My costs at that scale are about $1K/month. That's breakeven. No seed required.'
THEN PIVOT: 'So why raise? Because seed capital compresses this timeline by 12 months. Instead of reaching 100 subs in Q4, I reach 500 in Q3 with a full-time engineer and a coach acquisition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LAYERS - Quick walkthrough, don't dwell. This slide is architecture, not story.
FREE: 'Anyone can build a lens for free. That's the top of the funnel. The discovery process is the product demo.'
$50/MO: 'The lens connects to a scoring pipeline. You get daily briefings with scored matches. This is where the free-to-paid conversion happens.'
B2B2C: 'Coaches bring their own clients and their own methodology. They earn revenue share. They improve lens quality. This is distribution and quality moat in one.'
ENTERPRISE: 'Companies create role lenses. Candidate lenses and role lenses are scored against each other. The output is a Match Report with interview questions. This is the highest-revenue tier.'
Key insight for the audience: 'Each layer feeds the one below it. Free users generate data. Data improves scoring. Better scoring attracts coaches. Coaches bring enterprise 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DEFENSIBILITY - The feedback loop. This is the technical moat.
Level 1: 'Every time you pursue or skip a match, the system adjusts your personal scoring weights. The learning rate is slow by design - 0.02 - so no single impulsive decision distorts the model. After 100+ signals, your weights have visibly shifted to reflect what you actually value, not just what you said in discovery.'
Level 2: 'If you keep pursuing matches that trigger a disqualifier, the system suggests relaxing it. If you keep skipping matches that pass all gates, it suggests adding a new filter. The system learns your gates, not just your weights.'
Level 3: 'Anonymized patterns across all users improve scoring for everyone. This is the data flywheel. It's what makes the business investable.'
DRIFT DETECTION - This is the novel piece: 'Most recommender systems detect preference drift and silently adjust. We detect drift and SHOW it to you. Side-by-side comparison: your lens says Mission is your top priority, but your actions say Culture matters more. Three options: update your lens, keep it as-is, or mark this period as exploratory. The system never overrides you.'
BE HONEST: 'The feedback loop is fully specified but not yet running in production. The spec is 3,500 words with algorithms, data schemas, and worked examples. It's in the patent application. Implementation is Phase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 The coach channel. This is the moat investors care about.
'167,000 active career coaches worldwide generating $5.3 billion in revenue. Average 12-13 clients per coach. We give them something no platform gives them: a concrete, functional artifact that proves their coaching ROI.'
'When a coach facilitates the discovery process, the lens is measurably better - more nuanced signals, fewer false positives in scoring, higher user satisfaction. Self-serve AI can ask the questions. A coach-trained AI asks better ones because it pushes past comfortable answers.'
'This means coaches get MORE valuable as AI improves, not less. That's the pitch to coaches.'
'Growth flywheel: More coaches means more users. More users means better data. Better data means better lenses. Better lenses attract more coaches.'
James Pratt is the proof of concept. His methodology (Be-Have-Do, Authentic Presence, IAM Model) is encoded as an AI persona. Nathan Fierley is actively testing it. The persona works - the question is whether it scales to 10 coaches, then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EXPANSION - 'The lens is a platform, not a feature.' Say this line.
'The core architecture - identity document governs scoring, bidirectional asymmetric matching, feedback loop with drift detection - is domain-agnostic. Job matching is where we start, but the same system works everywhere two parties need to evaluate fit.'
Don't go deep on all five. Pick the two most relevant to your audience:
For INVESTORS: Lead with Internal Mobility ($3-4B) and Corporate Outplacement ($2B). These are enterprise revenue plays with clear buyers.
For COACHES: Lead with Coach-Client Matching ($5.3B). 'Imagine if you could score potential clients against your coaching style before the intro call.'
For NATHAN: Lead with Founder-Investor and Team Composition. These are the product-builder expansion paths.
Key line: 'All five expansion markets are covered in the provisional patent application. We're not just talking about these - we've claimed them.'
Don't promise a timeline on expansion. These are year 3+ opportunities. The point is to show that the architecture is a platform, not a single-use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TRACTION - Be honest about what's running vs. specified. The color coding does this for you.
GREEN = RUNNING: 'Four components are live and operational right now. The intake form, the Role Lens Scorer on Vercel, the Candidate Lens Scorer that's been running my own job search for 4+ months, and the n8n scoring pipeline processing job alerts and VC portfolios daily.'
BLUE = SPECIFIED: 'Two components have detailed engineering specifications but aren't implemented as code yet. The bidirectional matching system has a 4,000-word spec with role lens schema, matching algorithm, worked examples. The feedback loop has a 3,500-word spec with signal taxonomy, weight adjustment algorithm, decay functions, data schemas. Both are in the patent application.'
GRAY = DONE: 'IP framework is complete. Patent application drafted, prior art searched, competitive landscape documented, NDAs signed.'
IF ASKED 'what's not built?': Be direct. 'The feedback loop (signal decay, weight adjustment, drift detection) is fully specified but has zero lines of running code. The bidirectional matching algorithm is specified; the Role Lens Scorer implements the R-to-C direction but the full bidirectional system with Match Reports isn't wired up. I'm being transparent about this because I want investors who understand what's proven vs. what's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 - This slide exists because of what we found in the competitive search.
'We searched every competitor's patent filings. Greenhouse: none on matching. Lever: none. Gallup: copyright only, no patents. Jack &amp; Jill: zero filings despite $20M in funding. Korn Ferry has the closest patent - a 2019 filing for a four-category fit score - but it's unidirectional, uses a fixed questionnaire, and has no feedback loop. Distinguishable on method, direction, and adaptivity.'
'Our provisional patent has 10 claims covering three independent methods: the identity document as scoring governance, asymmetric bidirectional matching with structured LLM scoring, and transparent preference drift detection with user-controlled response.'
'We also completed a general prior art search. Six relevant patents, two academic publications. None cover our specific combination of coaching-derived identity documents, asymmetric dimensions, and transparent drift detection.'
IF ASKED about Alice risk: 'Yes, software method patents face the Alice test. Our defense is the technical implementation: strict YAML schemas, constrained LLM prompts with defined JSON output schemas, gate logic in code not in prompts, and a measurable false-positive reduction from 74% to below 15%. The attorney will evaluate this, but we believe the specificity of the implementation survives Alice.'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 Present BOTH paths. Let the investor choose which conversation to have.
BOOTSTRAP: 'I can reach breakeven at about 100 subscribers. Total investment to get there is under $5K in API costs and hosting. No seed required. This path takes about 9 months to reach revenue.'
SEED: 'With $750K, I compress the timeline by 12 months. I hire a full-stack engineer immediately, run a coach acquisition program, and reach 500 subscribers by month 18 instead of 100. The extra capital buys speed, not survival.'
This framing matters. You're saying: 'I'm going to build this regardless. Your money makes it faster, not possible.' That's the strongest position a founder can be in.
IF THEY ASK about valuation: 'I'm open to discussing terms. The key data points are: patent-pending IP that no competitor has, a working product with 4+ months of operational scoring data, and a $35B TAM with three entry points. I'd benchmark against Jack &amp; Jill's $20M seed at whatever their post-money was, adjusted for our earlier stage and stronger IP position.'
IF THEY'RE NOT READY TO INVEST: 'Would you be open to an advisory role? I'm looking for people who can make introductions to enterprise HR leaders or coaching network operators.'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GTM - Quick pass through four phases. Don't repeat what's on the bootstrap slide.
NOW: 'We're in validation. Nathan is testing the coaching persona. James is engaged as the first coach partner. Patent files this week.'
Q2: 'Free tool goes live. New domain (not yet registered - we need to pick one). Email waitlist for the paid product. Content marketing starts with the Lens for Beginners doc on LinkedIn.'
Q3: 'Paid product launches at $50/month. Daily scored briefings via the n8n pipeline. First 50 subscribers. Two coach partners live with revenue share agreements.'
Q4+: 'Scale. Enterprise demos with the Role Lens Scorer. Expand to 5+ coaches. Seed raise on demonstrated traction.'
The key message: 'Every phase has a concrete deliverable and a measurable milestone. This isn't a roadmap of ideas - it's a sequence of builds with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 Be direct about being a solo founder. Don't apologize for it.
'I built the entire system you've seen - the intake form, both scorers, the n8n pipeline, the patent application, the coaching persona framework. I'm a builder, not just a leader.'
'My background is 15 years of Customer Success and Support leadership at B2B SaaS companies. I built the global support organization at Bigtincan from zero. That experience is directly relevant because the Lens Project is fundamentally a customer success problem - helping people find the right fit and stay there.'
'I'm not alone. Todd Gerspach has an extensive C-level network and proposed the freemium GTM model. James Pratt is the first coach partner with methodology already encoded. Nathan Fierley is a potential co-builder actively testing the product.'
IF ASKED 'do you need a technical co-founder?': 'I've built everything so far with Claude Code, n8n, and Vercel - no traditional engineering stack required. For scale, yes, I'll need a full-stack engineer. That's the first hire in the seed plan. But the product architecture is proven and the patent is filed. The technical risk is execution speed, not feasibility.'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Don't rush this. Let the four proof points on screen do the work.
Working product. Provisional patent. Three revenue streams. $35B TAM.
Then one sentence: 'The personal system that powers my own job search is the product. I know it works because I use it every day. The question is whether we scale it for everyone.'
PAUSE. Let them ask the first question.
MOST LIKELY QUESTIONS:
- 'How do you acquire your first 100 users?' Answer: Todd's C-level network, James's coaching clients, LinkedIn content marketing with the Beginners doc, and the free tool as the top of funnel.
- 'What's your unfair advantage?' Answer: The patent covers the method. The coach channel covers distribution. The feedback loop covers retention. A competitor would need all three.
- 'Why now?' Answer: LLMs just became good enough to score identity signals (not just keywords). The coaching industry is $5.3B and growing 17% annually. Jack &amp; Jill proved market timing with 50K users in year one but left the IP door wide open.
- 'Can I try it?' Answer: Yes. The discovery form and the Role Lens Scorer are both live right now. I'll send you links after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angle">
            <a:avLst/>
          </a:prstGeom>
          <a:solidFill>
            <a:srgbClr val="D93025"/>
          </a:solidFill>
          <a:ln/>
        </p:spPr>
      </p:sp>
      <p:sp>
        <p:nvSpPr>
          <p:cNvPr id="3" name="Text 1"/>
          <p:cNvSpPr/>
          <p:nvPr/>
        </p:nvSpPr>
        <p:spPr>
          <a:xfrm>
            <a:off x="548640" y="1280160"/>
            <a:ext cx="7315200" cy="1097280"/>
          </a:xfrm>
          <a:prstGeom prst="rect">
            <a:avLst/>
          </a:prstGeom>
          <a:noFill/>
          <a:ln/>
        </p:spPr>
        <p:txBody>
          <a:bodyPr wrap="square" lIns="0" tIns="0" rIns="0" bIns="0" rtlCol="0" anchor="ctr"/>
          <a:lstStyle/>
          <a:p>
            <a:pPr indent="0" marL="0">
              <a:buNone/>
            </a:pPr>
            <a:r>
              <a:rPr lang="en-US" sz="4400" b="1" dirty="0">
                <a:solidFill>
                  <a:srgbClr val="1A1A1A"/>
                </a:solidFill>
                <a:latin typeface="Helvetica Neue" pitchFamily="34" charset="0"/>
                <a:ea typeface="Helvetica Neue" pitchFamily="34" charset="-122"/>
                <a:cs typeface="Helvetica Neue" pitchFamily="34" charset="-120"/>
              </a:rPr>
              <a:t>Lens Project</a:t>
            </a:r>
            <a:endParaRPr lang="en-US" sz="4400" dirty="0"/>
          </a:p>
        </p:txBody>
      </p:sp>
      <p:sp>
        <p:nvSpPr>
          <p:cNvPr id="4" name="Text 2"/>
          <p:cNvSpPr/>
          <p:nvPr/>
        </p:nvSpPr>
        <p:spPr>
          <a:xfrm>
            <a:off x="548640" y="2286000"/>
            <a:ext cx="7315200" cy="640080"/>
          </a:xfrm>
          <a:prstGeom prst="rect">
            <a:avLst/>
          </a:prstGeom>
          <a:noFill/>
          <a:ln/>
        </p:spPr>
        <p:txBody>
          <a:bodyPr wrap="square" lIns="0" tIns="0" rIns="0" bIns="0" rtlCol="0" anchor="ctr"/>
          <a:lstStyle/>
          <a:p>
            <a:pPr indent="0" marL="0">
              <a:lnSpc>
                <a:spcPct val="140000"/>
              </a:lnSpc>
              <a:buNone/>
            </a:pPr>
            <a:r>
              <a:rPr lang="en-US" sz="1500" i="1" dirty="0">
                <a:solidFill>
                  <a:srgbClr val="999999"/>
                </a:solidFill>
                <a:latin typeface="Helvetica Neue" pitchFamily="34" charset="0"/>
                <a:ea typeface="Helvetica Neue" pitchFamily="34" charset="-122"/>
                <a:cs typeface="Helvetica Neue" pitchFamily="34" charset="-120"/>
              </a:rPr>
              <a:t>We replace resumes with a structured identity system that evaluates</a:t>
            </a:r>
            <a:endParaRPr lang="en-US" sz="1500" dirty="0"/>
          </a:p>
          <a:p>
            <a:pPr indent="0" marL="0">
              <a:lnSpc>
                <a:spcPct val="140000"/>
              </a:lnSpc>
              <a:buNone/>
            </a:pPr>
            <a:r>
              <a:rPr lang="en-US" sz="1500" i="1" dirty="0">
                <a:solidFill>
                  <a:srgbClr val="999999"/>
                </a:solidFill>
                <a:latin typeface="Helvetica Neue" pitchFamily="34" charset="0"/>
                <a:ea typeface="Helvetica Neue" pitchFamily="34" charset="-122"/>
                <a:cs typeface="Helvetica Neue" pitchFamily="34" charset="-120"/>
              </a:rPr>
              <a:t>opportunities bidirectionally and learns from user behavior over time.</a:t>
            </a:r>
            <a:endParaRPr lang="en-US" sz="1500" dirty="0"/>
          </a:p>
        </p:txBody>
      </p:sp>
      <p:sp>
        <p:nvSpPr>
          <p:cNvPr id="5" name="Shape 3"/>
          <p:cNvSpPr/>
          <p:nvPr/>
        </p:nvSpPr>
        <p:spPr>
          <a:xfrm>
            <a:off x="548640" y="3108960"/>
            <a:ext cx="8046720" cy="0"/>
          </a:xfrm>
          <a:prstGeom prst="line">
            <a:avLst/>
          </a:prstGeom>
          <a:noFill/>
          <a:ln w="6350">
            <a:solidFill>
              <a:srgbClr val="1A1A1A"/>
            </a:solidFill>
            <a:prstDash val="solid"/>
          </a:ln>
        </p:spPr>
      </p:sp>
      <p:sp>
        <p:nvSpPr>
          <p:cNvPr id="6" name="Text 4"/>
          <p:cNvSpPr/>
          <p:nvPr/>
        </p:nvSpPr>
        <p:spPr>
          <a:xfrm>
            <a:off x="548640" y="3383280"/>
            <a:ext cx="6400800" cy="365760"/>
          </a:xfrm>
          <a:prstGeom prst="rect">
            <a:avLst/>
          </a:prstGeom>
          <a:noFill/>
          <a:ln/>
        </p:spPr>
        <p:txBody>
          <a:bodyPr wrap="square" lIns="0" tIns="0" rIns="0" bIns="0" rtlCol="0" anchor="ctr"/>
          <a:lstStyle/>
          <a:p>
            <a:pPr indent="0" marL="0">
              <a:buNone/>
            </a:pPr>
            <a:r>
              <a:rPr lang="en-US" sz="1300" dirty="0">
                <a:solidFill>
                  <a:srgbClr val="1A1A1A"/>
                </a:solidFill>
                <a:latin typeface="Helvetica Neue" pitchFamily="34" charset="0"/>
                <a:ea typeface="Helvetica Neue" pitchFamily="34" charset="-122"/>
                <a:cs typeface="Helvetica Neue" pitchFamily="34" charset="-120"/>
              </a:rPr>
              <a:t>Working product. Provisional patent filing this week. Zero-funded competitor IP.</a:t>
            </a:r>
            <a:endParaRPr lang="en-US" sz="1300" dirty="0"/>
          </a:p>
        </p:txBody>
      </p:sp>
      <p:sp>
        <p:nvSpPr>
          <p:cNvPr id="7" name="Text 5"/>
          <p:cNvSpPr/>
          <p:nvPr/>
        </p:nvSpPr>
        <p:spPr>
          <a:xfrm>
            <a:off x="548640" y="4389120"/>
            <a:ext cx="5486400" cy="274320"/>
          </a:xfrm>
          <a:prstGeom prst="rect">
            <a:avLst/>
          </a:prstGeom>
          <a:noFill/>
          <a:ln/>
        </p:spPr>
        <p:txBody>
          <a:bodyPr wrap="square" lIns="0" tIns="0" rIns="0" bIns="0" rtlCol="0" anchor="ctr"/>
          <a:lstStyle/>
          <a:p>
            <a:pPr indent="0" marL="0">
              <a:buNone/>
            </a:pPr>
            <a:r>
              <a:rPr lang="en-US" sz="1000" dirty="0">
                <a:solidFill>
                  <a:srgbClr val="999999"/>
                </a:solidFill>
                <a:latin typeface="Helvetica Neue" pitchFamily="34" charset="0"/>
                <a:ea typeface="Helvetica Neue" pitchFamily="34" charset="-122"/>
                <a:cs typeface="Helvetica Neue" pitchFamily="34" charset="-120"/>
              </a:rPr>
              <a:t>Eric Zelman  |  zelman@gmail.com  |  March 2026  |  CONFIDENTIAL</a:t>
            </a:r>
            <a:endParaRPr lang="en-US" sz="1000" dirty="0"/>
          </a:p>
        </p:txBody>
      </p:sp>
      <p:sp>
        <p:nvSpPr>
          <p:cNvPr id="8" name="Text 6"/>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1/18</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THE PROBLEM</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Hiring is broken in both directions.</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sp>
        <p:nvSpPr>
          <p:cNvPr id="5" name="Text 3"/>
          <p:cNvSpPr/>
          <p:nvPr/>
        </p:nvSpPr>
        <p:spPr>
          <a:xfrm>
            <a:off x="548640" y="1645920"/>
            <a:ext cx="1371600" cy="548640"/>
          </a:xfrm>
          <a:prstGeom prst="rect">
            <a:avLst/>
          </a:prstGeom>
          <a:noFill/>
          <a:ln/>
        </p:spPr>
        <p:txBody>
          <a:bodyPr wrap="square" lIns="0" tIns="0" rIns="0" bIns="0" rtlCol="0" anchor="ctr"/>
          <a:lstStyle/>
          <a:p>
            <a:pPr indent="0" marL="0">
              <a:buNone/>
            </a:pPr>
            <a:r>
              <a:rPr lang="en-US" sz="3200" b="1" dirty="0">
                <a:solidFill>
                  <a:srgbClr val="D93025"/>
                </a:solidFill>
                <a:latin typeface="Helvetica Neue" pitchFamily="34" charset="0"/>
                <a:ea typeface="Helvetica Neue" pitchFamily="34" charset="-122"/>
                <a:cs typeface="Helvetica Neue" pitchFamily="34" charset="-120"/>
              </a:rPr>
              <a:t>74%</a:t>
            </a:r>
            <a:endParaRPr lang="en-US" sz="3200" dirty="0"/>
          </a:p>
        </p:txBody>
      </p:sp>
      <p:sp>
        <p:nvSpPr>
          <p:cNvPr id="6" name="Text 4"/>
          <p:cNvSpPr/>
          <p:nvPr/>
        </p:nvSpPr>
        <p:spPr>
          <a:xfrm>
            <a:off x="2011680" y="1691640"/>
            <a:ext cx="6400800" cy="457200"/>
          </a:xfrm>
          <a:prstGeom prst="rect">
            <a:avLst/>
          </a:prstGeom>
          <a:noFill/>
          <a:ln/>
        </p:spPr>
        <p:txBody>
          <a:bodyPr wrap="square" lIns="0" tIns="0" rIns="0" bIns="0" rtlCol="0" anchor="ctr"/>
          <a:lstStyle/>
          <a:p>
            <a:pPr indent="0" marL="0">
              <a:buNone/>
            </a:pPr>
            <a:r>
              <a:rPr lang="en-US" sz="1400" dirty="0">
                <a:solidFill>
                  <a:srgbClr val="1A1A1A"/>
                </a:solidFill>
                <a:latin typeface="Helvetica Neue" pitchFamily="34" charset="0"/>
                <a:ea typeface="Helvetica Neue" pitchFamily="34" charset="-122"/>
                <a:cs typeface="Helvetica Neue" pitchFamily="34" charset="-120"/>
              </a:rPr>
              <a:t>of pipeline matches are false positives from keyword-based ATS filtering</a:t>
            </a:r>
            <a:endParaRPr lang="en-US" sz="1400" dirty="0"/>
          </a:p>
        </p:txBody>
      </p:sp>
      <p:sp>
        <p:nvSpPr>
          <p:cNvPr id="7" name="Shape 5"/>
          <p:cNvSpPr/>
          <p:nvPr/>
        </p:nvSpPr>
        <p:spPr>
          <a:xfrm>
            <a:off x="548640" y="2423160"/>
            <a:ext cx="8046720" cy="0"/>
          </a:xfrm>
          <a:prstGeom prst="line">
            <a:avLst/>
          </a:prstGeom>
          <a:noFill/>
          <a:ln w="6350">
            <a:solidFill>
              <a:srgbClr val="EEEEEE"/>
            </a:solidFill>
            <a:prstDash val="solid"/>
          </a:ln>
        </p:spPr>
      </p:sp>
      <p:sp>
        <p:nvSpPr>
          <p:cNvPr id="8" name="Text 6"/>
          <p:cNvSpPr/>
          <p:nvPr/>
        </p:nvSpPr>
        <p:spPr>
          <a:xfrm>
            <a:off x="548640" y="2651760"/>
            <a:ext cx="1371600" cy="548640"/>
          </a:xfrm>
          <a:prstGeom prst="rect">
            <a:avLst/>
          </a:prstGeom>
          <a:noFill/>
          <a:ln/>
        </p:spPr>
        <p:txBody>
          <a:bodyPr wrap="square" lIns="0" tIns="0" rIns="0" bIns="0" rtlCol="0" anchor="ctr"/>
          <a:lstStyle/>
          <a:p>
            <a:pPr indent="0" marL="0">
              <a:buNone/>
            </a:pPr>
            <a:r>
              <a:rPr lang="en-US" sz="3200" b="1" dirty="0">
                <a:solidFill>
                  <a:srgbClr val="D93025"/>
                </a:solidFill>
                <a:latin typeface="Helvetica Neue" pitchFamily="34" charset="0"/>
                <a:ea typeface="Helvetica Neue" pitchFamily="34" charset="-122"/>
                <a:cs typeface="Helvetica Neue" pitchFamily="34" charset="-120"/>
              </a:rPr>
              <a:t>85%</a:t>
            </a:r>
            <a:endParaRPr lang="en-US" sz="3200" dirty="0"/>
          </a:p>
        </p:txBody>
      </p:sp>
      <p:sp>
        <p:nvSpPr>
          <p:cNvPr id="9" name="Text 7"/>
          <p:cNvSpPr/>
          <p:nvPr/>
        </p:nvSpPr>
        <p:spPr>
          <a:xfrm>
            <a:off x="2011680" y="2697480"/>
            <a:ext cx="6400800" cy="457200"/>
          </a:xfrm>
          <a:prstGeom prst="rect">
            <a:avLst/>
          </a:prstGeom>
          <a:noFill/>
          <a:ln/>
        </p:spPr>
        <p:txBody>
          <a:bodyPr wrap="square" lIns="0" tIns="0" rIns="0" bIns="0" rtlCol="0" anchor="ctr"/>
          <a:lstStyle/>
          <a:p>
            <a:pPr indent="0" marL="0">
              <a:buNone/>
            </a:pPr>
            <a:r>
              <a:rPr lang="en-US" sz="1400" dirty="0">
                <a:solidFill>
                  <a:srgbClr val="1A1A1A"/>
                </a:solidFill>
                <a:latin typeface="Helvetica Neue" pitchFamily="34" charset="0"/>
                <a:ea typeface="Helvetica Neue" pitchFamily="34" charset="-122"/>
                <a:cs typeface="Helvetica Neue" pitchFamily="34" charset="-120"/>
              </a:rPr>
              <a:t>of desirable roles are filled through networks before reaching job boards</a:t>
            </a:r>
            <a:endParaRPr lang="en-US" sz="1400" dirty="0"/>
          </a:p>
        </p:txBody>
      </p:sp>
      <p:sp>
        <p:nvSpPr>
          <p:cNvPr id="10" name="Shape 8"/>
          <p:cNvSpPr/>
          <p:nvPr/>
        </p:nvSpPr>
        <p:spPr>
          <a:xfrm>
            <a:off x="548640" y="3429000"/>
            <a:ext cx="8046720" cy="0"/>
          </a:xfrm>
          <a:prstGeom prst="line">
            <a:avLst/>
          </a:prstGeom>
          <a:noFill/>
          <a:ln w="6350">
            <a:solidFill>
              <a:srgbClr val="EEEEEE"/>
            </a:solidFill>
            <a:prstDash val="solid"/>
          </a:ln>
        </p:spPr>
      </p:sp>
      <p:sp>
        <p:nvSpPr>
          <p:cNvPr id="11" name="Text 9"/>
          <p:cNvSpPr/>
          <p:nvPr/>
        </p:nvSpPr>
        <p:spPr>
          <a:xfrm>
            <a:off x="548640" y="3657600"/>
            <a:ext cx="1371600" cy="548640"/>
          </a:xfrm>
          <a:prstGeom prst="rect">
            <a:avLst/>
          </a:prstGeom>
          <a:noFill/>
          <a:ln/>
        </p:spPr>
        <p:txBody>
          <a:bodyPr wrap="square" lIns="0" tIns="0" rIns="0" bIns="0" rtlCol="0" anchor="ctr"/>
          <a:lstStyle/>
          <a:p>
            <a:pPr indent="0" marL="0">
              <a:buNone/>
            </a:pPr>
            <a:r>
              <a:rPr lang="en-US" sz="3200" b="1" dirty="0">
                <a:solidFill>
                  <a:srgbClr val="D93025"/>
                </a:solidFill>
                <a:latin typeface="Helvetica Neue" pitchFamily="34" charset="0"/>
                <a:ea typeface="Helvetica Neue" pitchFamily="34" charset="-122"/>
                <a:cs typeface="Helvetica Neue" pitchFamily="34" charset="-120"/>
              </a:rPr>
              <a:t>$0</a:t>
            </a:r>
            <a:endParaRPr lang="en-US" sz="3200" dirty="0"/>
          </a:p>
        </p:txBody>
      </p:sp>
      <p:sp>
        <p:nvSpPr>
          <p:cNvPr id="12" name="Text 10"/>
          <p:cNvSpPr/>
          <p:nvPr/>
        </p:nvSpPr>
        <p:spPr>
          <a:xfrm>
            <a:off x="2011680" y="3703320"/>
            <a:ext cx="6400800" cy="457200"/>
          </a:xfrm>
          <a:prstGeom prst="rect">
            <a:avLst/>
          </a:prstGeom>
          <a:noFill/>
          <a:ln/>
        </p:spPr>
        <p:txBody>
          <a:bodyPr wrap="square" lIns="0" tIns="0" rIns="0" bIns="0" rtlCol="0" anchor="ctr"/>
          <a:lstStyle/>
          <a:p>
            <a:pPr indent="0" marL="0">
              <a:buNone/>
            </a:pPr>
            <a:r>
              <a:rPr lang="en-US" sz="1400" dirty="0">
                <a:solidFill>
                  <a:srgbClr val="1A1A1A"/>
                </a:solidFill>
                <a:latin typeface="Helvetica Neue" pitchFamily="34" charset="0"/>
                <a:ea typeface="Helvetica Neue" pitchFamily="34" charset="-122"/>
                <a:cs typeface="Helvetica Neue" pitchFamily="34" charset="-120"/>
              </a:rPr>
              <a:t>ROI that standalone AI coaching can demonstrate to clients</a:t>
            </a:r>
            <a:endParaRPr lang="en-US" sz="1400" dirty="0"/>
          </a:p>
        </p:txBody>
      </p:sp>
      <p:sp>
        <p:nvSpPr>
          <p:cNvPr id="13" name="Text 11"/>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2/18</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WHAT IT IS</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A lens, not a resume.</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sp>
        <p:nvSpPr>
          <p:cNvPr id="5" name="Text 3"/>
          <p:cNvSpPr/>
          <p:nvPr/>
        </p:nvSpPr>
        <p:spPr>
          <a:xfrm>
            <a:off x="548640" y="1554480"/>
            <a:ext cx="7772400" cy="822960"/>
          </a:xfrm>
          <a:prstGeom prst="rect">
            <a:avLst/>
          </a:prstGeom>
          <a:noFill/>
          <a:ln/>
        </p:spPr>
        <p:txBody>
          <a:bodyPr wrap="square" lIns="0" tIns="0" rIns="0" bIns="0" rtlCol="0" anchor="ctr"/>
          <a:lstStyle/>
          <a:p>
            <a:pPr indent="0" marL="0">
              <a:lnSpc>
                <a:spcPct val="150000"/>
              </a:lnSpc>
              <a:buNone/>
            </a:pPr>
            <a:r>
              <a:rPr lang="en-US" sz="1300" dirty="0">
                <a:solidFill>
                  <a:srgbClr val="1A1A1A"/>
                </a:solidFill>
                <a:latin typeface="Helvetica Neue" pitchFamily="34" charset="0"/>
                <a:ea typeface="Helvetica Neue" pitchFamily="34" charset="-122"/>
                <a:cs typeface="Helvetica Neue" pitchFamily="34" charset="-120"/>
              </a:rPr>
              <a:t>The Lens Project produces a structured identity document through AI-guided or coach-facilitated discovery. This lens captures who someone actually is — values, energy patterns, work style, relational fit — not keyword-optimized summaries of what they’ve done.</a:t>
            </a:r>
            <a:endParaRPr lang="en-US" sz="1300" dirty="0"/>
          </a:p>
        </p:txBody>
      </p:sp>
      <p:sp>
        <p:nvSpPr>
          <p:cNvPr id="6" name="Text 4"/>
          <p:cNvSpPr/>
          <p:nvPr/>
        </p:nvSpPr>
        <p:spPr>
          <a:xfrm>
            <a:off x="548640" y="2560320"/>
            <a:ext cx="7772400" cy="548640"/>
          </a:xfrm>
          <a:prstGeom prst="rect">
            <a:avLst/>
          </a:prstGeom>
          <a:noFill/>
          <a:ln/>
        </p:spPr>
        <p:txBody>
          <a:bodyPr wrap="square" lIns="0" tIns="0" rIns="0" bIns="0" rtlCol="0" anchor="ctr"/>
          <a:lstStyle/>
          <a:p>
            <a:pPr indent="0" marL="0">
              <a:lnSpc>
                <a:spcPct val="150000"/>
              </a:lnSpc>
              <a:buNone/>
            </a:pPr>
            <a:r>
              <a:rPr lang="en-US" sz="1300" dirty="0">
                <a:solidFill>
                  <a:srgbClr val="1A1A1A"/>
                </a:solidFill>
                <a:latin typeface="Helvetica Neue" pitchFamily="34" charset="0"/>
                <a:ea typeface="Helvetica Neue" pitchFamily="34" charset="-122"/>
                <a:cs typeface="Helvetica Neue" pitchFamily="34" charset="-120"/>
              </a:rPr>
              <a:t>The lens then governs an automated scoring pipeline that evaluates opportunities against identity signals, delivering daily briefings — not job alerts.</a:t>
            </a:r>
            <a:endParaRPr lang="en-US" sz="1300" dirty="0"/>
          </a:p>
        </p:txBody>
      </p:sp>
      <p:sp>
        <p:nvSpPr>
          <p:cNvPr id="7" name="Text 5"/>
          <p:cNvSpPr/>
          <p:nvPr/>
        </p:nvSpPr>
        <p:spPr>
          <a:xfrm>
            <a:off x="548640" y="3474720"/>
            <a:ext cx="7315200" cy="365760"/>
          </a:xfrm>
          <a:prstGeom prst="rect">
            <a:avLst/>
          </a:prstGeom>
          <a:noFill/>
          <a:ln/>
        </p:spPr>
        <p:txBody>
          <a:bodyPr wrap="square" lIns="0" tIns="0" rIns="0" bIns="0" rtlCol="0" anchor="ctr"/>
          <a:lstStyle/>
          <a:p>
            <a:pPr indent="0" marL="0">
              <a:buNone/>
            </a:pPr>
            <a:r>
              <a:rPr lang="en-US" sz="1600" i="1" dirty="0">
                <a:solidFill>
                  <a:srgbClr val="D93025"/>
                </a:solidFill>
                <a:latin typeface="Helvetica Neue" pitchFamily="34" charset="0"/>
                <a:ea typeface="Helvetica Neue" pitchFamily="34" charset="-122"/>
                <a:cs typeface="Helvetica Neue" pitchFamily="34" charset="-120"/>
              </a:rPr>
              <a:t>“Indelible” — the version of you that persists.</a:t>
            </a:r>
            <a:endParaRPr lang="en-US" sz="1600" dirty="0"/>
          </a:p>
        </p:txBody>
      </p:sp>
      <p:sp>
        <p:nvSpPr>
          <p:cNvPr id="8" name="Text 6"/>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3/18</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CORE INNOVATION</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Bidirectional lens matching.</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sp>
        <p:nvSpPr>
          <p:cNvPr id="5" name="Text 3"/>
          <p:cNvSpPr/>
          <p:nvPr/>
        </p:nvSpPr>
        <p:spPr>
          <a:xfrm>
            <a:off x="548640" y="1554480"/>
            <a:ext cx="3657600" cy="274320"/>
          </a:xfrm>
          <a:prstGeom prst="rect">
            <a:avLst/>
          </a:prstGeom>
          <a:noFill/>
          <a:ln/>
        </p:spPr>
        <p:txBody>
          <a:bodyPr wrap="square" lIns="0" tIns="0" rIns="0" bIns="0" rtlCol="0" anchor="ctr"/>
          <a:lstStyle/>
          <a:p>
            <a:pPr indent="0" marL="0">
              <a:buNone/>
            </a:pPr>
            <a:r>
              <a:rPr lang="en-US" sz="1000" spc="200" kern="0" dirty="0">
                <a:solidFill>
                  <a:srgbClr val="D93025"/>
                </a:solidFill>
                <a:latin typeface="Helvetica Neue" pitchFamily="34" charset="0"/>
                <a:ea typeface="Helvetica Neue" pitchFamily="34" charset="-122"/>
                <a:cs typeface="Helvetica Neue" pitchFamily="34" charset="-120"/>
              </a:rPr>
              <a:t>CANDIDATE LENS</a:t>
            </a:r>
            <a:endParaRPr lang="en-US" sz="1000" dirty="0"/>
          </a:p>
        </p:txBody>
      </p:sp>
      <p:sp>
        <p:nvSpPr>
          <p:cNvPr id="6" name="Text 4"/>
          <p:cNvSpPr/>
          <p:nvPr/>
        </p:nvSpPr>
        <p:spPr>
          <a:xfrm>
            <a:off x="548640" y="1920240"/>
            <a:ext cx="3657600" cy="1097280"/>
          </a:xfrm>
          <a:prstGeom prst="rect">
            <a:avLst/>
          </a:prstGeom>
          <a:noFill/>
          <a:ln/>
        </p:spPr>
        <p:txBody>
          <a:bodyPr wrap="square" lIns="0" tIns="0" rIns="0" bIns="0" rtlCol="0" anchor="ctr"/>
          <a:lstStyle/>
          <a:p>
            <a:pPr indent="0" marL="0">
              <a:lnSpc>
                <a:spcPct val="160000"/>
              </a:lnSpc>
              <a:buNone/>
            </a:pPr>
            <a:r>
              <a:rPr lang="en-US" sz="1200" dirty="0">
                <a:solidFill>
                  <a:srgbClr val="1A1A1A"/>
                </a:solidFill>
                <a:latin typeface="Helvetica Neue" pitchFamily="34" charset="0"/>
                <a:ea typeface="Helvetica Neue" pitchFamily="34" charset="-122"/>
                <a:cs typeface="Helvetica Neue" pitchFamily="34" charset="-120"/>
              </a:rPr>
              <a:t>C→R Score: Does this opportunity fit me?</a:t>
            </a:r>
            <a:endParaRPr lang="en-US" sz="1200" dirty="0"/>
          </a:p>
          <a:p>
            <a:pPr indent="0" marL="0">
              <a:lnSpc>
                <a:spcPct val="160000"/>
              </a:lnSpc>
              <a:buNone/>
            </a:pPr>
            <a:r>
              <a:rPr lang="en-US" sz="1100" dirty="0">
                <a:solidFill>
                  <a:srgbClr val="999999"/>
                </a:solidFill>
                <a:latin typeface="Helvetica Neue" pitchFamily="34" charset="0"/>
                <a:ea typeface="Helvetica Neue" pitchFamily="34" charset="-122"/>
                <a:cs typeface="Helvetica Neue" pitchFamily="34" charset="-120"/>
              </a:rPr>
              <a:t>6 dimensions: Mission, Role, Culture,</a:t>
            </a:r>
            <a:endParaRPr lang="en-US" sz="1200" dirty="0"/>
          </a:p>
          <a:p>
            <a:pPr indent="0" marL="0">
              <a:lnSpc>
                <a:spcPct val="160000"/>
              </a:lnSpc>
              <a:buNone/>
            </a:pPr>
            <a:r>
              <a:rPr lang="en-US" sz="1100" dirty="0">
                <a:solidFill>
                  <a:srgbClr val="999999"/>
                </a:solidFill>
                <a:latin typeface="Helvetica Neue" pitchFamily="34" charset="0"/>
                <a:ea typeface="Helvetica Neue" pitchFamily="34" charset="-122"/>
                <a:cs typeface="Helvetica Neue" pitchFamily="34" charset="-120"/>
              </a:rPr>
              <a:t>Skill, Work Style, Energy</a:t>
            </a:r>
            <a:endParaRPr lang="en-US" sz="1200" dirty="0"/>
          </a:p>
        </p:txBody>
      </p:sp>
      <p:sp>
        <p:nvSpPr>
          <p:cNvPr id="7" name="Text 5"/>
          <p:cNvSpPr/>
          <p:nvPr/>
        </p:nvSpPr>
        <p:spPr>
          <a:xfrm>
            <a:off x="4937760" y="1554480"/>
            <a:ext cx="3657600" cy="274320"/>
          </a:xfrm>
          <a:prstGeom prst="rect">
            <a:avLst/>
          </a:prstGeom>
          <a:noFill/>
          <a:ln/>
        </p:spPr>
        <p:txBody>
          <a:bodyPr wrap="square" lIns="0" tIns="0" rIns="0" bIns="0" rtlCol="0" anchor="ctr"/>
          <a:lstStyle/>
          <a:p>
            <a:pPr indent="0" marL="0">
              <a:buNone/>
            </a:pPr>
            <a:r>
              <a:rPr lang="en-US" sz="1000" spc="200" kern="0" dirty="0">
                <a:solidFill>
                  <a:srgbClr val="D93025"/>
                </a:solidFill>
                <a:latin typeface="Helvetica Neue" pitchFamily="34" charset="0"/>
                <a:ea typeface="Helvetica Neue" pitchFamily="34" charset="-122"/>
                <a:cs typeface="Helvetica Neue" pitchFamily="34" charset="-120"/>
              </a:rPr>
              <a:t>ROLE LENS</a:t>
            </a:r>
            <a:endParaRPr lang="en-US" sz="1000" dirty="0"/>
          </a:p>
        </p:txBody>
      </p:sp>
      <p:sp>
        <p:nvSpPr>
          <p:cNvPr id="8" name="Text 6"/>
          <p:cNvSpPr/>
          <p:nvPr/>
        </p:nvSpPr>
        <p:spPr>
          <a:xfrm>
            <a:off x="4937760" y="1920240"/>
            <a:ext cx="3840480" cy="1097280"/>
          </a:xfrm>
          <a:prstGeom prst="rect">
            <a:avLst/>
          </a:prstGeom>
          <a:noFill/>
          <a:ln/>
        </p:spPr>
        <p:txBody>
          <a:bodyPr wrap="square" lIns="0" tIns="0" rIns="0" bIns="0" rtlCol="0" anchor="ctr"/>
          <a:lstStyle/>
          <a:p>
            <a:pPr indent="0" marL="0">
              <a:lnSpc>
                <a:spcPct val="160000"/>
              </a:lnSpc>
              <a:buNone/>
            </a:pPr>
            <a:r>
              <a:rPr lang="en-US" sz="1200" dirty="0">
                <a:solidFill>
                  <a:srgbClr val="1A1A1A"/>
                </a:solidFill>
                <a:latin typeface="Helvetica Neue" pitchFamily="34" charset="0"/>
                <a:ea typeface="Helvetica Neue" pitchFamily="34" charset="-122"/>
                <a:cs typeface="Helvetica Neue" pitchFamily="34" charset="-120"/>
              </a:rPr>
              <a:t>R→C Score: Does this candidate fit us?</a:t>
            </a:r>
            <a:endParaRPr lang="en-US" sz="1200" dirty="0"/>
          </a:p>
          <a:p>
            <a:pPr indent="0" marL="0">
              <a:lnSpc>
                <a:spcPct val="160000"/>
              </a:lnSpc>
              <a:buNone/>
            </a:pPr>
            <a:r>
              <a:rPr lang="en-US" sz="1100" dirty="0">
                <a:solidFill>
                  <a:srgbClr val="999999"/>
                </a:solidFill>
                <a:latin typeface="Helvetica Neue" pitchFamily="34" charset="0"/>
                <a:ea typeface="Helvetica Neue" pitchFamily="34" charset="-122"/>
                <a:cs typeface="Helvetica Neue" pitchFamily="34" charset="-120"/>
              </a:rPr>
              <a:t>6 dimensions: Builder Orientation, Relational</a:t>
            </a:r>
            <a:endParaRPr lang="en-US" sz="1200" dirty="0"/>
          </a:p>
          <a:p>
            <a:pPr indent="0" marL="0">
              <a:lnSpc>
                <a:spcPct val="160000"/>
              </a:lnSpc>
              <a:buNone/>
            </a:pPr>
            <a:r>
              <a:rPr lang="en-US" sz="1100" dirty="0">
                <a:solidFill>
                  <a:srgbClr val="999999"/>
                </a:solidFill>
                <a:latin typeface="Helvetica Neue" pitchFamily="34" charset="0"/>
                <a:ea typeface="Helvetica Neue" pitchFamily="34" charset="-122"/>
                <a:cs typeface="Helvetica Neue" pitchFamily="34" charset="-120"/>
              </a:rPr>
              <a:t>Fit, Domain, Values, Work Style, Energy</a:t>
            </a:r>
            <a:endParaRPr lang="en-US" sz="1200" dirty="0"/>
          </a:p>
        </p:txBody>
      </p:sp>
      <p:sp>
        <p:nvSpPr>
          <p:cNvPr id="9" name="Text 7"/>
          <p:cNvSpPr/>
          <p:nvPr/>
        </p:nvSpPr>
        <p:spPr>
          <a:xfrm>
            <a:off x="4023360" y="2011680"/>
            <a:ext cx="1097280" cy="548640"/>
          </a:xfrm>
          <a:prstGeom prst="rect">
            <a:avLst/>
          </a:prstGeom>
          <a:noFill/>
          <a:ln/>
        </p:spPr>
        <p:txBody>
          <a:bodyPr wrap="square" lIns="0" tIns="0" rIns="0" bIns="0" rtlCol="0" anchor="ctr"/>
          <a:lstStyle/>
          <a:p>
            <a:pPr algn="ctr" indent="0" marL="0">
              <a:buNone/>
            </a:pPr>
            <a:r>
              <a:rPr lang="en-US" sz="2800" dirty="0">
                <a:solidFill>
                  <a:srgbClr val="D93025"/>
                </a:solidFill>
                <a:latin typeface="Helvetica Neue" pitchFamily="34" charset="0"/>
                <a:ea typeface="Helvetica Neue" pitchFamily="34" charset="-122"/>
                <a:cs typeface="Helvetica Neue" pitchFamily="34" charset="-120"/>
              </a:rPr>
              <a:t>↔</a:t>
            </a:r>
            <a:endParaRPr lang="en-US" sz="2800" dirty="0"/>
          </a:p>
        </p:txBody>
      </p:sp>
      <p:sp>
        <p:nvSpPr>
          <p:cNvPr id="10" name="Shape 8"/>
          <p:cNvSpPr/>
          <p:nvPr/>
        </p:nvSpPr>
        <p:spPr>
          <a:xfrm>
            <a:off x="548640" y="3200400"/>
            <a:ext cx="8046720" cy="0"/>
          </a:xfrm>
          <a:prstGeom prst="line">
            <a:avLst/>
          </a:prstGeom>
          <a:noFill/>
          <a:ln w="6350">
            <a:solidFill>
              <a:srgbClr val="EEEEEE"/>
            </a:solidFill>
            <a:prstDash val="solid"/>
          </a:ln>
        </p:spPr>
      </p:sp>
      <p:sp>
        <p:nvSpPr>
          <p:cNvPr id="11" name="Text 9"/>
          <p:cNvSpPr/>
          <p:nvPr/>
        </p:nvSpPr>
        <p:spPr>
          <a:xfrm>
            <a:off x="548640" y="3383280"/>
            <a:ext cx="7772400" cy="548640"/>
          </a:xfrm>
          <a:prstGeom prst="rect">
            <a:avLst/>
          </a:prstGeom>
          <a:noFill/>
          <a:ln/>
        </p:spPr>
        <p:txBody>
          <a:bodyPr wrap="square" lIns="0" tIns="0" rIns="0" bIns="0" rtlCol="0" anchor="ctr"/>
          <a:lstStyle/>
          <a:p>
            <a:pPr indent="0" marL="0">
              <a:lnSpc>
                <a:spcPct val="150000"/>
              </a:lnSpc>
              <a:buNone/>
            </a:pPr>
            <a:r>
              <a:rPr lang="en-US" sz="1200" dirty="0">
                <a:solidFill>
                  <a:srgbClr val="1A1A1A"/>
                </a:solidFill>
                <a:latin typeface="Helvetica Neue" pitchFamily="34" charset="0"/>
                <a:ea typeface="Helvetica Neue" pitchFamily="34" charset="-122"/>
                <a:cs typeface="Helvetica Neue" pitchFamily="34" charset="-120"/>
              </a:rPr>
              <a:t>Asymmetric by design. Different dimensions, different weights, different questions. Output: two scores + Mutual Fit composite + signal-level Match Report with interview questions.</a:t>
            </a:r>
            <a:endParaRPr lang="en-US" sz="1200" dirty="0"/>
          </a:p>
        </p:txBody>
      </p:sp>
      <p:sp>
        <p:nvSpPr>
          <p:cNvPr id="12" name="Text 10"/>
          <p:cNvSpPr/>
          <p:nvPr/>
        </p:nvSpPr>
        <p:spPr>
          <a:xfrm>
            <a:off x="548640" y="4114800"/>
            <a:ext cx="4572000" cy="274320"/>
          </a:xfrm>
          <a:prstGeom prst="rect">
            <a:avLst/>
          </a:prstGeom>
          <a:noFill/>
          <a:ln/>
        </p:spPr>
        <p:txBody>
          <a:bodyPr wrap="square" lIns="0" tIns="0" rIns="0" bIns="0" rtlCol="0" anchor="ctr"/>
          <a:lstStyle/>
          <a:p>
            <a:pPr indent="0" marL="0">
              <a:buNone/>
            </a:pPr>
            <a:r>
              <a:rPr lang="en-US" sz="1100" b="1" dirty="0">
                <a:solidFill>
                  <a:srgbClr val="D93025"/>
                </a:solidFill>
                <a:latin typeface="Helvetica Neue" pitchFamily="34" charset="0"/>
                <a:ea typeface="Helvetica Neue" pitchFamily="34" charset="-122"/>
                <a:cs typeface="Helvetica Neue" pitchFamily="34" charset="-120"/>
              </a:rPr>
              <a:t>Working scorer deployed and demo-able.</a:t>
            </a:r>
            <a:endParaRPr lang="en-US" sz="1100" dirty="0"/>
          </a:p>
        </p:txBody>
      </p:sp>
      <p:sp>
        <p:nvSpPr>
          <p:cNvPr id="13" name="Text 11"/>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4/18</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DIFFERENTIATION</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Nobody does both sides with depth.</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046720" cy="914400"/>
        </p:xfrm>
        <a:graphic>
          <a:graphicData uri="http://schemas.openxmlformats.org/drawingml/2006/table">
            <a:tbl>
              <a:tblPr/>
              <a:tblGrid>
                <a:gridCol w="1828800"/>
                <a:gridCol w="1463040"/>
                <a:gridCol w="1463040"/>
                <a:gridCol w="1645920"/>
                <a:gridCol w="1645920"/>
              </a:tblGrid>
              <a:tr h="274320">
                <a:tc>
                  <a:txBody>
                    <a:bodyPr/>
                    <a:lstStyle/>
                    <a:p>
                      <a:pPr indent="0" marL="0">
                        <a:buNone/>
                      </a:pPr>
                      <a:r>
                        <a:rPr lang="en-US" sz="900" b="1" dirty="0">
                          <a:solidFill>
                            <a:srgbClr val="999999"/>
                          </a:solidFill>
                          <a:latin typeface="Helvetica Neue" pitchFamily="34" charset="0"/>
                          <a:ea typeface="Helvetica Neue" pitchFamily="34" charset="-122"/>
                          <a:cs typeface="Helvetica Neue" pitchFamily="34" charset="-120"/>
                        </a:rPr>
                        <a:t>Tool</a:t>
                      </a:r>
                      <a:endParaRPr lang="en-US" sz="9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900" b="1" dirty="0">
                          <a:solidFill>
                            <a:srgbClr val="999999"/>
                          </a:solidFill>
                          <a:latin typeface="Helvetica Neue" pitchFamily="34" charset="0"/>
                          <a:ea typeface="Helvetica Neue" pitchFamily="34" charset="-122"/>
                          <a:cs typeface="Helvetica Neue" pitchFamily="34" charset="-120"/>
                        </a:rPr>
                        <a:t>Direction</a:t>
                      </a:r>
                      <a:endParaRPr lang="en-US" sz="9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900" b="1" dirty="0">
                          <a:solidFill>
                            <a:srgbClr val="999999"/>
                          </a:solidFill>
                          <a:latin typeface="Helvetica Neue" pitchFamily="34" charset="0"/>
                          <a:ea typeface="Helvetica Neue" pitchFamily="34" charset="-122"/>
                          <a:cs typeface="Helvetica Neue" pitchFamily="34" charset="-120"/>
                        </a:rPr>
                        <a:t>Signal Type</a:t>
                      </a:r>
                      <a:endParaRPr lang="en-US" sz="9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900" b="1" dirty="0">
                          <a:solidFill>
                            <a:srgbClr val="999999"/>
                          </a:solidFill>
                          <a:latin typeface="Helvetica Neue" pitchFamily="34" charset="0"/>
                          <a:ea typeface="Helvetica Neue" pitchFamily="34" charset="-122"/>
                          <a:cs typeface="Helvetica Neue" pitchFamily="34" charset="-120"/>
                        </a:rPr>
                        <a:t>Output</a:t>
                      </a:r>
                      <a:endParaRPr lang="en-US" sz="9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900" b="1" dirty="0">
                          <a:solidFill>
                            <a:srgbClr val="999999"/>
                          </a:solidFill>
                          <a:latin typeface="Helvetica Neue" pitchFamily="34" charset="0"/>
                          <a:ea typeface="Helvetica Neue" pitchFamily="34" charset="-122"/>
                          <a:cs typeface="Helvetica Neue" pitchFamily="34" charset="-120"/>
                        </a:rPr>
                        <a:t>Patents</a:t>
                      </a:r>
                      <a:endParaRPr lang="en-US" sz="9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r>
              <a:tr h="274320">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ATS (Greenhouse, Lever)</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Company→Candidate</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Keyword overlap</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Pass/fail screen</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None on matching</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r>
              <a:tr h="274320">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DISC / StrengthsFinder</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Neither (self-report)</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Trait inventory</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Profile report</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Copyright only</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r>
              <a:tr h="274320">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360 Feedback</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Backward-looking</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Peer perception</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Development plan</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None</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r>
              <a:tr h="274320">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Jack &amp; Jill ($20M)</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Candidate→Company</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Shallow preference</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Job recs</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None filed</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r>
              <a:tr h="320040">
                <a:tc>
                  <a:txBody>
                    <a:bodyPr/>
                    <a:lstStyle/>
                    <a:p>
                      <a:pPr indent="0" marL="0">
                        <a:buNone/>
                      </a:pPr>
                      <a:r>
                        <a:rPr lang="en-US" sz="1000" b="1" dirty="0">
                          <a:solidFill>
                            <a:srgbClr val="D93025"/>
                          </a:solidFill>
                          <a:latin typeface="Helvetica Neue" pitchFamily="34" charset="0"/>
                          <a:ea typeface="Helvetica Neue" pitchFamily="34" charset="-122"/>
                          <a:cs typeface="Helvetica Neue" pitchFamily="34" charset="-120"/>
                        </a:rPr>
                        <a:t>Lens Project</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b="1" dirty="0">
                          <a:solidFill>
                            <a:srgbClr val="D93025"/>
                          </a:solidFill>
                          <a:latin typeface="Helvetica Neue" pitchFamily="34" charset="0"/>
                          <a:ea typeface="Helvetica Neue" pitchFamily="34" charset="-122"/>
                          <a:cs typeface="Helvetica Neue" pitchFamily="34" charset="-120"/>
                        </a:rPr>
                        <a:t>Both directions</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b="1" dirty="0">
                          <a:solidFill>
                            <a:srgbClr val="D93025"/>
                          </a:solidFill>
                          <a:latin typeface="Helvetica Neue" pitchFamily="34" charset="0"/>
                          <a:ea typeface="Helvetica Neue" pitchFamily="34" charset="-122"/>
                          <a:cs typeface="Helvetica Neue" pitchFamily="34" charset="-120"/>
                        </a:rPr>
                        <a:t>Deep identity signals</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b="1" dirty="0">
                          <a:solidFill>
                            <a:srgbClr val="D93025"/>
                          </a:solidFill>
                          <a:latin typeface="Helvetica Neue" pitchFamily="34" charset="0"/>
                          <a:ea typeface="Helvetica Neue" pitchFamily="34" charset="-122"/>
                          <a:cs typeface="Helvetica Neue" pitchFamily="34" charset="-120"/>
                        </a:rPr>
                        <a:t>Mutual fit + reasoning</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b="1" dirty="0">
                          <a:solidFill>
                            <a:srgbClr val="D93025"/>
                          </a:solidFill>
                          <a:latin typeface="Helvetica Neue" pitchFamily="34" charset="0"/>
                          <a:ea typeface="Helvetica Neue" pitchFamily="34" charset="-122"/>
                          <a:cs typeface="Helvetica Neue" pitchFamily="34" charset="-120"/>
                        </a:rPr>
                        <a:t>Filing this week</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r>
            </a:tbl>
          </a:graphicData>
        </a:graphic>
      </p:graphicFrame>
      <p:sp>
        <p:nvSpPr>
          <p:cNvPr id="6" name="Text 3"/>
          <p:cNvSpPr/>
          <p:nvPr/>
        </p:nvSpPr>
        <p:spPr>
          <a:xfrm>
            <a:off x="548640" y="3931920"/>
            <a:ext cx="7772400" cy="320040"/>
          </a:xfrm>
          <a:prstGeom prst="rect">
            <a:avLst/>
          </a:prstGeom>
          <a:noFill/>
          <a:ln/>
        </p:spPr>
        <p:txBody>
          <a:bodyPr wrap="square" lIns="0" tIns="0" rIns="0" bIns="0" rtlCol="0" anchor="ctr"/>
          <a:lstStyle/>
          <a:p>
            <a:pPr indent="0" marL="0">
              <a:buNone/>
            </a:pPr>
            <a:r>
              <a:rPr lang="en-US" sz="1100" i="1" dirty="0">
                <a:solidFill>
                  <a:srgbClr val="D93025"/>
                </a:solidFill>
                <a:latin typeface="Helvetica Neue" pitchFamily="34" charset="0"/>
                <a:ea typeface="Helvetica Neue" pitchFamily="34" charset="-122"/>
                <a:cs typeface="Helvetica Neue" pitchFamily="34" charset="-120"/>
              </a:rPr>
              <a:t>Jack &amp; Jill raised $20M with zero patent protection. We’re filing a provisional patent this week.</a:t>
            </a:r>
            <a:endParaRPr lang="en-US" sz="1100" dirty="0"/>
          </a:p>
        </p:txBody>
      </p:sp>
      <p:sp>
        <p:nvSpPr>
          <p:cNvPr id="7" name="Text 4"/>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5/18</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MARKET</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$35B market. Three entry points.</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sp>
        <p:nvSpPr>
          <p:cNvPr id="5" name="Text 3"/>
          <p:cNvSpPr/>
          <p:nvPr/>
        </p:nvSpPr>
        <p:spPr>
          <a:xfrm>
            <a:off x="548640" y="1554480"/>
            <a:ext cx="731520" cy="320040"/>
          </a:xfrm>
          <a:prstGeom prst="rect">
            <a:avLst/>
          </a:prstGeom>
          <a:solidFill>
            <a:srgbClr val="1A1A1A"/>
          </a:solid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TAM</a:t>
            </a:r>
            <a:endParaRPr lang="en-US" sz="1100" dirty="0"/>
          </a:p>
        </p:txBody>
      </p:sp>
      <p:sp>
        <p:nvSpPr>
          <p:cNvPr id="6" name="Text 4"/>
          <p:cNvSpPr/>
          <p:nvPr/>
        </p:nvSpPr>
        <p:spPr>
          <a:xfrm>
            <a:off x="1463040" y="1554480"/>
            <a:ext cx="1188720" cy="320040"/>
          </a:xfrm>
          <a:prstGeom prst="rect">
            <a:avLst/>
          </a:prstGeom>
          <a:noFill/>
          <a:ln/>
        </p:spPr>
        <p:txBody>
          <a:bodyPr wrap="square" lIns="0" tIns="0" rIns="0" bIns="0" rtlCol="0" anchor="ctr"/>
          <a:lstStyle/>
          <a:p>
            <a:pPr indent="0" marL="0">
              <a:buNone/>
            </a:pPr>
            <a:r>
              <a:rPr lang="en-US" sz="1800" b="1" dirty="0">
                <a:solidFill>
                  <a:srgbClr val="D93025"/>
                </a:solidFill>
                <a:latin typeface="Helvetica Neue" pitchFamily="34" charset="0"/>
                <a:ea typeface="Helvetica Neue" pitchFamily="34" charset="-122"/>
                <a:cs typeface="Helvetica Neue" pitchFamily="34" charset="-120"/>
              </a:rPr>
              <a:t>$35.2B</a:t>
            </a:r>
            <a:endParaRPr lang="en-US" sz="1800" dirty="0"/>
          </a:p>
        </p:txBody>
      </p:sp>
      <p:sp>
        <p:nvSpPr>
          <p:cNvPr id="7" name="Text 5"/>
          <p:cNvSpPr/>
          <p:nvPr/>
        </p:nvSpPr>
        <p:spPr>
          <a:xfrm>
            <a:off x="2743200" y="1554480"/>
            <a:ext cx="5486400" cy="320040"/>
          </a:xfrm>
          <a:prstGeom prst="rect">
            <a:avLst/>
          </a:prstGeom>
          <a:noFill/>
          <a:ln/>
        </p:spPr>
        <p:txBody>
          <a:bodyPr wrap="square" lIns="0" tIns="0" rIns="0" bIns="0" rtlCol="0" anchor="ctr"/>
          <a:lstStyle/>
          <a:p>
            <a:pPr indent="0" marL="0">
              <a:buNone/>
            </a:pPr>
            <a:r>
              <a:rPr lang="en-US" sz="1100" dirty="0">
                <a:solidFill>
                  <a:srgbClr val="999999"/>
                </a:solidFill>
                <a:latin typeface="Helvetica Neue" pitchFamily="34" charset="0"/>
                <a:ea typeface="Helvetica Neue" pitchFamily="34" charset="-122"/>
                <a:cs typeface="Helvetica Neue" pitchFamily="34" charset="-120"/>
              </a:rPr>
              <a:t>Digital talent acquisition (2026). Growing at 12.1% CAGR.</a:t>
            </a:r>
            <a:endParaRPr lang="en-US" sz="1100" dirty="0"/>
          </a:p>
        </p:txBody>
      </p:sp>
      <p:sp>
        <p:nvSpPr>
          <p:cNvPr id="8" name="Text 6"/>
          <p:cNvSpPr/>
          <p:nvPr/>
        </p:nvSpPr>
        <p:spPr>
          <a:xfrm>
            <a:off x="548640" y="2057400"/>
            <a:ext cx="731520" cy="320040"/>
          </a:xfrm>
          <a:prstGeom prst="rect">
            <a:avLst/>
          </a:prstGeom>
          <a:solidFill>
            <a:srgbClr val="1A1A1A"/>
          </a:solid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SAM</a:t>
            </a:r>
            <a:endParaRPr lang="en-US" sz="1100" dirty="0"/>
          </a:p>
        </p:txBody>
      </p:sp>
      <p:sp>
        <p:nvSpPr>
          <p:cNvPr id="9" name="Text 7"/>
          <p:cNvSpPr/>
          <p:nvPr/>
        </p:nvSpPr>
        <p:spPr>
          <a:xfrm>
            <a:off x="1463040" y="2057400"/>
            <a:ext cx="1188720" cy="320040"/>
          </a:xfrm>
          <a:prstGeom prst="rect">
            <a:avLst/>
          </a:prstGeom>
          <a:noFill/>
          <a:ln/>
        </p:spPr>
        <p:txBody>
          <a:bodyPr wrap="square" lIns="0" tIns="0" rIns="0" bIns="0" rtlCol="0" anchor="ctr"/>
          <a:lstStyle/>
          <a:p>
            <a:pPr indent="0" marL="0">
              <a:buNone/>
            </a:pPr>
            <a:r>
              <a:rPr lang="en-US" sz="1800" b="1" dirty="0">
                <a:solidFill>
                  <a:srgbClr val="D93025"/>
                </a:solidFill>
                <a:latin typeface="Helvetica Neue" pitchFamily="34" charset="0"/>
                <a:ea typeface="Helvetica Neue" pitchFamily="34" charset="-122"/>
                <a:cs typeface="Helvetica Neue" pitchFamily="34" charset="-120"/>
              </a:rPr>
              <a:t>$4.2B</a:t>
            </a:r>
            <a:endParaRPr lang="en-US" sz="1800" dirty="0"/>
          </a:p>
        </p:txBody>
      </p:sp>
      <p:sp>
        <p:nvSpPr>
          <p:cNvPr id="10" name="Text 8"/>
          <p:cNvSpPr/>
          <p:nvPr/>
        </p:nvSpPr>
        <p:spPr>
          <a:xfrm>
            <a:off x="2743200" y="2057400"/>
            <a:ext cx="5486400" cy="320040"/>
          </a:xfrm>
          <a:prstGeom prst="rect">
            <a:avLst/>
          </a:prstGeom>
          <a:noFill/>
          <a:ln/>
        </p:spPr>
        <p:txBody>
          <a:bodyPr wrap="square" lIns="0" tIns="0" rIns="0" bIns="0" rtlCol="0" anchor="ctr"/>
          <a:lstStyle/>
          <a:p>
            <a:pPr indent="0" marL="0">
              <a:buNone/>
            </a:pPr>
            <a:r>
              <a:rPr lang="en-US" sz="1100" dirty="0">
                <a:solidFill>
                  <a:srgbClr val="999999"/>
                </a:solidFill>
                <a:latin typeface="Helvetica Neue" pitchFamily="34" charset="0"/>
                <a:ea typeface="Helvetica Neue" pitchFamily="34" charset="-122"/>
                <a:cs typeface="Helvetica Neue" pitchFamily="34" charset="-120"/>
              </a:rPr>
              <a:t>Coaching platforms (2026). Growing at 11.0% CAGR. Where we enter.</a:t>
            </a:r>
            <a:endParaRPr lang="en-US" sz="1100" dirty="0"/>
          </a:p>
        </p:txBody>
      </p:sp>
      <p:sp>
        <p:nvSpPr>
          <p:cNvPr id="11" name="Text 9"/>
          <p:cNvSpPr/>
          <p:nvPr/>
        </p:nvSpPr>
        <p:spPr>
          <a:xfrm>
            <a:off x="548640" y="2560320"/>
            <a:ext cx="731520" cy="320040"/>
          </a:xfrm>
          <a:prstGeom prst="rect">
            <a:avLst/>
          </a:prstGeom>
          <a:solidFill>
            <a:srgbClr val="1A1A1A"/>
          </a:solid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SOM</a:t>
            </a:r>
            <a:endParaRPr lang="en-US" sz="1100" dirty="0"/>
          </a:p>
        </p:txBody>
      </p:sp>
      <p:sp>
        <p:nvSpPr>
          <p:cNvPr id="12" name="Text 10"/>
          <p:cNvSpPr/>
          <p:nvPr/>
        </p:nvSpPr>
        <p:spPr>
          <a:xfrm>
            <a:off x="1463040" y="2560320"/>
            <a:ext cx="1188720" cy="320040"/>
          </a:xfrm>
          <a:prstGeom prst="rect">
            <a:avLst/>
          </a:prstGeom>
          <a:noFill/>
          <a:ln/>
        </p:spPr>
        <p:txBody>
          <a:bodyPr wrap="square" lIns="0" tIns="0" rIns="0" bIns="0" rtlCol="0" anchor="ctr"/>
          <a:lstStyle/>
          <a:p>
            <a:pPr indent="0" marL="0">
              <a:buNone/>
            </a:pPr>
            <a:r>
              <a:rPr lang="en-US" sz="1800" b="1" dirty="0">
                <a:solidFill>
                  <a:srgbClr val="D93025"/>
                </a:solidFill>
                <a:latin typeface="Helvetica Neue" pitchFamily="34" charset="0"/>
                <a:ea typeface="Helvetica Neue" pitchFamily="34" charset="-122"/>
                <a:cs typeface="Helvetica Neue" pitchFamily="34" charset="-120"/>
              </a:rPr>
              <a:t>$12M</a:t>
            </a:r>
            <a:endParaRPr lang="en-US" sz="1800" dirty="0"/>
          </a:p>
        </p:txBody>
      </p:sp>
      <p:sp>
        <p:nvSpPr>
          <p:cNvPr id="13" name="Text 11"/>
          <p:cNvSpPr/>
          <p:nvPr/>
        </p:nvSpPr>
        <p:spPr>
          <a:xfrm>
            <a:off x="2743200" y="2560320"/>
            <a:ext cx="5486400" cy="320040"/>
          </a:xfrm>
          <a:prstGeom prst="rect">
            <a:avLst/>
          </a:prstGeom>
          <a:noFill/>
          <a:ln/>
        </p:spPr>
        <p:txBody>
          <a:bodyPr wrap="square" lIns="0" tIns="0" rIns="0" bIns="0" rtlCol="0" anchor="ctr"/>
          <a:lstStyle/>
          <a:p>
            <a:pPr indent="0" marL="0">
              <a:buNone/>
            </a:pPr>
            <a:r>
              <a:rPr lang="en-US" sz="1100" dirty="0">
                <a:solidFill>
                  <a:srgbClr val="999999"/>
                </a:solidFill>
                <a:latin typeface="Helvetica Neue" pitchFamily="34" charset="0"/>
                <a:ea typeface="Helvetica Neue" pitchFamily="34" charset="-122"/>
                <a:cs typeface="Helvetica Neue" pitchFamily="34" charset="-120"/>
              </a:rPr>
              <a:t>Year 3 target. 1,000 subscribers + 10 coach partners + 3 enterprise pilots.</a:t>
            </a:r>
            <a:endParaRPr lang="en-US" sz="1100" dirty="0"/>
          </a:p>
        </p:txBody>
      </p:sp>
      <p:sp>
        <p:nvSpPr>
          <p:cNvPr id="14" name="Shape 12"/>
          <p:cNvSpPr/>
          <p:nvPr/>
        </p:nvSpPr>
        <p:spPr>
          <a:xfrm>
            <a:off x="548640" y="3108960"/>
            <a:ext cx="8046720" cy="0"/>
          </a:xfrm>
          <a:prstGeom prst="line">
            <a:avLst/>
          </a:prstGeom>
          <a:noFill/>
          <a:ln w="6350">
            <a:solidFill>
              <a:srgbClr val="EEEEEE"/>
            </a:solidFill>
            <a:prstDash val="solid"/>
          </a:ln>
        </p:spPr>
      </p:sp>
      <p:sp>
        <p:nvSpPr>
          <p:cNvPr id="15" name="Text 13"/>
          <p:cNvSpPr/>
          <p:nvPr/>
        </p:nvSpPr>
        <p:spPr>
          <a:xfrm>
            <a:off x="548640" y="3246120"/>
            <a:ext cx="3657600" cy="228600"/>
          </a:xfrm>
          <a:prstGeom prst="rect">
            <a:avLst/>
          </a:prstGeom>
          <a:noFill/>
          <a:ln/>
        </p:spPr>
        <p:txBody>
          <a:bodyPr wrap="square" lIns="0" tIns="0" rIns="0" bIns="0" rtlCol="0" anchor="ctr"/>
          <a:lstStyle/>
          <a:p>
            <a:pPr indent="0" marL="0">
              <a:buNone/>
            </a:pPr>
            <a:r>
              <a:rPr lang="en-US" sz="900" spc="200" kern="0" dirty="0">
                <a:solidFill>
                  <a:srgbClr val="D93025"/>
                </a:solidFill>
                <a:latin typeface="Helvetica Neue" pitchFamily="34" charset="0"/>
                <a:ea typeface="Helvetica Neue" pitchFamily="34" charset="-122"/>
                <a:cs typeface="Helvetica Neue" pitchFamily="34" charset="-120"/>
              </a:rPr>
              <a:t>THREE ENTRY POINTS</a:t>
            </a:r>
            <a:endParaRPr lang="en-US" sz="900" dirty="0"/>
          </a:p>
        </p:txBody>
      </p:sp>
      <p:sp>
        <p:nvSpPr>
          <p:cNvPr id="16" name="Text 14"/>
          <p:cNvSpPr/>
          <p:nvPr/>
        </p:nvSpPr>
        <p:spPr>
          <a:xfrm>
            <a:off x="548640" y="3566160"/>
            <a:ext cx="1645920" cy="320040"/>
          </a:xfrm>
          <a:prstGeom prst="rect">
            <a:avLst/>
          </a:prstGeom>
          <a:noFill/>
          <a:ln/>
        </p:spPr>
        <p:txBody>
          <a:bodyPr wrap="square" lIns="0" tIns="0" rIns="0" bIns="0" rtlCol="0" anchor="ctr"/>
          <a:lstStyle/>
          <a:p>
            <a:pPr indent="0" marL="0">
              <a:buNone/>
            </a:pPr>
            <a:r>
              <a:rPr lang="en-US" sz="1100" b="1" dirty="0">
                <a:solidFill>
                  <a:srgbClr val="1A1A1A"/>
                </a:solidFill>
                <a:latin typeface="Helvetica Neue" pitchFamily="34" charset="0"/>
                <a:ea typeface="Helvetica Neue" pitchFamily="34" charset="-122"/>
                <a:cs typeface="Helvetica Neue" pitchFamily="34" charset="-120"/>
              </a:rPr>
              <a:t>Job seekers</a:t>
            </a:r>
            <a:endParaRPr lang="en-US" sz="1100" dirty="0"/>
          </a:p>
        </p:txBody>
      </p:sp>
      <p:sp>
        <p:nvSpPr>
          <p:cNvPr id="17" name="Text 15"/>
          <p:cNvSpPr/>
          <p:nvPr/>
        </p:nvSpPr>
        <p:spPr>
          <a:xfrm>
            <a:off x="2286000" y="3566160"/>
            <a:ext cx="2743200" cy="320040"/>
          </a:xfrm>
          <a:prstGeom prst="rect">
            <a:avLst/>
          </a:prstGeom>
          <a:noFill/>
          <a:ln/>
        </p:spPr>
        <p:txBody>
          <a:bodyPr wrap="square" lIns="0" tIns="0" rIns="0" bIns="0" rtlCol="0" anchor="ctr"/>
          <a:lstStyle/>
          <a:p>
            <a:pPr indent="0" marL="0">
              <a:buNone/>
            </a:pPr>
            <a:r>
              <a:rPr lang="en-US" sz="1000" dirty="0">
                <a:solidFill>
                  <a:srgbClr val="999999"/>
                </a:solidFill>
                <a:latin typeface="Helvetica Neue" pitchFamily="34" charset="0"/>
                <a:ea typeface="Helvetica Neue" pitchFamily="34" charset="-122"/>
                <a:cs typeface="Helvetica Neue" pitchFamily="34" charset="-120"/>
              </a:rPr>
              <a:t>$2.5B career coaching + $11B TA software</a:t>
            </a:r>
            <a:endParaRPr lang="en-US" sz="1000" dirty="0"/>
          </a:p>
        </p:txBody>
      </p:sp>
      <p:sp>
        <p:nvSpPr>
          <p:cNvPr id="18" name="Text 16"/>
          <p:cNvSpPr/>
          <p:nvPr/>
        </p:nvSpPr>
        <p:spPr>
          <a:xfrm>
            <a:off x="5120640" y="3566160"/>
            <a:ext cx="3657600" cy="320040"/>
          </a:xfrm>
          <a:prstGeom prst="rect">
            <a:avLst/>
          </a:prstGeom>
          <a:noFill/>
          <a:ln/>
        </p:spPr>
        <p:txBody>
          <a:bodyPr wrap="square" lIns="0" tIns="0" rIns="0" bIns="0" rtlCol="0" anchor="ct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Free lens → paid scoring pipeline ($50/mo)</a:t>
            </a:r>
            <a:endParaRPr lang="en-US" sz="1000" dirty="0"/>
          </a:p>
        </p:txBody>
      </p:sp>
      <p:sp>
        <p:nvSpPr>
          <p:cNvPr id="19" name="Text 17"/>
          <p:cNvSpPr/>
          <p:nvPr/>
        </p:nvSpPr>
        <p:spPr>
          <a:xfrm>
            <a:off x="548640" y="4023360"/>
            <a:ext cx="1645920" cy="320040"/>
          </a:xfrm>
          <a:prstGeom prst="rect">
            <a:avLst/>
          </a:prstGeom>
          <a:noFill/>
          <a:ln/>
        </p:spPr>
        <p:txBody>
          <a:bodyPr wrap="square" lIns="0" tIns="0" rIns="0" bIns="0" rtlCol="0" anchor="ctr"/>
          <a:lstStyle/>
          <a:p>
            <a:pPr indent="0" marL="0">
              <a:buNone/>
            </a:pPr>
            <a:r>
              <a:rPr lang="en-US" sz="1100" b="1" dirty="0">
                <a:solidFill>
                  <a:srgbClr val="1A1A1A"/>
                </a:solidFill>
                <a:latin typeface="Helvetica Neue" pitchFamily="34" charset="0"/>
                <a:ea typeface="Helvetica Neue" pitchFamily="34" charset="-122"/>
                <a:cs typeface="Helvetica Neue" pitchFamily="34" charset="-120"/>
              </a:rPr>
              <a:t>Career coaches</a:t>
            </a:r>
            <a:endParaRPr lang="en-US" sz="1100" dirty="0"/>
          </a:p>
        </p:txBody>
      </p:sp>
      <p:sp>
        <p:nvSpPr>
          <p:cNvPr id="20" name="Text 18"/>
          <p:cNvSpPr/>
          <p:nvPr/>
        </p:nvSpPr>
        <p:spPr>
          <a:xfrm>
            <a:off x="2286000" y="4023360"/>
            <a:ext cx="2743200" cy="320040"/>
          </a:xfrm>
          <a:prstGeom prst="rect">
            <a:avLst/>
          </a:prstGeom>
          <a:noFill/>
          <a:ln/>
        </p:spPr>
        <p:txBody>
          <a:bodyPr wrap="square" lIns="0" tIns="0" rIns="0" bIns="0" rtlCol="0" anchor="ctr"/>
          <a:lstStyle/>
          <a:p>
            <a:pPr indent="0" marL="0">
              <a:buNone/>
            </a:pPr>
            <a:r>
              <a:rPr lang="en-US" sz="1000" dirty="0">
                <a:solidFill>
                  <a:srgbClr val="999999"/>
                </a:solidFill>
                <a:latin typeface="Helvetica Neue" pitchFamily="34" charset="0"/>
                <a:ea typeface="Helvetica Neue" pitchFamily="34" charset="-122"/>
                <a:cs typeface="Helvetica Neue" pitchFamily="34" charset="-120"/>
              </a:rPr>
              <a:t>167K coaches, $5.3B in revenue</a:t>
            </a:r>
            <a:endParaRPr lang="en-US" sz="1000" dirty="0"/>
          </a:p>
        </p:txBody>
      </p:sp>
      <p:sp>
        <p:nvSpPr>
          <p:cNvPr id="21" name="Text 19"/>
          <p:cNvSpPr/>
          <p:nvPr/>
        </p:nvSpPr>
        <p:spPr>
          <a:xfrm>
            <a:off x="5120640" y="4023360"/>
            <a:ext cx="3657600" cy="320040"/>
          </a:xfrm>
          <a:prstGeom prst="rect">
            <a:avLst/>
          </a:prstGeom>
          <a:noFill/>
          <a:ln/>
        </p:spPr>
        <p:txBody>
          <a:bodyPr wrap="square" lIns="0" tIns="0" rIns="0" bIns="0" rtlCol="0" anchor="ct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Coach-as-channel: encode methodology, revenue share</a:t>
            </a:r>
            <a:endParaRPr lang="en-US" sz="1000" dirty="0"/>
          </a:p>
        </p:txBody>
      </p:sp>
      <p:sp>
        <p:nvSpPr>
          <p:cNvPr id="22" name="Text 20"/>
          <p:cNvSpPr/>
          <p:nvPr/>
        </p:nvSpPr>
        <p:spPr>
          <a:xfrm>
            <a:off x="548640" y="4480560"/>
            <a:ext cx="1645920" cy="320040"/>
          </a:xfrm>
          <a:prstGeom prst="rect">
            <a:avLst/>
          </a:prstGeom>
          <a:noFill/>
          <a:ln/>
        </p:spPr>
        <p:txBody>
          <a:bodyPr wrap="square" lIns="0" tIns="0" rIns="0" bIns="0" rtlCol="0" anchor="ctr"/>
          <a:lstStyle/>
          <a:p>
            <a:pPr indent="0" marL="0">
              <a:buNone/>
            </a:pPr>
            <a:r>
              <a:rPr lang="en-US" sz="1100" b="1" dirty="0">
                <a:solidFill>
                  <a:srgbClr val="1A1A1A"/>
                </a:solidFill>
                <a:latin typeface="Helvetica Neue" pitchFamily="34" charset="0"/>
                <a:ea typeface="Helvetica Neue" pitchFamily="34" charset="-122"/>
                <a:cs typeface="Helvetica Neue" pitchFamily="34" charset="-120"/>
              </a:rPr>
              <a:t>Enterprise hiring</a:t>
            </a:r>
            <a:endParaRPr lang="en-US" sz="1100" dirty="0"/>
          </a:p>
        </p:txBody>
      </p:sp>
      <p:sp>
        <p:nvSpPr>
          <p:cNvPr id="23" name="Text 21"/>
          <p:cNvSpPr/>
          <p:nvPr/>
        </p:nvSpPr>
        <p:spPr>
          <a:xfrm>
            <a:off x="2286000" y="4480560"/>
            <a:ext cx="2743200" cy="320040"/>
          </a:xfrm>
          <a:prstGeom prst="rect">
            <a:avLst/>
          </a:prstGeom>
          <a:noFill/>
          <a:ln/>
        </p:spPr>
        <p:txBody>
          <a:bodyPr wrap="square" lIns="0" tIns="0" rIns="0" bIns="0" rtlCol="0" anchor="ctr"/>
          <a:lstStyle/>
          <a:p>
            <a:pPr indent="0" marL="0">
              <a:buNone/>
            </a:pPr>
            <a:r>
              <a:rPr lang="en-US" sz="1000" dirty="0">
                <a:solidFill>
                  <a:srgbClr val="999999"/>
                </a:solidFill>
                <a:latin typeface="Helvetica Neue" pitchFamily="34" charset="0"/>
                <a:ea typeface="Helvetica Neue" pitchFamily="34" charset="-122"/>
                <a:cs typeface="Helvetica Neue" pitchFamily="34" charset="-120"/>
              </a:rPr>
              <a:t>$35B digital TA, 72% using AI</a:t>
            </a:r>
            <a:endParaRPr lang="en-US" sz="1000" dirty="0"/>
          </a:p>
        </p:txBody>
      </p:sp>
      <p:sp>
        <p:nvSpPr>
          <p:cNvPr id="24" name="Text 22"/>
          <p:cNvSpPr/>
          <p:nvPr/>
        </p:nvSpPr>
        <p:spPr>
          <a:xfrm>
            <a:off x="5120640" y="4480560"/>
            <a:ext cx="3657600" cy="320040"/>
          </a:xfrm>
          <a:prstGeom prst="rect">
            <a:avLst/>
          </a:prstGeom>
          <a:noFill/>
          <a:ln/>
        </p:spPr>
        <p:txBody>
          <a:bodyPr wrap="square" lIns="0" tIns="0" rIns="0" bIns="0" rtlCol="0" anchor="ct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Bidirectional matching engine, per-seat licensing</a:t>
            </a:r>
            <a:endParaRPr lang="en-US" sz="1000" dirty="0"/>
          </a:p>
        </p:txBody>
      </p:sp>
      <p:sp>
        <p:nvSpPr>
          <p:cNvPr id="25" name="Text 23"/>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6/18</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REVENUE</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Three revenue streams.</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046720" cy="914400"/>
        </p:xfrm>
        <a:graphic>
          <a:graphicData uri="http://schemas.openxmlformats.org/drawingml/2006/table">
            <a:tbl>
              <a:tblPr/>
              <a:tblGrid>
                <a:gridCol w="1645920"/>
                <a:gridCol w="2011680"/>
                <a:gridCol w="1463040"/>
                <a:gridCol w="1463040"/>
                <a:gridCol w="1463040"/>
              </a:tblGrid>
              <a:tr h="274320">
                <a:tc>
                  <a:txBody>
                    <a:bodyPr/>
                    <a:lstStyle/>
                    <a:p>
                      <a:pPr indent="0" marL="0">
                        <a:buNone/>
                      </a:pPr>
                      <a:r>
                        <a:rPr lang="en-US" sz="900" b="1" dirty="0">
                          <a:solidFill>
                            <a:srgbClr val="999999"/>
                          </a:solidFill>
                          <a:latin typeface="Helvetica Neue" pitchFamily="34" charset="0"/>
                          <a:ea typeface="Helvetica Neue" pitchFamily="34" charset="-122"/>
                          <a:cs typeface="Helvetica Neue" pitchFamily="34" charset="-120"/>
                        </a:rPr>
                        <a:t>Stream</a:t>
                      </a:r>
                      <a:endParaRPr lang="en-US" sz="9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900" b="1" dirty="0">
                          <a:solidFill>
                            <a:srgbClr val="999999"/>
                          </a:solidFill>
                          <a:latin typeface="Helvetica Neue" pitchFamily="34" charset="0"/>
                          <a:ea typeface="Helvetica Neue" pitchFamily="34" charset="-122"/>
                          <a:cs typeface="Helvetica Neue" pitchFamily="34" charset="-120"/>
                        </a:rPr>
                        <a:t>Model</a:t>
                      </a:r>
                      <a:endParaRPr lang="en-US" sz="9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900" b="1" dirty="0">
                          <a:solidFill>
                            <a:srgbClr val="999999"/>
                          </a:solidFill>
                          <a:latin typeface="Helvetica Neue" pitchFamily="34" charset="0"/>
                          <a:ea typeface="Helvetica Neue" pitchFamily="34" charset="-122"/>
                          <a:cs typeface="Helvetica Neue" pitchFamily="34" charset="-120"/>
                        </a:rPr>
                        <a:t>Year 1</a:t>
                      </a:r>
                      <a:endParaRPr lang="en-US" sz="9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900" b="1" dirty="0">
                          <a:solidFill>
                            <a:srgbClr val="999999"/>
                          </a:solidFill>
                          <a:latin typeface="Helvetica Neue" pitchFamily="34" charset="0"/>
                          <a:ea typeface="Helvetica Neue" pitchFamily="34" charset="-122"/>
                          <a:cs typeface="Helvetica Neue" pitchFamily="34" charset="-120"/>
                        </a:rPr>
                        <a:t>Year 2</a:t>
                      </a:r>
                      <a:endParaRPr lang="en-US" sz="9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900" b="1" dirty="0">
                          <a:solidFill>
                            <a:srgbClr val="999999"/>
                          </a:solidFill>
                          <a:latin typeface="Helvetica Neue" pitchFamily="34" charset="0"/>
                          <a:ea typeface="Helvetica Neue" pitchFamily="34" charset="-122"/>
                          <a:cs typeface="Helvetica Neue" pitchFamily="34" charset="-120"/>
                        </a:rPr>
                        <a:t>Year 3</a:t>
                      </a:r>
                      <a:endParaRPr lang="en-US" sz="9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r>
              <a:tr h="502920">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Consumer (B2C)</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$50/mo subscription</a:t>
                      </a:r>
                      <a:endParaRPr lang="en-US" sz="1000" dirty="0">
                        <a:latin typeface="Helvetica Neue" charset="0"/>
                        <a:ea typeface="Helvetica Neue" charset="0"/>
                        <a:cs typeface="Helvetica Neue" charset="0"/>
                      </a:endParaRPr>
                    </a:p>
                    <a:p>
                      <a:pPr indent="0" marL="0">
                        <a:buNone/>
                      </a:pPr>
                      <a:r>
                        <a:rPr lang="en-US" sz="1000" dirty="0">
                          <a:solidFill>
                            <a:srgbClr val="1A1A1A"/>
                          </a:solidFill>
                          <a:latin typeface="Helvetica Neue" pitchFamily="34" charset="0"/>
                          <a:ea typeface="Helvetica Neue" pitchFamily="34" charset="-122"/>
                          <a:cs typeface="Helvetica Neue" pitchFamily="34" charset="-120"/>
                        </a:rPr>
                        <a:t>Daily scored briefings</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$30K</a:t>
                      </a:r>
                      <a:endParaRPr lang="en-US" sz="1000" dirty="0">
                        <a:latin typeface="Helvetica Neue" charset="0"/>
                        <a:ea typeface="Helvetica Neue" charset="0"/>
                        <a:cs typeface="Helvetica Neue" charset="0"/>
                      </a:endParaRPr>
                    </a:p>
                    <a:p>
                      <a:pPr indent="0" marL="0">
                        <a:buNone/>
                      </a:pPr>
                      <a:r>
                        <a:rPr lang="en-US" sz="1000" dirty="0">
                          <a:solidFill>
                            <a:srgbClr val="1A1A1A"/>
                          </a:solidFill>
                          <a:latin typeface="Helvetica Neue" pitchFamily="34" charset="0"/>
                          <a:ea typeface="Helvetica Neue" pitchFamily="34" charset="-122"/>
                          <a:cs typeface="Helvetica Neue" pitchFamily="34" charset="-120"/>
                        </a:rPr>
                        <a:t>50 subs by M12</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$180K</a:t>
                      </a:r>
                      <a:endParaRPr lang="en-US" sz="1000" dirty="0">
                        <a:latin typeface="Helvetica Neue" charset="0"/>
                        <a:ea typeface="Helvetica Neue" charset="0"/>
                        <a:cs typeface="Helvetica Neue" charset="0"/>
                      </a:endParaRPr>
                    </a:p>
                    <a:p>
                      <a:pPr indent="0" marL="0">
                        <a:buNone/>
                      </a:pPr>
                      <a:r>
                        <a:rPr lang="en-US" sz="1000" dirty="0">
                          <a:solidFill>
                            <a:srgbClr val="1A1A1A"/>
                          </a:solidFill>
                          <a:latin typeface="Helvetica Neue" pitchFamily="34" charset="0"/>
                          <a:ea typeface="Helvetica Neue" pitchFamily="34" charset="-122"/>
                          <a:cs typeface="Helvetica Neue" pitchFamily="34" charset="-120"/>
                        </a:rPr>
                        <a:t>300 subs</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$600K</a:t>
                      </a:r>
                      <a:endParaRPr lang="en-US" sz="1000" dirty="0">
                        <a:latin typeface="Helvetica Neue" charset="0"/>
                        <a:ea typeface="Helvetica Neue" charset="0"/>
                        <a:cs typeface="Helvetica Neue" charset="0"/>
                      </a:endParaRPr>
                    </a:p>
                    <a:p>
                      <a:pPr indent="0" marL="0">
                        <a:buNone/>
                      </a:pPr>
                      <a:r>
                        <a:rPr lang="en-US" sz="1000" dirty="0">
                          <a:solidFill>
                            <a:srgbClr val="1A1A1A"/>
                          </a:solidFill>
                          <a:latin typeface="Helvetica Neue" pitchFamily="34" charset="0"/>
                          <a:ea typeface="Helvetica Neue" pitchFamily="34" charset="-122"/>
                          <a:cs typeface="Helvetica Neue" pitchFamily="34" charset="-120"/>
                        </a:rPr>
                        <a:t>1,000 subs</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r>
              <a:tr h="502920">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Coach Channel (B2B2C)</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Revenue share on</a:t>
                      </a:r>
                      <a:endParaRPr lang="en-US" sz="1000" dirty="0">
                        <a:latin typeface="Helvetica Neue" charset="0"/>
                        <a:ea typeface="Helvetica Neue" charset="0"/>
                        <a:cs typeface="Helvetica Neue" charset="0"/>
                      </a:endParaRPr>
                    </a:p>
                    <a:p>
                      <a:pPr indent="0" marL="0">
                        <a:buNone/>
                      </a:pPr>
                      <a:r>
                        <a:rPr lang="en-US" sz="1000" dirty="0">
                          <a:solidFill>
                            <a:srgbClr val="1A1A1A"/>
                          </a:solidFill>
                          <a:latin typeface="Helvetica Neue" pitchFamily="34" charset="0"/>
                          <a:ea typeface="Helvetica Neue" pitchFamily="34" charset="-122"/>
                          <a:cs typeface="Helvetica Neue" pitchFamily="34" charset="-120"/>
                        </a:rPr>
                        <a:t>coach-referred subs</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$12K</a:t>
                      </a:r>
                      <a:endParaRPr lang="en-US" sz="1000" dirty="0">
                        <a:latin typeface="Helvetica Neue" charset="0"/>
                        <a:ea typeface="Helvetica Neue" charset="0"/>
                        <a:cs typeface="Helvetica Neue" charset="0"/>
                      </a:endParaRPr>
                    </a:p>
                    <a:p>
                      <a:pPr indent="0" marL="0">
                        <a:buNone/>
                      </a:pPr>
                      <a:r>
                        <a:rPr lang="en-US" sz="1000" dirty="0">
                          <a:solidFill>
                            <a:srgbClr val="1A1A1A"/>
                          </a:solidFill>
                          <a:latin typeface="Helvetica Neue" pitchFamily="34" charset="0"/>
                          <a:ea typeface="Helvetica Neue" pitchFamily="34" charset="-122"/>
                          <a:cs typeface="Helvetica Neue" pitchFamily="34" charset="-120"/>
                        </a:rPr>
                        <a:t>2 coaches</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$72K</a:t>
                      </a:r>
                      <a:endParaRPr lang="en-US" sz="1000" dirty="0">
                        <a:latin typeface="Helvetica Neue" charset="0"/>
                        <a:ea typeface="Helvetica Neue" charset="0"/>
                        <a:cs typeface="Helvetica Neue" charset="0"/>
                      </a:endParaRPr>
                    </a:p>
                    <a:p>
                      <a:pPr indent="0" marL="0">
                        <a:buNone/>
                      </a:pPr>
                      <a:r>
                        <a:rPr lang="en-US" sz="1000" dirty="0">
                          <a:solidFill>
                            <a:srgbClr val="1A1A1A"/>
                          </a:solidFill>
                          <a:latin typeface="Helvetica Neue" pitchFamily="34" charset="0"/>
                          <a:ea typeface="Helvetica Neue" pitchFamily="34" charset="-122"/>
                          <a:cs typeface="Helvetica Neue" pitchFamily="34" charset="-120"/>
                        </a:rPr>
                        <a:t>5 coaches</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$180K</a:t>
                      </a:r>
                      <a:endParaRPr lang="en-US" sz="1000" dirty="0">
                        <a:latin typeface="Helvetica Neue" charset="0"/>
                        <a:ea typeface="Helvetica Neue" charset="0"/>
                        <a:cs typeface="Helvetica Neue" charset="0"/>
                      </a:endParaRPr>
                    </a:p>
                    <a:p>
                      <a:pPr indent="0" marL="0">
                        <a:buNone/>
                      </a:pPr>
                      <a:r>
                        <a:rPr lang="en-US" sz="1000" dirty="0">
                          <a:solidFill>
                            <a:srgbClr val="1A1A1A"/>
                          </a:solidFill>
                          <a:latin typeface="Helvetica Neue" pitchFamily="34" charset="0"/>
                          <a:ea typeface="Helvetica Neue" pitchFamily="34" charset="-122"/>
                          <a:cs typeface="Helvetica Neue" pitchFamily="34" charset="-120"/>
                        </a:rPr>
                        <a:t>10 coaches</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r>
              <a:tr h="502920">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Enterprise (B2B)</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Per-seat + setup fee</a:t>
                      </a:r>
                      <a:endParaRPr lang="en-US" sz="1000" dirty="0">
                        <a:latin typeface="Helvetica Neue" charset="0"/>
                        <a:ea typeface="Helvetica Neue" charset="0"/>
                        <a:cs typeface="Helvetica Neue" charset="0"/>
                      </a:endParaRPr>
                    </a:p>
                    <a:p>
                      <a:pPr indent="0" marL="0">
                        <a:buNone/>
                      </a:pPr>
                      <a:r>
                        <a:rPr lang="en-US" sz="1000" dirty="0">
                          <a:solidFill>
                            <a:srgbClr val="1A1A1A"/>
                          </a:solidFill>
                          <a:latin typeface="Helvetica Neue" pitchFamily="34" charset="0"/>
                          <a:ea typeface="Helvetica Neue" pitchFamily="34" charset="-122"/>
                          <a:cs typeface="Helvetica Neue" pitchFamily="34" charset="-120"/>
                        </a:rPr>
                        <a:t>Bidirectional matching</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$0</a:t>
                      </a:r>
                      <a:endParaRPr lang="en-US" sz="1000" dirty="0">
                        <a:latin typeface="Helvetica Neue" charset="0"/>
                        <a:ea typeface="Helvetica Neue" charset="0"/>
                        <a:cs typeface="Helvetica Neue" charset="0"/>
                      </a:endParaRPr>
                    </a:p>
                    <a:p>
                      <a:pPr indent="0" marL="0">
                        <a:buNone/>
                      </a:pPr>
                      <a:r>
                        <a:rPr lang="en-US" sz="1000" dirty="0">
                          <a:solidFill>
                            <a:srgbClr val="1A1A1A"/>
                          </a:solidFill>
                          <a:latin typeface="Helvetica Neue" pitchFamily="34" charset="0"/>
                          <a:ea typeface="Helvetica Neue" pitchFamily="34" charset="-122"/>
                          <a:cs typeface="Helvetica Neue" pitchFamily="34" charset="-120"/>
                        </a:rPr>
                        <a:t>Pilot only</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$60K</a:t>
                      </a:r>
                      <a:endParaRPr lang="en-US" sz="1000" dirty="0">
                        <a:latin typeface="Helvetica Neue" charset="0"/>
                        <a:ea typeface="Helvetica Neue" charset="0"/>
                        <a:cs typeface="Helvetica Neue" charset="0"/>
                      </a:endParaRPr>
                    </a:p>
                    <a:p>
                      <a:pPr indent="0" marL="0">
                        <a:buNone/>
                      </a:pPr>
                      <a:r>
                        <a:rPr lang="en-US" sz="1000" dirty="0">
                          <a:solidFill>
                            <a:srgbClr val="1A1A1A"/>
                          </a:solidFill>
                          <a:latin typeface="Helvetica Neue" pitchFamily="34" charset="0"/>
                          <a:ea typeface="Helvetica Neue" pitchFamily="34" charset="-122"/>
                          <a:cs typeface="Helvetica Neue" pitchFamily="34" charset="-120"/>
                        </a:rPr>
                        <a:t>2 pilots converting</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dirty="0">
                          <a:solidFill>
                            <a:srgbClr val="1A1A1A"/>
                          </a:solidFill>
                          <a:latin typeface="Helvetica Neue" pitchFamily="34" charset="0"/>
                          <a:ea typeface="Helvetica Neue" pitchFamily="34" charset="-122"/>
                          <a:cs typeface="Helvetica Neue" pitchFamily="34" charset="-120"/>
                        </a:rPr>
                        <a:t>$420K</a:t>
                      </a:r>
                      <a:endParaRPr lang="en-US" sz="1000" dirty="0">
                        <a:latin typeface="Helvetica Neue" charset="0"/>
                        <a:ea typeface="Helvetica Neue" charset="0"/>
                        <a:cs typeface="Helvetica Neue" charset="0"/>
                      </a:endParaRPr>
                    </a:p>
                    <a:p>
                      <a:pPr indent="0" marL="0">
                        <a:buNone/>
                      </a:pPr>
                      <a:r>
                        <a:rPr lang="en-US" sz="1000" dirty="0">
                          <a:solidFill>
                            <a:srgbClr val="1A1A1A"/>
                          </a:solidFill>
                          <a:latin typeface="Helvetica Neue" pitchFamily="34" charset="0"/>
                          <a:ea typeface="Helvetica Neue" pitchFamily="34" charset="-122"/>
                          <a:cs typeface="Helvetica Neue" pitchFamily="34" charset="-120"/>
                        </a:rPr>
                        <a:t>5 clients</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r>
              <a:tr h="365760">
                <a:tc>
                  <a:txBody>
                    <a:bodyPr/>
                    <a:lstStyle/>
                    <a:p>
                      <a:pPr indent="0" marL="0">
                        <a:buNone/>
                      </a:pPr>
                      <a:r>
                        <a:rPr lang="en-US" sz="1000" b="1" dirty="0">
                          <a:solidFill>
                            <a:srgbClr val="1A1A1A"/>
                          </a:solidFill>
                          <a:latin typeface="Helvetica Neue" pitchFamily="34" charset="0"/>
                          <a:ea typeface="Helvetica Neue" pitchFamily="34" charset="-122"/>
                          <a:cs typeface="Helvetica Neue" pitchFamily="34" charset="-120"/>
                        </a:rPr>
                        <a:t>TOTAL</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b="1" dirty="0">
                          <a:solidFill>
                            <a:srgbClr val="D93025"/>
                          </a:solidFill>
                          <a:latin typeface="Helvetica Neue" pitchFamily="34" charset="0"/>
                          <a:ea typeface="Helvetica Neue" pitchFamily="34" charset="-122"/>
                          <a:cs typeface="Helvetica Neue" pitchFamily="34" charset="-120"/>
                        </a:rPr>
                        <a:t>$42K</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b="1" dirty="0">
                          <a:solidFill>
                            <a:srgbClr val="D93025"/>
                          </a:solidFill>
                          <a:latin typeface="Helvetica Neue" pitchFamily="34" charset="0"/>
                          <a:ea typeface="Helvetica Neue" pitchFamily="34" charset="-122"/>
                          <a:cs typeface="Helvetica Neue" pitchFamily="34" charset="-120"/>
                        </a:rPr>
                        <a:t>$312K</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c>
                  <a:txBody>
                    <a:bodyPr/>
                    <a:lstStyle/>
                    <a:p>
                      <a:pPr indent="0" marL="0">
                        <a:buNone/>
                      </a:pPr>
                      <a:r>
                        <a:rPr lang="en-US" sz="1000" b="1" dirty="0">
                          <a:solidFill>
                            <a:srgbClr val="D93025"/>
                          </a:solidFill>
                          <a:latin typeface="Helvetica Neue" pitchFamily="34" charset="0"/>
                          <a:ea typeface="Helvetica Neue" pitchFamily="34" charset="-122"/>
                          <a:cs typeface="Helvetica Neue" pitchFamily="34" charset="-120"/>
                        </a:rPr>
                        <a:t>$1.2M</a:t>
                      </a:r>
                      <a:endParaRPr lang="en-US" sz="1000" dirty="0">
                        <a:latin typeface="Helvetica Neue" charset="0"/>
                        <a:ea typeface="Helvetica Neue" charset="0"/>
                        <a:cs typeface="Helvetica Neue" charset="0"/>
                      </a:endParaRPr>
                    </a:p>
                  </a:txBody>
                  <a:tcPr marL="91440" marR="91440" marT="45720" marB="45720">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tcPr>
                </a:tc>
              </a:tr>
            </a:tbl>
          </a:graphicData>
        </a:graphic>
      </p:graphicFrame>
      <p:sp>
        <p:nvSpPr>
          <p:cNvPr id="6" name="Shape 3"/>
          <p:cNvSpPr/>
          <p:nvPr/>
        </p:nvSpPr>
        <p:spPr>
          <a:xfrm>
            <a:off x="548640" y="3931920"/>
            <a:ext cx="8046720" cy="0"/>
          </a:xfrm>
          <a:prstGeom prst="line">
            <a:avLst/>
          </a:prstGeom>
          <a:noFill/>
          <a:ln w="6350">
            <a:solidFill>
              <a:srgbClr val="EEEEEE"/>
            </a:solidFill>
            <a:prstDash val="solid"/>
          </a:ln>
        </p:spPr>
      </p:sp>
      <p:sp>
        <p:nvSpPr>
          <p:cNvPr id="7" name="Text 4"/>
          <p:cNvSpPr/>
          <p:nvPr/>
        </p:nvSpPr>
        <p:spPr>
          <a:xfrm>
            <a:off x="548640" y="4114800"/>
            <a:ext cx="7772400" cy="320040"/>
          </a:xfrm>
          <a:prstGeom prst="rect">
            <a:avLst/>
          </a:prstGeom>
          <a:noFill/>
          <a:ln/>
        </p:spPr>
        <p:txBody>
          <a:bodyPr wrap="square" lIns="0" tIns="0" rIns="0" bIns="0" rtlCol="0" anchor="ctr"/>
          <a:lstStyle/>
          <a:p>
            <a:pPr indent="0" marL="0">
              <a:buNone/>
            </a:pPr>
            <a:r>
              <a:rPr lang="en-US" sz="1100" dirty="0">
                <a:solidFill>
                  <a:srgbClr val="999999"/>
                </a:solidFill>
                <a:latin typeface="Helvetica Neue" pitchFamily="34" charset="0"/>
                <a:ea typeface="Helvetica Neue" pitchFamily="34" charset="-122"/>
                <a:cs typeface="Helvetica Neue" pitchFamily="34" charset="-120"/>
              </a:rPr>
              <a:t>Unit economics: $50/mo sub at ~$3/mo API cost = 94% gross margin. Coach rev share 20-30%. Enterprise per-seat $200-500/mo.</a:t>
            </a:r>
            <a:endParaRPr lang="en-US" sz="1100" dirty="0"/>
          </a:p>
        </p:txBody>
      </p:sp>
      <p:sp>
        <p:nvSpPr>
          <p:cNvPr id="8" name="Text 5"/>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7/18</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PATH TO REVENUE</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Bootstrap first. Raise on traction.</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sp>
        <p:nvSpPr>
          <p:cNvPr id="5" name="Text 3"/>
          <p:cNvSpPr/>
          <p:nvPr/>
        </p:nvSpPr>
        <p:spPr>
          <a:xfrm>
            <a:off x="548640" y="1554480"/>
            <a:ext cx="914400" cy="274320"/>
          </a:xfrm>
          <a:prstGeom prst="rect">
            <a:avLst/>
          </a:prstGeom>
          <a:noFill/>
          <a:ln/>
        </p:spPr>
        <p:txBody>
          <a:bodyPr wrap="square" lIns="0" tIns="0" rIns="0" bIns="0" rtlCol="0" anchor="ctr"/>
          <a:lstStyle/>
          <a:p>
            <a:pPr indent="0" marL="0">
              <a:buNone/>
            </a:pPr>
            <a:r>
              <a:rPr lang="en-US" sz="1000" b="1" dirty="0">
                <a:solidFill>
                  <a:srgbClr val="E8590C"/>
                </a:solidFill>
                <a:latin typeface="Helvetica Neue" pitchFamily="34" charset="0"/>
                <a:ea typeface="Helvetica Neue" pitchFamily="34" charset="-122"/>
                <a:cs typeface="Helvetica Neue" pitchFamily="34" charset="-120"/>
              </a:rPr>
              <a:t>NOW</a:t>
            </a:r>
            <a:endParaRPr lang="en-US" sz="1000" dirty="0"/>
          </a:p>
        </p:txBody>
      </p:sp>
      <p:sp>
        <p:nvSpPr>
          <p:cNvPr id="6" name="Text 4"/>
          <p:cNvSpPr/>
          <p:nvPr/>
        </p:nvSpPr>
        <p:spPr>
          <a:xfrm>
            <a:off x="1554480" y="1554480"/>
            <a:ext cx="2286000" cy="274320"/>
          </a:xfrm>
          <a:prstGeom prst="rect">
            <a:avLst/>
          </a:prstGeom>
          <a:noFill/>
          <a:ln/>
        </p:spPr>
        <p:txBody>
          <a:bodyPr wrap="square" lIns="0" tIns="0" rIns="0" bIns="0" rtlCol="0" anchor="ctr"/>
          <a:lstStyle/>
          <a:p>
            <a:pPr indent="0" marL="0">
              <a:buNone/>
            </a:pPr>
            <a:r>
              <a:rPr lang="en-US" sz="1200" b="1" dirty="0">
                <a:solidFill>
                  <a:srgbClr val="1A1A1A"/>
                </a:solidFill>
                <a:latin typeface="Helvetica Neue" pitchFamily="34" charset="0"/>
                <a:ea typeface="Helvetica Neue" pitchFamily="34" charset="-122"/>
                <a:cs typeface="Helvetica Neue" pitchFamily="34" charset="-120"/>
              </a:rPr>
              <a:t>Free tool + validation</a:t>
            </a:r>
            <a:endParaRPr lang="en-US" sz="1200" dirty="0"/>
          </a:p>
        </p:txBody>
      </p:sp>
      <p:sp>
        <p:nvSpPr>
          <p:cNvPr id="7" name="Text 5"/>
          <p:cNvSpPr/>
          <p:nvPr/>
        </p:nvSpPr>
        <p:spPr>
          <a:xfrm>
            <a:off x="3931920" y="1554480"/>
            <a:ext cx="1188720" cy="274320"/>
          </a:xfrm>
          <a:prstGeom prst="rect">
            <a:avLst/>
          </a:prstGeom>
          <a:noFill/>
          <a:ln/>
        </p:spPr>
        <p:txBody>
          <a:bodyPr wrap="square" lIns="0" tIns="0" rIns="0" bIns="0" rtlCol="0" anchor="ctr"/>
          <a:lstStyle/>
          <a:p>
            <a:pPr indent="0" marL="0">
              <a:buNone/>
            </a:pPr>
            <a:r>
              <a:rPr lang="en-US" sz="1000" dirty="0">
                <a:solidFill>
                  <a:srgbClr val="999999"/>
                </a:solidFill>
                <a:latin typeface="Helvetica Neue" pitchFamily="34" charset="0"/>
                <a:ea typeface="Helvetica Neue" pitchFamily="34" charset="-122"/>
                <a:cs typeface="Helvetica Neue" pitchFamily="34" charset="-120"/>
              </a:rPr>
              <a:t>Cost: $0</a:t>
            </a:r>
            <a:endParaRPr lang="en-US" sz="1000" dirty="0"/>
          </a:p>
        </p:txBody>
      </p:sp>
      <p:sp>
        <p:nvSpPr>
          <p:cNvPr id="8" name="Text 6"/>
          <p:cNvSpPr/>
          <p:nvPr/>
        </p:nvSpPr>
        <p:spPr>
          <a:xfrm>
            <a:off x="5212080" y="1554480"/>
            <a:ext cx="1371600" cy="274320"/>
          </a:xfrm>
          <a:prstGeom prst="rect">
            <a:avLst/>
          </a:prstGeom>
          <a:noFill/>
          <a:ln/>
        </p:spPr>
        <p:txBody>
          <a:bodyPr wrap="square" lIns="0" tIns="0" rIns="0" bIns="0" rtlCol="0" anchor="ctr"/>
          <a:lstStyle/>
          <a:p>
            <a:pPr indent="0" marL="0">
              <a:buNone/>
            </a:pPr>
            <a:r>
              <a:rPr lang="en-US" sz="1000" b="1" dirty="0">
                <a:solidFill>
                  <a:srgbClr val="D93025"/>
                </a:solidFill>
                <a:latin typeface="Helvetica Neue" pitchFamily="34" charset="0"/>
                <a:ea typeface="Helvetica Neue" pitchFamily="34" charset="-122"/>
                <a:cs typeface="Helvetica Neue" pitchFamily="34" charset="-120"/>
              </a:rPr>
              <a:t>Rev: $0</a:t>
            </a:r>
            <a:endParaRPr lang="en-US" sz="1000" dirty="0"/>
          </a:p>
        </p:txBody>
      </p:sp>
      <p:sp>
        <p:nvSpPr>
          <p:cNvPr id="9" name="Text 7"/>
          <p:cNvSpPr/>
          <p:nvPr/>
        </p:nvSpPr>
        <p:spPr>
          <a:xfrm>
            <a:off x="1554480" y="1856232"/>
            <a:ext cx="6858000" cy="365760"/>
          </a:xfrm>
          <a:prstGeom prst="rect">
            <a:avLst/>
          </a:prstGeom>
          <a:noFill/>
          <a:ln/>
        </p:spPr>
        <p:txBody>
          <a:bodyPr wrap="square" lIns="0" tIns="0" rIns="0" bIns="0" rtlCol="0" anchor="ctr"/>
          <a:lstStyle/>
          <a:p>
            <a:pPr indent="0" marL="0">
              <a:buNone/>
            </a:pPr>
            <a:r>
              <a:rPr lang="en-US" sz="1000" dirty="0">
                <a:solidFill>
                  <a:srgbClr val="999999"/>
                </a:solidFill>
                <a:latin typeface="Helvetica Neue" pitchFamily="34" charset="0"/>
                <a:ea typeface="Helvetica Neue" pitchFamily="34" charset="-122"/>
                <a:cs typeface="Helvetica Neue" pitchFamily="34" charset="-120"/>
              </a:rPr>
              <a:t>Lens generation free on web. Collect emails. Test with Nathan + James. File patent.</a:t>
            </a:r>
            <a:endParaRPr lang="en-US" sz="1000" dirty="0"/>
          </a:p>
        </p:txBody>
      </p:sp>
      <p:sp>
        <p:nvSpPr>
          <p:cNvPr id="10" name="Text 8"/>
          <p:cNvSpPr/>
          <p:nvPr/>
        </p:nvSpPr>
        <p:spPr>
          <a:xfrm>
            <a:off x="548640" y="2377440"/>
            <a:ext cx="914400" cy="274320"/>
          </a:xfrm>
          <a:prstGeom prst="rect">
            <a:avLst/>
          </a:prstGeom>
          <a:noFill/>
          <a:ln/>
        </p:spPr>
        <p:txBody>
          <a:bodyPr wrap="square" lIns="0" tIns="0" rIns="0" bIns="0" rtlCol="0" anchor="ctr"/>
          <a:lstStyle/>
          <a:p>
            <a:pPr indent="0" marL="0">
              <a:buNone/>
            </a:pPr>
            <a:r>
              <a:rPr lang="en-US" sz="1000" b="1" dirty="0">
                <a:solidFill>
                  <a:srgbClr val="E8590C"/>
                </a:solidFill>
                <a:latin typeface="Helvetica Neue" pitchFamily="34" charset="0"/>
                <a:ea typeface="Helvetica Neue" pitchFamily="34" charset="-122"/>
                <a:cs typeface="Helvetica Neue" pitchFamily="34" charset="-120"/>
              </a:rPr>
              <a:t>Q2 ’26</a:t>
            </a:r>
            <a:endParaRPr lang="en-US" sz="1000" dirty="0"/>
          </a:p>
        </p:txBody>
      </p:sp>
      <p:sp>
        <p:nvSpPr>
          <p:cNvPr id="11" name="Text 9"/>
          <p:cNvSpPr/>
          <p:nvPr/>
        </p:nvSpPr>
        <p:spPr>
          <a:xfrm>
            <a:off x="1554480" y="2377440"/>
            <a:ext cx="2286000" cy="274320"/>
          </a:xfrm>
          <a:prstGeom prst="rect">
            <a:avLst/>
          </a:prstGeom>
          <a:noFill/>
          <a:ln/>
        </p:spPr>
        <p:txBody>
          <a:bodyPr wrap="square" lIns="0" tIns="0" rIns="0" bIns="0" rtlCol="0" anchor="ctr"/>
          <a:lstStyle/>
          <a:p>
            <a:pPr indent="0" marL="0">
              <a:buNone/>
            </a:pPr>
            <a:r>
              <a:rPr lang="en-US" sz="1200" b="1" dirty="0">
                <a:solidFill>
                  <a:srgbClr val="1A1A1A"/>
                </a:solidFill>
                <a:latin typeface="Helvetica Neue" pitchFamily="34" charset="0"/>
                <a:ea typeface="Helvetica Neue" pitchFamily="34" charset="-122"/>
                <a:cs typeface="Helvetica Neue" pitchFamily="34" charset="-120"/>
              </a:rPr>
              <a:t>Paid beta launch</a:t>
            </a:r>
            <a:endParaRPr lang="en-US" sz="1200" dirty="0"/>
          </a:p>
        </p:txBody>
      </p:sp>
      <p:sp>
        <p:nvSpPr>
          <p:cNvPr id="12" name="Text 10"/>
          <p:cNvSpPr/>
          <p:nvPr/>
        </p:nvSpPr>
        <p:spPr>
          <a:xfrm>
            <a:off x="3931920" y="2377440"/>
            <a:ext cx="1188720" cy="274320"/>
          </a:xfrm>
          <a:prstGeom prst="rect">
            <a:avLst/>
          </a:prstGeom>
          <a:noFill/>
          <a:ln/>
        </p:spPr>
        <p:txBody>
          <a:bodyPr wrap="square" lIns="0" tIns="0" rIns="0" bIns="0" rtlCol="0" anchor="ctr"/>
          <a:lstStyle/>
          <a:p>
            <a:pPr indent="0" marL="0">
              <a:buNone/>
            </a:pPr>
            <a:r>
              <a:rPr lang="en-US" sz="1000" dirty="0">
                <a:solidFill>
                  <a:srgbClr val="999999"/>
                </a:solidFill>
                <a:latin typeface="Helvetica Neue" pitchFamily="34" charset="0"/>
                <a:ea typeface="Helvetica Neue" pitchFamily="34" charset="-122"/>
                <a:cs typeface="Helvetica Neue" pitchFamily="34" charset="-120"/>
              </a:rPr>
              <a:t>Cost: $200/mo</a:t>
            </a:r>
            <a:endParaRPr lang="en-US" sz="1000" dirty="0"/>
          </a:p>
        </p:txBody>
      </p:sp>
      <p:sp>
        <p:nvSpPr>
          <p:cNvPr id="13" name="Text 11"/>
          <p:cNvSpPr/>
          <p:nvPr/>
        </p:nvSpPr>
        <p:spPr>
          <a:xfrm>
            <a:off x="5212080" y="2377440"/>
            <a:ext cx="1371600" cy="274320"/>
          </a:xfrm>
          <a:prstGeom prst="rect">
            <a:avLst/>
          </a:prstGeom>
          <a:noFill/>
          <a:ln/>
        </p:spPr>
        <p:txBody>
          <a:bodyPr wrap="square" lIns="0" tIns="0" rIns="0" bIns="0" rtlCol="0" anchor="ctr"/>
          <a:lstStyle/>
          <a:p>
            <a:pPr indent="0" marL="0">
              <a:buNone/>
            </a:pPr>
            <a:r>
              <a:rPr lang="en-US" sz="1000" b="1" dirty="0">
                <a:solidFill>
                  <a:srgbClr val="D93025"/>
                </a:solidFill>
                <a:latin typeface="Helvetica Neue" pitchFamily="34" charset="0"/>
                <a:ea typeface="Helvetica Neue" pitchFamily="34" charset="-122"/>
                <a:cs typeface="Helvetica Neue" pitchFamily="34" charset="-120"/>
              </a:rPr>
              <a:t>Rev: $500-2K/mo</a:t>
            </a:r>
            <a:endParaRPr lang="en-US" sz="1000" dirty="0"/>
          </a:p>
        </p:txBody>
      </p:sp>
      <p:sp>
        <p:nvSpPr>
          <p:cNvPr id="14" name="Text 12"/>
          <p:cNvSpPr/>
          <p:nvPr/>
        </p:nvSpPr>
        <p:spPr>
          <a:xfrm>
            <a:off x="1554480" y="2679192"/>
            <a:ext cx="6858000" cy="365760"/>
          </a:xfrm>
          <a:prstGeom prst="rect">
            <a:avLst/>
          </a:prstGeom>
          <a:noFill/>
          <a:ln/>
        </p:spPr>
        <p:txBody>
          <a:bodyPr wrap="square" lIns="0" tIns="0" rIns="0" bIns="0" rtlCol="0" anchor="ctr"/>
          <a:lstStyle/>
          <a:p>
            <a:pPr indent="0" marL="0">
              <a:buNone/>
            </a:pPr>
            <a:r>
              <a:rPr lang="en-US" sz="1000" dirty="0">
                <a:solidFill>
                  <a:srgbClr val="999999"/>
                </a:solidFill>
                <a:latin typeface="Helvetica Neue" pitchFamily="34" charset="0"/>
                <a:ea typeface="Helvetica Neue" pitchFamily="34" charset="-122"/>
                <a:cs typeface="Helvetica Neue" pitchFamily="34" charset="-120"/>
              </a:rPr>
              <a:t>First 10-50 paid subscribers. API costs only. Todd’s network for referrals. James persona live.</a:t>
            </a:r>
            <a:endParaRPr lang="en-US" sz="1000" dirty="0"/>
          </a:p>
        </p:txBody>
      </p:sp>
      <p:sp>
        <p:nvSpPr>
          <p:cNvPr id="15" name="Text 13"/>
          <p:cNvSpPr/>
          <p:nvPr/>
        </p:nvSpPr>
        <p:spPr>
          <a:xfrm>
            <a:off x="548640" y="3200400"/>
            <a:ext cx="914400" cy="274320"/>
          </a:xfrm>
          <a:prstGeom prst="rect">
            <a:avLst/>
          </a:prstGeom>
          <a:noFill/>
          <a:ln/>
        </p:spPr>
        <p:txBody>
          <a:bodyPr wrap="square" lIns="0" tIns="0" rIns="0" bIns="0" rtlCol="0" anchor="ctr"/>
          <a:lstStyle/>
          <a:p>
            <a:pPr indent="0" marL="0">
              <a:buNone/>
            </a:pPr>
            <a:r>
              <a:rPr lang="en-US" sz="1000" b="1" dirty="0">
                <a:solidFill>
                  <a:srgbClr val="E8590C"/>
                </a:solidFill>
                <a:latin typeface="Helvetica Neue" pitchFamily="34" charset="0"/>
                <a:ea typeface="Helvetica Neue" pitchFamily="34" charset="-122"/>
                <a:cs typeface="Helvetica Neue" pitchFamily="34" charset="-120"/>
              </a:rPr>
              <a:t>Q3 ’26</a:t>
            </a:r>
            <a:endParaRPr lang="en-US" sz="1000" dirty="0"/>
          </a:p>
        </p:txBody>
      </p:sp>
      <p:sp>
        <p:nvSpPr>
          <p:cNvPr id="16" name="Text 14"/>
          <p:cNvSpPr/>
          <p:nvPr/>
        </p:nvSpPr>
        <p:spPr>
          <a:xfrm>
            <a:off x="1554480" y="3200400"/>
            <a:ext cx="2286000" cy="274320"/>
          </a:xfrm>
          <a:prstGeom prst="rect">
            <a:avLst/>
          </a:prstGeom>
          <a:noFill/>
          <a:ln/>
        </p:spPr>
        <p:txBody>
          <a:bodyPr wrap="square" lIns="0" tIns="0" rIns="0" bIns="0" rtlCol="0" anchor="ctr"/>
          <a:lstStyle/>
          <a:p>
            <a:pPr indent="0" marL="0">
              <a:buNone/>
            </a:pPr>
            <a:r>
              <a:rPr lang="en-US" sz="1200" b="1" dirty="0">
                <a:solidFill>
                  <a:srgbClr val="1A1A1A"/>
                </a:solidFill>
                <a:latin typeface="Helvetica Neue" pitchFamily="34" charset="0"/>
                <a:ea typeface="Helvetica Neue" pitchFamily="34" charset="-122"/>
                <a:cs typeface="Helvetica Neue" pitchFamily="34" charset="-120"/>
              </a:rPr>
              <a:t>Coach channel + enterprise demo</a:t>
            </a:r>
            <a:endParaRPr lang="en-US" sz="1200" dirty="0"/>
          </a:p>
        </p:txBody>
      </p:sp>
      <p:sp>
        <p:nvSpPr>
          <p:cNvPr id="17" name="Text 15"/>
          <p:cNvSpPr/>
          <p:nvPr/>
        </p:nvSpPr>
        <p:spPr>
          <a:xfrm>
            <a:off x="3931920" y="3200400"/>
            <a:ext cx="1188720" cy="274320"/>
          </a:xfrm>
          <a:prstGeom prst="rect">
            <a:avLst/>
          </a:prstGeom>
          <a:noFill/>
          <a:ln/>
        </p:spPr>
        <p:txBody>
          <a:bodyPr wrap="square" lIns="0" tIns="0" rIns="0" bIns="0" rtlCol="0" anchor="ctr"/>
          <a:lstStyle/>
          <a:p>
            <a:pPr indent="0" marL="0">
              <a:buNone/>
            </a:pPr>
            <a:r>
              <a:rPr lang="en-US" sz="1000" dirty="0">
                <a:solidFill>
                  <a:srgbClr val="999999"/>
                </a:solidFill>
                <a:latin typeface="Helvetica Neue" pitchFamily="34" charset="0"/>
                <a:ea typeface="Helvetica Neue" pitchFamily="34" charset="-122"/>
                <a:cs typeface="Helvetica Neue" pitchFamily="34" charset="-120"/>
              </a:rPr>
              <a:t>Cost: $500/mo</a:t>
            </a:r>
            <a:endParaRPr lang="en-US" sz="1000" dirty="0"/>
          </a:p>
        </p:txBody>
      </p:sp>
      <p:sp>
        <p:nvSpPr>
          <p:cNvPr id="18" name="Text 16"/>
          <p:cNvSpPr/>
          <p:nvPr/>
        </p:nvSpPr>
        <p:spPr>
          <a:xfrm>
            <a:off x="5212080" y="3200400"/>
            <a:ext cx="1371600" cy="274320"/>
          </a:xfrm>
          <a:prstGeom prst="rect">
            <a:avLst/>
          </a:prstGeom>
          <a:noFill/>
          <a:ln/>
        </p:spPr>
        <p:txBody>
          <a:bodyPr wrap="square" lIns="0" tIns="0" rIns="0" bIns="0" rtlCol="0" anchor="ctr"/>
          <a:lstStyle/>
          <a:p>
            <a:pPr indent="0" marL="0">
              <a:buNone/>
            </a:pPr>
            <a:r>
              <a:rPr lang="en-US" sz="1000" b="1" dirty="0">
                <a:solidFill>
                  <a:srgbClr val="D93025"/>
                </a:solidFill>
                <a:latin typeface="Helvetica Neue" pitchFamily="34" charset="0"/>
                <a:ea typeface="Helvetica Neue" pitchFamily="34" charset="-122"/>
                <a:cs typeface="Helvetica Neue" pitchFamily="34" charset="-120"/>
              </a:rPr>
              <a:t>Rev: $3-5K/mo</a:t>
            </a:r>
            <a:endParaRPr lang="en-US" sz="1000" dirty="0"/>
          </a:p>
        </p:txBody>
      </p:sp>
      <p:sp>
        <p:nvSpPr>
          <p:cNvPr id="19" name="Text 17"/>
          <p:cNvSpPr/>
          <p:nvPr/>
        </p:nvSpPr>
        <p:spPr>
          <a:xfrm>
            <a:off x="1554480" y="3502152"/>
            <a:ext cx="6858000" cy="365760"/>
          </a:xfrm>
          <a:prstGeom prst="rect">
            <a:avLst/>
          </a:prstGeom>
          <a:noFill/>
          <a:ln/>
        </p:spPr>
        <p:txBody>
          <a:bodyPr wrap="square" lIns="0" tIns="0" rIns="0" bIns="0" rtlCol="0" anchor="ctr"/>
          <a:lstStyle/>
          <a:p>
            <a:pPr indent="0" marL="0">
              <a:buNone/>
            </a:pPr>
            <a:r>
              <a:rPr lang="en-US" sz="1000" dirty="0">
                <a:solidFill>
                  <a:srgbClr val="999999"/>
                </a:solidFill>
                <a:latin typeface="Helvetica Neue" pitchFamily="34" charset="0"/>
                <a:ea typeface="Helvetica Neue" pitchFamily="34" charset="-122"/>
                <a:cs typeface="Helvetica Neue" pitchFamily="34" charset="-120"/>
              </a:rPr>
              <a:t>2 coach partners with revenue share. Enterprise demos using R→C scorer. Content marketing.</a:t>
            </a:r>
            <a:endParaRPr lang="en-US" sz="1000" dirty="0"/>
          </a:p>
        </p:txBody>
      </p:sp>
      <p:sp>
        <p:nvSpPr>
          <p:cNvPr id="20" name="Text 18"/>
          <p:cNvSpPr/>
          <p:nvPr/>
        </p:nvSpPr>
        <p:spPr>
          <a:xfrm>
            <a:off x="548640" y="4023360"/>
            <a:ext cx="914400" cy="274320"/>
          </a:xfrm>
          <a:prstGeom prst="rect">
            <a:avLst/>
          </a:prstGeom>
          <a:noFill/>
          <a:ln/>
        </p:spPr>
        <p:txBody>
          <a:bodyPr wrap="square" lIns="0" tIns="0" rIns="0" bIns="0" rtlCol="0" anchor="ctr"/>
          <a:lstStyle/>
          <a:p>
            <a:pPr indent="0" marL="0">
              <a:buNone/>
            </a:pPr>
            <a:r>
              <a:rPr lang="en-US" sz="1000" b="1" dirty="0">
                <a:solidFill>
                  <a:srgbClr val="E8590C"/>
                </a:solidFill>
                <a:latin typeface="Helvetica Neue" pitchFamily="34" charset="0"/>
                <a:ea typeface="Helvetica Neue" pitchFamily="34" charset="-122"/>
                <a:cs typeface="Helvetica Neue" pitchFamily="34" charset="-120"/>
              </a:rPr>
              <a:t>Q4 ’26</a:t>
            </a:r>
            <a:endParaRPr lang="en-US" sz="1000" dirty="0"/>
          </a:p>
        </p:txBody>
      </p:sp>
      <p:sp>
        <p:nvSpPr>
          <p:cNvPr id="21" name="Text 19"/>
          <p:cNvSpPr/>
          <p:nvPr/>
        </p:nvSpPr>
        <p:spPr>
          <a:xfrm>
            <a:off x="1554480" y="4023360"/>
            <a:ext cx="2286000" cy="274320"/>
          </a:xfrm>
          <a:prstGeom prst="rect">
            <a:avLst/>
          </a:prstGeom>
          <a:noFill/>
          <a:ln/>
        </p:spPr>
        <p:txBody>
          <a:bodyPr wrap="square" lIns="0" tIns="0" rIns="0" bIns="0" rtlCol="0" anchor="ctr"/>
          <a:lstStyle/>
          <a:p>
            <a:pPr indent="0" marL="0">
              <a:buNone/>
            </a:pPr>
            <a:r>
              <a:rPr lang="en-US" sz="1200" b="1" dirty="0">
                <a:solidFill>
                  <a:srgbClr val="1A1A1A"/>
                </a:solidFill>
                <a:latin typeface="Helvetica Neue" pitchFamily="34" charset="0"/>
                <a:ea typeface="Helvetica Neue" pitchFamily="34" charset="-122"/>
                <a:cs typeface="Helvetica Neue" pitchFamily="34" charset="-120"/>
              </a:rPr>
              <a:t>Seed-ready</a:t>
            </a:r>
            <a:endParaRPr lang="en-US" sz="1200" dirty="0"/>
          </a:p>
        </p:txBody>
      </p:sp>
      <p:sp>
        <p:nvSpPr>
          <p:cNvPr id="22" name="Text 20"/>
          <p:cNvSpPr/>
          <p:nvPr/>
        </p:nvSpPr>
        <p:spPr>
          <a:xfrm>
            <a:off x="3931920" y="4023360"/>
            <a:ext cx="1188720" cy="274320"/>
          </a:xfrm>
          <a:prstGeom prst="rect">
            <a:avLst/>
          </a:prstGeom>
          <a:noFill/>
          <a:ln/>
        </p:spPr>
        <p:txBody>
          <a:bodyPr wrap="square" lIns="0" tIns="0" rIns="0" bIns="0" rtlCol="0" anchor="ctr"/>
          <a:lstStyle/>
          <a:p>
            <a:pPr indent="0" marL="0">
              <a:buNone/>
            </a:pPr>
            <a:r>
              <a:rPr lang="en-US" sz="1000" dirty="0">
                <a:solidFill>
                  <a:srgbClr val="999999"/>
                </a:solidFill>
                <a:latin typeface="Helvetica Neue" pitchFamily="34" charset="0"/>
                <a:ea typeface="Helvetica Neue" pitchFamily="34" charset="-122"/>
                <a:cs typeface="Helvetica Neue" pitchFamily="34" charset="-120"/>
              </a:rPr>
              <a:t>Cost: $1K/mo</a:t>
            </a:r>
            <a:endParaRPr lang="en-US" sz="1000" dirty="0"/>
          </a:p>
        </p:txBody>
      </p:sp>
      <p:sp>
        <p:nvSpPr>
          <p:cNvPr id="23" name="Text 21"/>
          <p:cNvSpPr/>
          <p:nvPr/>
        </p:nvSpPr>
        <p:spPr>
          <a:xfrm>
            <a:off x="5212080" y="4023360"/>
            <a:ext cx="1371600" cy="274320"/>
          </a:xfrm>
          <a:prstGeom prst="rect">
            <a:avLst/>
          </a:prstGeom>
          <a:noFill/>
          <a:ln/>
        </p:spPr>
        <p:txBody>
          <a:bodyPr wrap="square" lIns="0" tIns="0" rIns="0" bIns="0" rtlCol="0" anchor="ctr"/>
          <a:lstStyle/>
          <a:p>
            <a:pPr indent="0" marL="0">
              <a:buNone/>
            </a:pPr>
            <a:r>
              <a:rPr lang="en-US" sz="1000" b="1" dirty="0">
                <a:solidFill>
                  <a:srgbClr val="D93025"/>
                </a:solidFill>
                <a:latin typeface="Helvetica Neue" pitchFamily="34" charset="0"/>
                <a:ea typeface="Helvetica Neue" pitchFamily="34" charset="-122"/>
                <a:cs typeface="Helvetica Neue" pitchFamily="34" charset="-120"/>
              </a:rPr>
              <a:t>Rev: $5-10K/mo</a:t>
            </a:r>
            <a:endParaRPr lang="en-US" sz="1000" dirty="0"/>
          </a:p>
        </p:txBody>
      </p:sp>
      <p:sp>
        <p:nvSpPr>
          <p:cNvPr id="24" name="Text 22"/>
          <p:cNvSpPr/>
          <p:nvPr/>
        </p:nvSpPr>
        <p:spPr>
          <a:xfrm>
            <a:off x="1554480" y="4325112"/>
            <a:ext cx="6858000" cy="365760"/>
          </a:xfrm>
          <a:prstGeom prst="rect">
            <a:avLst/>
          </a:prstGeom>
          <a:noFill/>
          <a:ln/>
        </p:spPr>
        <p:txBody>
          <a:bodyPr wrap="square" lIns="0" tIns="0" rIns="0" bIns="0" rtlCol="0" anchor="ctr"/>
          <a:lstStyle/>
          <a:p>
            <a:pPr indent="0" marL="0">
              <a:buNone/>
            </a:pPr>
            <a:r>
              <a:rPr lang="en-US" sz="1000" dirty="0">
                <a:solidFill>
                  <a:srgbClr val="999999"/>
                </a:solidFill>
                <a:latin typeface="Helvetica Neue" pitchFamily="34" charset="0"/>
                <a:ea typeface="Helvetica Neue" pitchFamily="34" charset="-122"/>
                <a:cs typeface="Helvetica Neue" pitchFamily="34" charset="-120"/>
              </a:rPr>
              <a:t>100+ subscribers, 2+ coaches, 1+ enterprise pilot. Data flywheel producing measurable results.</a:t>
            </a:r>
            <a:endParaRPr lang="en-US" sz="1000" dirty="0"/>
          </a:p>
        </p:txBody>
      </p:sp>
      <p:sp>
        <p:nvSpPr>
          <p:cNvPr id="25" name="Text 23"/>
          <p:cNvSpPr/>
          <p:nvPr/>
        </p:nvSpPr>
        <p:spPr>
          <a:xfrm>
            <a:off x="548640" y="4572000"/>
            <a:ext cx="7315200" cy="274320"/>
          </a:xfrm>
          <a:prstGeom prst="rect">
            <a:avLst/>
          </a:prstGeom>
          <a:noFill/>
          <a:ln/>
        </p:spPr>
        <p:txBody>
          <a:bodyPr wrap="square" lIns="0" tIns="0" rIns="0" bIns="0" rtlCol="0" anchor="ctr"/>
          <a:lstStyle/>
          <a:p>
            <a:pPr indent="0" marL="0">
              <a:buNone/>
            </a:pPr>
            <a:r>
              <a:rPr lang="en-US" sz="1100" b="1" dirty="0">
                <a:solidFill>
                  <a:srgbClr val="D93025"/>
                </a:solidFill>
                <a:latin typeface="Helvetica Neue" pitchFamily="34" charset="0"/>
                <a:ea typeface="Helvetica Neue" pitchFamily="34" charset="-122"/>
                <a:cs typeface="Helvetica Neue" pitchFamily="34" charset="-120"/>
              </a:rPr>
              <a:t>Breakeven at ~100 subscribers. No seed required to reach revenue.</a:t>
            </a:r>
            <a:endParaRPr lang="en-US" sz="1100" dirty="0"/>
          </a:p>
        </p:txBody>
      </p:sp>
      <p:sp>
        <p:nvSpPr>
          <p:cNvPr id="26" name="Text 24"/>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8/18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PRODUCT</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Four-layer architecture.</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sp>
        <p:nvSpPr>
          <p:cNvPr id="5" name="Text 3"/>
          <p:cNvSpPr/>
          <p:nvPr/>
        </p:nvSpPr>
        <p:spPr>
          <a:xfrm>
            <a:off x="548640" y="1554480"/>
            <a:ext cx="1188720" cy="320040"/>
          </a:xfrm>
          <a:prstGeom prst="rect">
            <a:avLst/>
          </a:prstGeom>
          <a:solidFill>
            <a:srgbClr val="1A1A1A"/>
          </a:solidFill>
          <a:ln/>
        </p:spPr>
        <p:txBody>
          <a:bodyPr wrap="square" lIns="0" tIns="0" rIns="0" bIns="0" rtlCol="0" anchor="ctr"/>
          <a:lstStyle/>
          <a:p>
            <a:pPr algn="ctr" indent="0" marL="0">
              <a:buNone/>
            </a:pPr>
            <a:r>
              <a:rPr lang="en-US" sz="1000" b="1" dirty="0">
                <a:solidFill>
                  <a:srgbClr val="FFFFFF"/>
                </a:solidFill>
                <a:latin typeface="Helvetica Neue" pitchFamily="34" charset="0"/>
                <a:ea typeface="Helvetica Neue" pitchFamily="34" charset="-122"/>
                <a:cs typeface="Helvetica Neue" pitchFamily="34" charset="-120"/>
              </a:rPr>
              <a:t>FREE</a:t>
            </a:r>
            <a:endParaRPr lang="en-US" sz="1000" dirty="0"/>
          </a:p>
        </p:txBody>
      </p:sp>
      <p:sp>
        <p:nvSpPr>
          <p:cNvPr id="6" name="Text 4"/>
          <p:cNvSpPr/>
          <p:nvPr/>
        </p:nvSpPr>
        <p:spPr>
          <a:xfrm>
            <a:off x="1920240" y="1554480"/>
            <a:ext cx="3200400" cy="320040"/>
          </a:xfrm>
          <a:prstGeom prst="rect">
            <a:avLst/>
          </a:prstGeom>
          <a:noFill/>
          <a:ln/>
        </p:spPr>
        <p:txBody>
          <a:bodyPr wrap="square" lIns="0" tIns="0" rIns="0" bIns="0" rtlCol="0" anchor="ctr"/>
          <a:lstStyle/>
          <a:p>
            <a:pPr indent="0" marL="0">
              <a:buNone/>
            </a:pPr>
            <a:r>
              <a:rPr lang="en-US" sz="1300" b="1" dirty="0">
                <a:solidFill>
                  <a:srgbClr val="1A1A1A"/>
                </a:solidFill>
                <a:latin typeface="Helvetica Neue" pitchFamily="34" charset="0"/>
                <a:ea typeface="Helvetica Neue" pitchFamily="34" charset="-122"/>
                <a:cs typeface="Helvetica Neue" pitchFamily="34" charset="-120"/>
              </a:rPr>
              <a:t>Discovery + Lens Document</a:t>
            </a:r>
            <a:endParaRPr lang="en-US" sz="1300" dirty="0"/>
          </a:p>
        </p:txBody>
      </p:sp>
      <p:sp>
        <p:nvSpPr>
          <p:cNvPr id="7" name="Text 5"/>
          <p:cNvSpPr/>
          <p:nvPr/>
        </p:nvSpPr>
        <p:spPr>
          <a:xfrm>
            <a:off x="1920240" y="1874520"/>
            <a:ext cx="6400800" cy="320040"/>
          </a:xfrm>
          <a:prstGeom prst="rect">
            <a:avLst/>
          </a:prstGeom>
          <a:noFill/>
          <a:ln/>
        </p:spPr>
        <p:txBody>
          <a:bodyPr wrap="square" lIns="0" tIns="0" rIns="0" bIns="0" rtlCol="0" anchor="ctr"/>
          <a:lstStyle/>
          <a:p>
            <a:pPr indent="0" marL="0">
              <a:buNone/>
            </a:pPr>
            <a:r>
              <a:rPr lang="en-US" sz="1100" dirty="0">
                <a:solidFill>
                  <a:srgbClr val="999999"/>
                </a:solidFill>
                <a:latin typeface="Helvetica Neue" pitchFamily="34" charset="0"/>
                <a:ea typeface="Helvetica Neue" pitchFamily="34" charset="-122"/>
                <a:cs typeface="Helvetica Neue" pitchFamily="34" charset="-120"/>
              </a:rPr>
              <a:t>AI-guided intake form produces a portable identity document (markdown + YAML)</a:t>
            </a:r>
            <a:endParaRPr lang="en-US" sz="1100" dirty="0"/>
          </a:p>
        </p:txBody>
      </p:sp>
      <p:sp>
        <p:nvSpPr>
          <p:cNvPr id="8" name="Text 6"/>
          <p:cNvSpPr/>
          <p:nvPr/>
        </p:nvSpPr>
        <p:spPr>
          <a:xfrm>
            <a:off x="548640" y="2377440"/>
            <a:ext cx="1188720" cy="320040"/>
          </a:xfrm>
          <a:prstGeom prst="rect">
            <a:avLst/>
          </a:prstGeom>
          <a:solidFill>
            <a:srgbClr val="1A1A1A"/>
          </a:solidFill>
          <a:ln/>
        </p:spPr>
        <p:txBody>
          <a:bodyPr wrap="square" lIns="0" tIns="0" rIns="0" bIns="0" rtlCol="0" anchor="ctr"/>
          <a:lstStyle/>
          <a:p>
            <a:pPr algn="ctr" indent="0" marL="0">
              <a:buNone/>
            </a:pPr>
            <a:r>
              <a:rPr lang="en-US" sz="1000" b="1" dirty="0">
                <a:solidFill>
                  <a:srgbClr val="FFFFFF"/>
                </a:solidFill>
                <a:latin typeface="Helvetica Neue" pitchFamily="34" charset="0"/>
                <a:ea typeface="Helvetica Neue" pitchFamily="34" charset="-122"/>
                <a:cs typeface="Helvetica Neue" pitchFamily="34" charset="-120"/>
              </a:rPr>
              <a:t>$50/MO</a:t>
            </a:r>
            <a:endParaRPr lang="en-US" sz="1000" dirty="0"/>
          </a:p>
        </p:txBody>
      </p:sp>
      <p:sp>
        <p:nvSpPr>
          <p:cNvPr id="9" name="Text 7"/>
          <p:cNvSpPr/>
          <p:nvPr/>
        </p:nvSpPr>
        <p:spPr>
          <a:xfrm>
            <a:off x="1920240" y="2377440"/>
            <a:ext cx="3200400" cy="320040"/>
          </a:xfrm>
          <a:prstGeom prst="rect">
            <a:avLst/>
          </a:prstGeom>
          <a:noFill/>
          <a:ln/>
        </p:spPr>
        <p:txBody>
          <a:bodyPr wrap="square" lIns="0" tIns="0" rIns="0" bIns="0" rtlCol="0" anchor="ctr"/>
          <a:lstStyle/>
          <a:p>
            <a:pPr indent="0" marL="0">
              <a:buNone/>
            </a:pPr>
            <a:r>
              <a:rPr lang="en-US" sz="1300" b="1" dirty="0">
                <a:solidFill>
                  <a:srgbClr val="1A1A1A"/>
                </a:solidFill>
                <a:latin typeface="Helvetica Neue" pitchFamily="34" charset="0"/>
                <a:ea typeface="Helvetica Neue" pitchFamily="34" charset="-122"/>
                <a:cs typeface="Helvetica Neue" pitchFamily="34" charset="-120"/>
              </a:rPr>
              <a:t>Scoring Pipeline + Briefings</a:t>
            </a:r>
            <a:endParaRPr lang="en-US" sz="1300" dirty="0"/>
          </a:p>
        </p:txBody>
      </p:sp>
      <p:sp>
        <p:nvSpPr>
          <p:cNvPr id="10" name="Text 8"/>
          <p:cNvSpPr/>
          <p:nvPr/>
        </p:nvSpPr>
        <p:spPr>
          <a:xfrm>
            <a:off x="1920240" y="2697480"/>
            <a:ext cx="6400800" cy="320040"/>
          </a:xfrm>
          <a:prstGeom prst="rect">
            <a:avLst/>
          </a:prstGeom>
          <a:noFill/>
          <a:ln/>
        </p:spPr>
        <p:txBody>
          <a:bodyPr wrap="square" lIns="0" tIns="0" rIns="0" bIns="0" rtlCol="0" anchor="ctr"/>
          <a:lstStyle/>
          <a:p>
            <a:pPr indent="0" marL="0">
              <a:buNone/>
            </a:pPr>
            <a:r>
              <a:rPr lang="en-US" sz="1100" dirty="0">
                <a:solidFill>
                  <a:srgbClr val="999999"/>
                </a:solidFill>
                <a:latin typeface="Helvetica Neue" pitchFamily="34" charset="0"/>
                <a:ea typeface="Helvetica Neue" pitchFamily="34" charset="-122"/>
                <a:cs typeface="Helvetica Neue" pitchFamily="34" charset="-120"/>
              </a:rPr>
              <a:t>Daily scored opportunities via n8n pipeline with passive monitoring</a:t>
            </a:r>
            <a:endParaRPr lang="en-US" sz="1100" dirty="0"/>
          </a:p>
        </p:txBody>
      </p:sp>
      <p:sp>
        <p:nvSpPr>
          <p:cNvPr id="11" name="Text 9"/>
          <p:cNvSpPr/>
          <p:nvPr/>
        </p:nvSpPr>
        <p:spPr>
          <a:xfrm>
            <a:off x="548640" y="3200400"/>
            <a:ext cx="1188720" cy="320040"/>
          </a:xfrm>
          <a:prstGeom prst="rect">
            <a:avLst/>
          </a:prstGeom>
          <a:solidFill>
            <a:srgbClr val="1A1A1A"/>
          </a:solidFill>
          <a:ln/>
        </p:spPr>
        <p:txBody>
          <a:bodyPr wrap="square" lIns="0" tIns="0" rIns="0" bIns="0" rtlCol="0" anchor="ctr"/>
          <a:lstStyle/>
          <a:p>
            <a:pPr algn="ctr" indent="0" marL="0">
              <a:buNone/>
            </a:pPr>
            <a:r>
              <a:rPr lang="en-US" sz="1000" b="1" dirty="0">
                <a:solidFill>
                  <a:srgbClr val="FFFFFF"/>
                </a:solidFill>
                <a:latin typeface="Helvetica Neue" pitchFamily="34" charset="0"/>
                <a:ea typeface="Helvetica Neue" pitchFamily="34" charset="-122"/>
                <a:cs typeface="Helvetica Neue" pitchFamily="34" charset="-120"/>
              </a:rPr>
              <a:t>B2B2C</a:t>
            </a:r>
            <a:endParaRPr lang="en-US" sz="1000" dirty="0"/>
          </a:p>
        </p:txBody>
      </p:sp>
      <p:sp>
        <p:nvSpPr>
          <p:cNvPr id="12" name="Text 10"/>
          <p:cNvSpPr/>
          <p:nvPr/>
        </p:nvSpPr>
        <p:spPr>
          <a:xfrm>
            <a:off x="1920240" y="3200400"/>
            <a:ext cx="3200400" cy="320040"/>
          </a:xfrm>
          <a:prstGeom prst="rect">
            <a:avLst/>
          </a:prstGeom>
          <a:noFill/>
          <a:ln/>
        </p:spPr>
        <p:txBody>
          <a:bodyPr wrap="square" lIns="0" tIns="0" rIns="0" bIns="0" rtlCol="0" anchor="ctr"/>
          <a:lstStyle/>
          <a:p>
            <a:pPr indent="0" marL="0">
              <a:buNone/>
            </a:pPr>
            <a:r>
              <a:rPr lang="en-US" sz="1300" b="1" dirty="0">
                <a:solidFill>
                  <a:srgbClr val="1A1A1A"/>
                </a:solidFill>
                <a:latin typeface="Helvetica Neue" pitchFamily="34" charset="0"/>
                <a:ea typeface="Helvetica Neue" pitchFamily="34" charset="-122"/>
                <a:cs typeface="Helvetica Neue" pitchFamily="34" charset="-120"/>
              </a:rPr>
              <a:t>Coach Channel</a:t>
            </a:r>
            <a:endParaRPr lang="en-US" sz="1300" dirty="0"/>
          </a:p>
        </p:txBody>
      </p:sp>
      <p:sp>
        <p:nvSpPr>
          <p:cNvPr id="13" name="Text 11"/>
          <p:cNvSpPr/>
          <p:nvPr/>
        </p:nvSpPr>
        <p:spPr>
          <a:xfrm>
            <a:off x="1920240" y="3520440"/>
            <a:ext cx="6400800" cy="320040"/>
          </a:xfrm>
          <a:prstGeom prst="rect">
            <a:avLst/>
          </a:prstGeom>
          <a:noFill/>
          <a:ln/>
        </p:spPr>
        <p:txBody>
          <a:bodyPr wrap="square" lIns="0" tIns="0" rIns="0" bIns="0" rtlCol="0" anchor="ctr"/>
          <a:lstStyle/>
          <a:p>
            <a:pPr indent="0" marL="0">
              <a:buNone/>
            </a:pPr>
            <a:r>
              <a:rPr lang="en-US" sz="1100" dirty="0">
                <a:solidFill>
                  <a:srgbClr val="999999"/>
                </a:solidFill>
                <a:latin typeface="Helvetica Neue" pitchFamily="34" charset="0"/>
                <a:ea typeface="Helvetica Neue" pitchFamily="34" charset="-122"/>
                <a:cs typeface="Helvetica Neue" pitchFamily="34" charset="-120"/>
              </a:rPr>
              <a:t>Career coaches contribute methodology as AI personas. Revenue share.</a:t>
            </a:r>
            <a:endParaRPr lang="en-US" sz="1100" dirty="0"/>
          </a:p>
        </p:txBody>
      </p:sp>
      <p:sp>
        <p:nvSpPr>
          <p:cNvPr id="14" name="Text 12"/>
          <p:cNvSpPr/>
          <p:nvPr/>
        </p:nvSpPr>
        <p:spPr>
          <a:xfrm>
            <a:off x="548640" y="4023360"/>
            <a:ext cx="1188720" cy="320040"/>
          </a:xfrm>
          <a:prstGeom prst="rect">
            <a:avLst/>
          </a:prstGeom>
          <a:solidFill>
            <a:srgbClr val="D93025"/>
          </a:solidFill>
          <a:ln/>
        </p:spPr>
        <p:txBody>
          <a:bodyPr wrap="square" lIns="0" tIns="0" rIns="0" bIns="0" rtlCol="0" anchor="ctr"/>
          <a:lstStyle/>
          <a:p>
            <a:pPr algn="ctr" indent="0" marL="0">
              <a:buNone/>
            </a:pPr>
            <a:r>
              <a:rPr lang="en-US" sz="1000" b="1" dirty="0">
                <a:solidFill>
                  <a:srgbClr val="FFFFFF"/>
                </a:solidFill>
                <a:latin typeface="Helvetica Neue" pitchFamily="34" charset="0"/>
                <a:ea typeface="Helvetica Neue" pitchFamily="34" charset="-122"/>
                <a:cs typeface="Helvetica Neue" pitchFamily="34" charset="-120"/>
              </a:rPr>
              <a:t>ENTERPRISE</a:t>
            </a:r>
            <a:endParaRPr lang="en-US" sz="1000" dirty="0"/>
          </a:p>
        </p:txBody>
      </p:sp>
      <p:sp>
        <p:nvSpPr>
          <p:cNvPr id="15" name="Text 13"/>
          <p:cNvSpPr/>
          <p:nvPr/>
        </p:nvSpPr>
        <p:spPr>
          <a:xfrm>
            <a:off x="1920240" y="4023360"/>
            <a:ext cx="3200400" cy="320040"/>
          </a:xfrm>
          <a:prstGeom prst="rect">
            <a:avLst/>
          </a:prstGeom>
          <a:noFill/>
          <a:ln/>
        </p:spPr>
        <p:txBody>
          <a:bodyPr wrap="square" lIns="0" tIns="0" rIns="0" bIns="0" rtlCol="0" anchor="ctr"/>
          <a:lstStyle/>
          <a:p>
            <a:pPr indent="0" marL="0">
              <a:buNone/>
            </a:pPr>
            <a:r>
              <a:rPr lang="en-US" sz="1300" b="1" dirty="0">
                <a:solidFill>
                  <a:srgbClr val="1A1A1A"/>
                </a:solidFill>
                <a:latin typeface="Helvetica Neue" pitchFamily="34" charset="0"/>
                <a:ea typeface="Helvetica Neue" pitchFamily="34" charset="-122"/>
                <a:cs typeface="Helvetica Neue" pitchFamily="34" charset="-120"/>
              </a:rPr>
              <a:t>Bidirectional Matching</a:t>
            </a:r>
            <a:endParaRPr lang="en-US" sz="1300" dirty="0"/>
          </a:p>
        </p:txBody>
      </p:sp>
      <p:sp>
        <p:nvSpPr>
          <p:cNvPr id="16" name="Text 14"/>
          <p:cNvSpPr/>
          <p:nvPr/>
        </p:nvSpPr>
        <p:spPr>
          <a:xfrm>
            <a:off x="1920240" y="4343400"/>
            <a:ext cx="6400800" cy="320040"/>
          </a:xfrm>
          <a:prstGeom prst="rect">
            <a:avLst/>
          </a:prstGeom>
          <a:noFill/>
          <a:ln/>
        </p:spPr>
        <p:txBody>
          <a:bodyPr wrap="square" lIns="0" tIns="0" rIns="0" bIns="0" rtlCol="0" anchor="ctr"/>
          <a:lstStyle/>
          <a:p>
            <a:pPr indent="0" marL="0">
              <a:buNone/>
            </a:pPr>
            <a:r>
              <a:rPr lang="en-US" sz="1100" dirty="0">
                <a:solidFill>
                  <a:srgbClr val="999999"/>
                </a:solidFill>
                <a:latin typeface="Helvetica Neue" pitchFamily="34" charset="0"/>
                <a:ea typeface="Helvetica Neue" pitchFamily="34" charset="-122"/>
                <a:cs typeface="Helvetica Neue" pitchFamily="34" charset="-120"/>
              </a:rPr>
              <a:t>Role Lens ↔ Candidate Lens. Signal-level Match Reports with interview questions.</a:t>
            </a:r>
            <a:endParaRPr lang="en-US" sz="1100" dirty="0"/>
          </a:p>
        </p:txBody>
      </p:sp>
      <p:sp>
        <p:nvSpPr>
          <p:cNvPr id="17" name="Text 15"/>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9/18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DEFENSIBILITY</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Three-level learning system.</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sp>
        <p:nvSpPr>
          <p:cNvPr id="5" name="Text 3"/>
          <p:cNvSpPr/>
          <p:nvPr/>
        </p:nvSpPr>
        <p:spPr>
          <a:xfrm>
            <a:off x="548640" y="1554480"/>
            <a:ext cx="365760" cy="365760"/>
          </a:xfrm>
          <a:prstGeom prst="rect">
            <a:avLst/>
          </a:prstGeom>
          <a:noFill/>
          <a:ln/>
        </p:spPr>
        <p:txBody>
          <a:bodyPr wrap="square" lIns="0" tIns="0" rIns="0" bIns="0" rtlCol="0" anchor="ctr"/>
          <a:lstStyle/>
          <a:p>
            <a:pPr indent="0" marL="0">
              <a:buNone/>
            </a:pPr>
            <a:r>
              <a:rPr lang="en-US" sz="1800" b="1" dirty="0">
                <a:solidFill>
                  <a:srgbClr val="D93025"/>
                </a:solidFill>
                <a:latin typeface="Helvetica Neue" pitchFamily="34" charset="0"/>
                <a:ea typeface="Helvetica Neue" pitchFamily="34" charset="-122"/>
                <a:cs typeface="Helvetica Neue" pitchFamily="34" charset="-120"/>
              </a:rPr>
              <a:t>1</a:t>
            </a:r>
            <a:endParaRPr lang="en-US" sz="1800" dirty="0"/>
          </a:p>
        </p:txBody>
      </p:sp>
      <p:sp>
        <p:nvSpPr>
          <p:cNvPr id="6" name="Text 4"/>
          <p:cNvSpPr/>
          <p:nvPr/>
        </p:nvSpPr>
        <p:spPr>
          <a:xfrm>
            <a:off x="1097280" y="1554480"/>
            <a:ext cx="7315200" cy="320040"/>
          </a:xfrm>
          <a:prstGeom prst="rect">
            <a:avLst/>
          </a:prstGeom>
          <a:noFill/>
          <a:ln/>
        </p:spPr>
        <p:txBody>
          <a:bodyPr wrap="square" lIns="0" tIns="0" rIns="0" bIns="0" rtlCol="0" anchor="ctr"/>
          <a:lstStyle/>
          <a:p>
            <a:pPr indent="0" marL="0">
              <a:buNone/>
            </a:pPr>
            <a:r>
              <a:rPr lang="en-US" sz="1400" b="1" dirty="0">
                <a:solidFill>
                  <a:srgbClr val="1A1A1A"/>
                </a:solidFill>
                <a:latin typeface="Helvetica Neue" pitchFamily="34" charset="0"/>
                <a:ea typeface="Helvetica Neue" pitchFamily="34" charset="-122"/>
                <a:cs typeface="Helvetica Neue" pitchFamily="34" charset="-120"/>
              </a:rPr>
              <a:t>Per-user weight calibration</a:t>
            </a:r>
            <a:endParaRPr lang="en-US" sz="1400" dirty="0"/>
          </a:p>
        </p:txBody>
      </p:sp>
      <p:sp>
        <p:nvSpPr>
          <p:cNvPr id="7" name="Text 5"/>
          <p:cNvSpPr/>
          <p:nvPr/>
        </p:nvSpPr>
        <p:spPr>
          <a:xfrm>
            <a:off x="1097280" y="1920240"/>
            <a:ext cx="7315200" cy="457200"/>
          </a:xfrm>
          <a:prstGeom prst="rect">
            <a:avLst/>
          </a:prstGeom>
          <a:noFill/>
          <a:ln/>
        </p:spPr>
        <p:txBody>
          <a:bodyPr wrap="square" lIns="0" tIns="0" rIns="0" bIns="0" rtlCol="0" anchor="ctr"/>
          <a:lstStyle/>
          <a:p>
            <a:pPr indent="0" marL="0">
              <a:lnSpc>
                <a:spcPct val="140000"/>
              </a:lnSpc>
              <a:buNone/>
            </a:pPr>
            <a:r>
              <a:rPr lang="en-US" sz="1100" dirty="0">
                <a:solidFill>
                  <a:srgbClr val="999999"/>
                </a:solidFill>
                <a:latin typeface="Helvetica Neue" pitchFamily="34" charset="0"/>
                <a:ea typeface="Helvetica Neue" pitchFamily="34" charset="-122"/>
                <a:cs typeface="Helvetica Neue" pitchFamily="34" charset="-120"/>
              </a:rPr>
              <a:t>User actions (pursue/skip/accept/decline) adjust personal scoring weights. Learning rate 0.02. Exponential signal decay preserves all history.</a:t>
            </a:r>
            <a:endParaRPr lang="en-US" sz="1100" dirty="0"/>
          </a:p>
        </p:txBody>
      </p:sp>
      <p:sp>
        <p:nvSpPr>
          <p:cNvPr id="8" name="Text 6"/>
          <p:cNvSpPr/>
          <p:nvPr/>
        </p:nvSpPr>
        <p:spPr>
          <a:xfrm>
            <a:off x="548640" y="2560320"/>
            <a:ext cx="365760" cy="365760"/>
          </a:xfrm>
          <a:prstGeom prst="rect">
            <a:avLst/>
          </a:prstGeom>
          <a:noFill/>
          <a:ln/>
        </p:spPr>
        <p:txBody>
          <a:bodyPr wrap="square" lIns="0" tIns="0" rIns="0" bIns="0" rtlCol="0" anchor="ctr"/>
          <a:lstStyle/>
          <a:p>
            <a:pPr indent="0" marL="0">
              <a:buNone/>
            </a:pPr>
            <a:r>
              <a:rPr lang="en-US" sz="1800" b="1" dirty="0">
                <a:solidFill>
                  <a:srgbClr val="D93025"/>
                </a:solidFill>
                <a:latin typeface="Helvetica Neue" pitchFamily="34" charset="0"/>
                <a:ea typeface="Helvetica Neue" pitchFamily="34" charset="-122"/>
                <a:cs typeface="Helvetica Neue" pitchFamily="34" charset="-120"/>
              </a:rPr>
              <a:t>2</a:t>
            </a:r>
            <a:endParaRPr lang="en-US" sz="1800" dirty="0"/>
          </a:p>
        </p:txBody>
      </p:sp>
      <p:sp>
        <p:nvSpPr>
          <p:cNvPr id="9" name="Text 7"/>
          <p:cNvSpPr/>
          <p:nvPr/>
        </p:nvSpPr>
        <p:spPr>
          <a:xfrm>
            <a:off x="1097280" y="2560320"/>
            <a:ext cx="7315200" cy="320040"/>
          </a:xfrm>
          <a:prstGeom prst="rect">
            <a:avLst/>
          </a:prstGeom>
          <a:noFill/>
          <a:ln/>
        </p:spPr>
        <p:txBody>
          <a:bodyPr wrap="square" lIns="0" tIns="0" rIns="0" bIns="0" rtlCol="0" anchor="ctr"/>
          <a:lstStyle/>
          <a:p>
            <a:pPr indent="0" marL="0">
              <a:buNone/>
            </a:pPr>
            <a:r>
              <a:rPr lang="en-US" sz="1400" b="1" dirty="0">
                <a:solidFill>
                  <a:srgbClr val="1A1A1A"/>
                </a:solidFill>
                <a:latin typeface="Helvetica Neue" pitchFamily="34" charset="0"/>
                <a:ea typeface="Helvetica Neue" pitchFamily="34" charset="-122"/>
                <a:cs typeface="Helvetica Neue" pitchFamily="34" charset="-120"/>
              </a:rPr>
              <a:t>Per-user disqualifier refinement</a:t>
            </a:r>
            <a:endParaRPr lang="en-US" sz="1400" dirty="0"/>
          </a:p>
        </p:txBody>
      </p:sp>
      <p:sp>
        <p:nvSpPr>
          <p:cNvPr id="10" name="Text 8"/>
          <p:cNvSpPr/>
          <p:nvPr/>
        </p:nvSpPr>
        <p:spPr>
          <a:xfrm>
            <a:off x="1097280" y="2926080"/>
            <a:ext cx="7315200" cy="457200"/>
          </a:xfrm>
          <a:prstGeom prst="rect">
            <a:avLst/>
          </a:prstGeom>
          <a:noFill/>
          <a:ln/>
        </p:spPr>
        <p:txBody>
          <a:bodyPr wrap="square" lIns="0" tIns="0" rIns="0" bIns="0" rtlCol="0" anchor="ctr"/>
          <a:lstStyle/>
          <a:p>
            <a:pPr indent="0" marL="0">
              <a:lnSpc>
                <a:spcPct val="140000"/>
              </a:lnSpc>
              <a:buNone/>
            </a:pPr>
            <a:r>
              <a:rPr lang="en-US" sz="1100" dirty="0">
                <a:solidFill>
                  <a:srgbClr val="999999"/>
                </a:solidFill>
                <a:latin typeface="Helvetica Neue" pitchFamily="34" charset="0"/>
                <a:ea typeface="Helvetica Neue" pitchFamily="34" charset="-122"/>
                <a:cs typeface="Helvetica Neue" pitchFamily="34" charset="-120"/>
              </a:rPr>
              <a:t>Consistently bypassed gates trigger relaxation suggestions. Consistently missed matches suggest new gates.</a:t>
            </a:r>
            <a:endParaRPr lang="en-US" sz="1100" dirty="0"/>
          </a:p>
        </p:txBody>
      </p:sp>
      <p:sp>
        <p:nvSpPr>
          <p:cNvPr id="11" name="Text 9"/>
          <p:cNvSpPr/>
          <p:nvPr/>
        </p:nvSpPr>
        <p:spPr>
          <a:xfrm>
            <a:off x="548640" y="3566160"/>
            <a:ext cx="365760" cy="365760"/>
          </a:xfrm>
          <a:prstGeom prst="rect">
            <a:avLst/>
          </a:prstGeom>
          <a:noFill/>
          <a:ln/>
        </p:spPr>
        <p:txBody>
          <a:bodyPr wrap="square" lIns="0" tIns="0" rIns="0" bIns="0" rtlCol="0" anchor="ctr"/>
          <a:lstStyle/>
          <a:p>
            <a:pPr indent="0" marL="0">
              <a:buNone/>
            </a:pPr>
            <a:r>
              <a:rPr lang="en-US" sz="1800" b="1" dirty="0">
                <a:solidFill>
                  <a:srgbClr val="D93025"/>
                </a:solidFill>
                <a:latin typeface="Helvetica Neue" pitchFamily="34" charset="0"/>
                <a:ea typeface="Helvetica Neue" pitchFamily="34" charset="-122"/>
                <a:cs typeface="Helvetica Neue" pitchFamily="34" charset="-120"/>
              </a:rPr>
              <a:t>3</a:t>
            </a:r>
            <a:endParaRPr lang="en-US" sz="1800" dirty="0"/>
          </a:p>
        </p:txBody>
      </p:sp>
      <p:sp>
        <p:nvSpPr>
          <p:cNvPr id="12" name="Text 10"/>
          <p:cNvSpPr/>
          <p:nvPr/>
        </p:nvSpPr>
        <p:spPr>
          <a:xfrm>
            <a:off x="1097280" y="3566160"/>
            <a:ext cx="7315200" cy="320040"/>
          </a:xfrm>
          <a:prstGeom prst="rect">
            <a:avLst/>
          </a:prstGeom>
          <a:noFill/>
          <a:ln/>
        </p:spPr>
        <p:txBody>
          <a:bodyPr wrap="square" lIns="0" tIns="0" rIns="0" bIns="0" rtlCol="0" anchor="ctr"/>
          <a:lstStyle/>
          <a:p>
            <a:pPr indent="0" marL="0">
              <a:buNone/>
            </a:pPr>
            <a:r>
              <a:rPr lang="en-US" sz="1400" b="1" dirty="0">
                <a:solidFill>
                  <a:srgbClr val="1A1A1A"/>
                </a:solidFill>
                <a:latin typeface="Helvetica Neue" pitchFamily="34" charset="0"/>
                <a:ea typeface="Helvetica Neue" pitchFamily="34" charset="-122"/>
                <a:cs typeface="Helvetica Neue" pitchFamily="34" charset="-120"/>
              </a:rPr>
              <a:t>Global model improvement</a:t>
            </a:r>
            <a:endParaRPr lang="en-US" sz="1400" dirty="0"/>
          </a:p>
        </p:txBody>
      </p:sp>
      <p:sp>
        <p:nvSpPr>
          <p:cNvPr id="13" name="Text 11"/>
          <p:cNvSpPr/>
          <p:nvPr/>
        </p:nvSpPr>
        <p:spPr>
          <a:xfrm>
            <a:off x="1097280" y="3931920"/>
            <a:ext cx="7315200" cy="457200"/>
          </a:xfrm>
          <a:prstGeom prst="rect">
            <a:avLst/>
          </a:prstGeom>
          <a:noFill/>
          <a:ln/>
        </p:spPr>
        <p:txBody>
          <a:bodyPr wrap="square" lIns="0" tIns="0" rIns="0" bIns="0" rtlCol="0" anchor="ctr"/>
          <a:lstStyle/>
          <a:p>
            <a:pPr indent="0" marL="0">
              <a:lnSpc>
                <a:spcPct val="140000"/>
              </a:lnSpc>
              <a:buNone/>
            </a:pPr>
            <a:r>
              <a:rPr lang="en-US" sz="1100" dirty="0">
                <a:solidFill>
                  <a:srgbClr val="999999"/>
                </a:solidFill>
                <a:latin typeface="Helvetica Neue" pitchFamily="34" charset="0"/>
                <a:ea typeface="Helvetica Neue" pitchFamily="34" charset="-122"/>
                <a:cs typeface="Helvetica Neue" pitchFamily="34" charset="-120"/>
              </a:rPr>
              <a:t>Anonymized, aggregated signal patterns improve scoring for all users. The data flywheel.</a:t>
            </a:r>
            <a:endParaRPr lang="en-US" sz="1100" dirty="0"/>
          </a:p>
        </p:txBody>
      </p:sp>
      <p:sp>
        <p:nvSpPr>
          <p:cNvPr id="14" name="Text 12"/>
          <p:cNvSpPr/>
          <p:nvPr/>
        </p:nvSpPr>
        <p:spPr>
          <a:xfrm>
            <a:off x="548640" y="4389120"/>
            <a:ext cx="7315200" cy="320040"/>
          </a:xfrm>
          <a:prstGeom prst="rect">
            <a:avLst/>
          </a:prstGeom>
          <a:noFill/>
          <a:ln/>
        </p:spPr>
        <p:txBody>
          <a:bodyPr wrap="square" lIns="0" tIns="0" rIns="0" bIns="0" rtlCol="0" anchor="ctr"/>
          <a:lstStyle/>
          <a:p>
            <a:pPr indent="0" marL="0">
              <a:buNone/>
            </a:pPr>
            <a:r>
              <a:rPr lang="en-US" sz="1100" i="1" dirty="0">
                <a:solidFill>
                  <a:srgbClr val="D93025"/>
                </a:solidFill>
                <a:latin typeface="Helvetica Neue" pitchFamily="34" charset="0"/>
                <a:ea typeface="Helvetica Neue" pitchFamily="34" charset="-122"/>
                <a:cs typeface="Helvetica Neue" pitchFamily="34" charset="-120"/>
              </a:rPr>
              <a:t>Drift detection surfaces when actions diverge from stated preferences — without silently overriding.</a:t>
            </a:r>
            <a:endParaRPr lang="en-US" sz="1100" dirty="0"/>
          </a:p>
        </p:txBody>
      </p:sp>
      <p:sp>
        <p:nvSpPr>
          <p:cNvPr id="15" name="Text 13"/>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10/18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DISTRIBUTION</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Coach-as-channel is the moat.</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sp>
        <p:nvSpPr>
          <p:cNvPr id="5" name="Text 3"/>
          <p:cNvSpPr/>
          <p:nvPr/>
        </p:nvSpPr>
        <p:spPr>
          <a:xfrm>
            <a:off x="548640" y="1554480"/>
            <a:ext cx="7772400" cy="640080"/>
          </a:xfrm>
          <a:prstGeom prst="rect">
            <a:avLst/>
          </a:prstGeom>
          <a:noFill/>
          <a:ln/>
        </p:spPr>
        <p:txBody>
          <a:bodyPr wrap="square" lIns="0" tIns="0" rIns="0" bIns="0" rtlCol="0" anchor="ctr"/>
          <a:lstStyle/>
          <a:p>
            <a:pPr indent="0" marL="0">
              <a:lnSpc>
                <a:spcPct val="150000"/>
              </a:lnSpc>
              <a:buNone/>
            </a:pPr>
            <a:r>
              <a:rPr lang="en-US" sz="1300" dirty="0">
                <a:solidFill>
                  <a:srgbClr val="1A1A1A"/>
                </a:solidFill>
                <a:latin typeface="Helvetica Neue" pitchFamily="34" charset="0"/>
                <a:ea typeface="Helvetica Neue" pitchFamily="34" charset="-122"/>
                <a:cs typeface="Helvetica Neue" pitchFamily="34" charset="-120"/>
              </a:rPr>
              <a:t>167,000 active career coaches worldwide generating $5.3B in revenue. Each coach has 12-13 active clients. We give coaches a reason to send clients to our platform — and a revenue share when they do.</a:t>
            </a:r>
            <a:endParaRPr lang="en-US" sz="1300" dirty="0"/>
          </a:p>
        </p:txBody>
      </p:sp>
      <p:sp>
        <p:nvSpPr>
          <p:cNvPr id="6" name="Shape 4"/>
          <p:cNvSpPr/>
          <p:nvPr/>
        </p:nvSpPr>
        <p:spPr>
          <a:xfrm>
            <a:off x="548640" y="2377440"/>
            <a:ext cx="8046720" cy="0"/>
          </a:xfrm>
          <a:prstGeom prst="line">
            <a:avLst/>
          </a:prstGeom>
          <a:noFill/>
          <a:ln w="6350">
            <a:solidFill>
              <a:srgbClr val="EEEEEE"/>
            </a:solidFill>
            <a:prstDash val="solid"/>
          </a:ln>
        </p:spPr>
      </p:sp>
      <p:sp>
        <p:nvSpPr>
          <p:cNvPr id="7" name="Text 5"/>
          <p:cNvSpPr/>
          <p:nvPr/>
        </p:nvSpPr>
        <p:spPr>
          <a:xfrm>
            <a:off x="548640" y="2560320"/>
            <a:ext cx="7772400" cy="640080"/>
          </a:xfrm>
          <a:prstGeom prst="rect">
            <a:avLst/>
          </a:prstGeom>
          <a:noFill/>
          <a:ln/>
        </p:spPr>
        <p:txBody>
          <a:bodyPr wrap="square" lIns="0" tIns="0" rIns="0" bIns="0" rtlCol="0" anchor="ctr"/>
          <a:lstStyle/>
          <a:p>
            <a:pPr indent="0" marL="0">
              <a:lnSpc>
                <a:spcPct val="150000"/>
              </a:lnSpc>
              <a:buNone/>
            </a:pPr>
            <a:r>
              <a:rPr lang="en-US" sz="1300" dirty="0">
                <a:solidFill>
                  <a:srgbClr val="1A1A1A"/>
                </a:solidFill>
                <a:latin typeface="Helvetica Neue" pitchFamily="34" charset="0"/>
                <a:ea typeface="Helvetica Neue" pitchFamily="34" charset="-122"/>
                <a:cs typeface="Helvetica Neue" pitchFamily="34" charset="-120"/>
              </a:rPr>
              <a:t>Coach-facilitated lenses are measurably better than self-serve. The depth difference is the quality moat. Coaches bring clients. Clients become subscribers. Subscribers generate data. Better data attracts more coaches.</a:t>
            </a:r>
            <a:endParaRPr lang="en-US" sz="1300" dirty="0"/>
          </a:p>
        </p:txBody>
      </p:sp>
      <p:sp>
        <p:nvSpPr>
          <p:cNvPr id="8" name="Text 6"/>
          <p:cNvSpPr/>
          <p:nvPr/>
        </p:nvSpPr>
        <p:spPr>
          <a:xfrm>
            <a:off x="548640" y="3383280"/>
            <a:ext cx="7772400" cy="365760"/>
          </a:xfrm>
          <a:prstGeom prst="rect">
            <a:avLst/>
          </a:prstGeom>
          <a:noFill/>
          <a:ln/>
        </p:spPr>
        <p:txBody>
          <a:bodyPr wrap="square" lIns="0" tIns="0" rIns="0" bIns="0" rtlCol="0" anchor="ctr"/>
          <a:lstStyle/>
          <a:p>
            <a:pPr indent="0" marL="0">
              <a:buNone/>
            </a:pPr>
            <a:r>
              <a:rPr lang="en-US" sz="1200" dirty="0">
                <a:solidFill>
                  <a:srgbClr val="999999"/>
                </a:solidFill>
                <a:latin typeface="Helvetica Neue" pitchFamily="34" charset="0"/>
                <a:ea typeface="Helvetica Neue" pitchFamily="34" charset="-122"/>
                <a:cs typeface="Helvetica Neue" pitchFamily="34" charset="-120"/>
              </a:rPr>
              <a:t>First partner: James Pratt (career coach, methodology encoded as AI persona, in testing).</a:t>
            </a:r>
            <a:endParaRPr lang="en-US" sz="1200" dirty="0"/>
          </a:p>
        </p:txBody>
      </p:sp>
      <p:sp>
        <p:nvSpPr>
          <p:cNvPr id="9" name="Text 7"/>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11/18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EXPANSION</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The lens is a platform, not a feature.</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sp>
        <p:nvSpPr>
          <p:cNvPr id="5" name="Text 3"/>
          <p:cNvSpPr/>
          <p:nvPr/>
        </p:nvSpPr>
        <p:spPr>
          <a:xfrm>
            <a:off x="548640" y="1508760"/>
            <a:ext cx="7772400" cy="320040"/>
          </a:xfrm>
          <a:prstGeom prst="rect">
            <a:avLst/>
          </a:prstGeom>
          <a:noFill/>
          <a:ln/>
        </p:spPr>
        <p:txBody>
          <a:bodyPr wrap="square" lIns="0" tIns="0" rIns="0" bIns="0" rtlCol="0" anchor="ctr"/>
          <a:lstStyle/>
          <a:p>
            <a:pPr indent="0" marL="0">
              <a:buNone/>
            </a:pPr>
            <a:r>
              <a:rPr lang="en-US" sz="1200" dirty="0">
                <a:solidFill>
                  <a:srgbClr val="1A1A1A"/>
                </a:solidFill>
                <a:latin typeface="Helvetica Neue" pitchFamily="34" charset="0"/>
                <a:ea typeface="Helvetica Neue" pitchFamily="34" charset="-122"/>
                <a:cs typeface="Helvetica Neue" pitchFamily="34" charset="-120"/>
              </a:rPr>
              <a:t>The identity-document-governs-scoring architecture applies beyond job matching:</a:t>
            </a:r>
            <a:endParaRPr lang="en-US" sz="1200" dirty="0"/>
          </a:p>
        </p:txBody>
      </p:sp>
      <p:sp>
        <p:nvSpPr>
          <p:cNvPr id="6" name="Text 4"/>
          <p:cNvSpPr/>
          <p:nvPr/>
        </p:nvSpPr>
        <p:spPr>
          <a:xfrm>
            <a:off x="548640" y="1965960"/>
            <a:ext cx="2011680" cy="274320"/>
          </a:xfrm>
          <a:prstGeom prst="rect">
            <a:avLst/>
          </a:prstGeom>
          <a:noFill/>
          <a:ln/>
        </p:spPr>
        <p:txBody>
          <a:bodyPr wrap="square" lIns="0" tIns="0" rIns="0" bIns="0" rtlCol="0" anchor="ctr"/>
          <a:lstStyle/>
          <a:p>
            <a:pPr indent="0" marL="0">
              <a:buNone/>
            </a:pPr>
            <a:r>
              <a:rPr lang="en-US" sz="1100" b="1" dirty="0">
                <a:solidFill>
                  <a:srgbClr val="D93025"/>
                </a:solidFill>
                <a:latin typeface="Helvetica Neue" pitchFamily="34" charset="0"/>
                <a:ea typeface="Helvetica Neue" pitchFamily="34" charset="-122"/>
                <a:cs typeface="Helvetica Neue" pitchFamily="34" charset="-120"/>
              </a:rPr>
              <a:t>Internal Mobility</a:t>
            </a:r>
            <a:endParaRPr lang="en-US" sz="1100" dirty="0"/>
          </a:p>
        </p:txBody>
      </p:sp>
      <p:sp>
        <p:nvSpPr>
          <p:cNvPr id="7" name="Text 5"/>
          <p:cNvSpPr/>
          <p:nvPr/>
        </p:nvSpPr>
        <p:spPr>
          <a:xfrm>
            <a:off x="2651760" y="1965960"/>
            <a:ext cx="438912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Employee lenses scored against internal role lenses for redeployment and succession</a:t>
            </a:r>
            <a:endParaRPr lang="en-US" sz="1100" dirty="0"/>
          </a:p>
        </p:txBody>
      </p:sp>
      <p:sp>
        <p:nvSpPr>
          <p:cNvPr id="8" name="Text 6"/>
          <p:cNvSpPr/>
          <p:nvPr/>
        </p:nvSpPr>
        <p:spPr>
          <a:xfrm>
            <a:off x="7132320" y="1965960"/>
            <a:ext cx="1645920" cy="274320"/>
          </a:xfrm>
          <a:prstGeom prst="rect">
            <a:avLst/>
          </a:prstGeom>
          <a:noFill/>
          <a:ln/>
        </p:spPr>
        <p:txBody>
          <a:bodyPr wrap="square" lIns="0" tIns="0" rIns="0" bIns="0" rtlCol="0" anchor="ctr"/>
          <a:lstStyle/>
          <a:p>
            <a:pPr algn="r" indent="0" marL="0">
              <a:buNone/>
            </a:pPr>
            <a:r>
              <a:rPr lang="en-US" sz="1000" dirty="0">
                <a:solidFill>
                  <a:srgbClr val="999999"/>
                </a:solidFill>
                <a:latin typeface="Helvetica Neue" pitchFamily="34" charset="0"/>
                <a:ea typeface="Helvetica Neue" pitchFamily="34" charset="-122"/>
                <a:cs typeface="Helvetica Neue" pitchFamily="34" charset="-120"/>
              </a:rPr>
              <a:t>$3-4B market</a:t>
            </a:r>
            <a:endParaRPr lang="en-US" sz="1000" dirty="0"/>
          </a:p>
        </p:txBody>
      </p:sp>
      <p:sp>
        <p:nvSpPr>
          <p:cNvPr id="9" name="Text 7"/>
          <p:cNvSpPr/>
          <p:nvPr/>
        </p:nvSpPr>
        <p:spPr>
          <a:xfrm>
            <a:off x="548640" y="2496312"/>
            <a:ext cx="2011680" cy="274320"/>
          </a:xfrm>
          <a:prstGeom prst="rect">
            <a:avLst/>
          </a:prstGeom>
          <a:noFill/>
          <a:ln/>
        </p:spPr>
        <p:txBody>
          <a:bodyPr wrap="square" lIns="0" tIns="0" rIns="0" bIns="0" rtlCol="0" anchor="ctr"/>
          <a:lstStyle/>
          <a:p>
            <a:pPr indent="0" marL="0">
              <a:buNone/>
            </a:pPr>
            <a:r>
              <a:rPr lang="en-US" sz="1100" b="1" dirty="0">
                <a:solidFill>
                  <a:srgbClr val="D93025"/>
                </a:solidFill>
                <a:latin typeface="Helvetica Neue" pitchFamily="34" charset="0"/>
                <a:ea typeface="Helvetica Neue" pitchFamily="34" charset="-122"/>
                <a:cs typeface="Helvetica Neue" pitchFamily="34" charset="-120"/>
              </a:rPr>
              <a:t>Founder-Investor</a:t>
            </a:r>
            <a:endParaRPr lang="en-US" sz="1100" dirty="0"/>
          </a:p>
        </p:txBody>
      </p:sp>
      <p:sp>
        <p:nvSpPr>
          <p:cNvPr id="10" name="Text 8"/>
          <p:cNvSpPr/>
          <p:nvPr/>
        </p:nvSpPr>
        <p:spPr>
          <a:xfrm>
            <a:off x="2651760" y="2496312"/>
            <a:ext cx="438912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Founder lenses matched against investor lenses for thesis alignment</a:t>
            </a:r>
            <a:endParaRPr lang="en-US" sz="1100" dirty="0"/>
          </a:p>
        </p:txBody>
      </p:sp>
      <p:sp>
        <p:nvSpPr>
          <p:cNvPr id="11" name="Text 9"/>
          <p:cNvSpPr/>
          <p:nvPr/>
        </p:nvSpPr>
        <p:spPr>
          <a:xfrm>
            <a:off x="7132320" y="2496312"/>
            <a:ext cx="1645920" cy="274320"/>
          </a:xfrm>
          <a:prstGeom prst="rect">
            <a:avLst/>
          </a:prstGeom>
          <a:noFill/>
          <a:ln/>
        </p:spPr>
        <p:txBody>
          <a:bodyPr wrap="square" lIns="0" tIns="0" rIns="0" bIns="0" rtlCol="0" anchor="ctr"/>
          <a:lstStyle/>
          <a:p>
            <a:pPr algn="r" indent="0" marL="0">
              <a:buNone/>
            </a:pPr>
            <a:r>
              <a:rPr lang="en-US" sz="1000" dirty="0">
                <a:solidFill>
                  <a:srgbClr val="999999"/>
                </a:solidFill>
                <a:latin typeface="Helvetica Neue" pitchFamily="34" charset="0"/>
                <a:ea typeface="Helvetica Neue" pitchFamily="34" charset="-122"/>
                <a:cs typeface="Helvetica Neue" pitchFamily="34" charset="-120"/>
              </a:rPr>
              <a:t>$450B VC market</a:t>
            </a:r>
            <a:endParaRPr lang="en-US" sz="1000" dirty="0"/>
          </a:p>
        </p:txBody>
      </p:sp>
      <p:sp>
        <p:nvSpPr>
          <p:cNvPr id="12" name="Text 10"/>
          <p:cNvSpPr/>
          <p:nvPr/>
        </p:nvSpPr>
        <p:spPr>
          <a:xfrm>
            <a:off x="548640" y="3026664"/>
            <a:ext cx="2011680" cy="274320"/>
          </a:xfrm>
          <a:prstGeom prst="rect">
            <a:avLst/>
          </a:prstGeom>
          <a:noFill/>
          <a:ln/>
        </p:spPr>
        <p:txBody>
          <a:bodyPr wrap="square" lIns="0" tIns="0" rIns="0" bIns="0" rtlCol="0" anchor="ctr"/>
          <a:lstStyle/>
          <a:p>
            <a:pPr indent="0" marL="0">
              <a:buNone/>
            </a:pPr>
            <a:r>
              <a:rPr lang="en-US" sz="1100" b="1" dirty="0">
                <a:solidFill>
                  <a:srgbClr val="D93025"/>
                </a:solidFill>
                <a:latin typeface="Helvetica Neue" pitchFamily="34" charset="0"/>
                <a:ea typeface="Helvetica Neue" pitchFamily="34" charset="-122"/>
                <a:cs typeface="Helvetica Neue" pitchFamily="34" charset="-120"/>
              </a:rPr>
              <a:t>Team Composition</a:t>
            </a:r>
            <a:endParaRPr lang="en-US" sz="1100" dirty="0"/>
          </a:p>
        </p:txBody>
      </p:sp>
      <p:sp>
        <p:nvSpPr>
          <p:cNvPr id="13" name="Text 11"/>
          <p:cNvSpPr/>
          <p:nvPr/>
        </p:nvSpPr>
        <p:spPr>
          <a:xfrm>
            <a:off x="2651760" y="3026664"/>
            <a:ext cx="438912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Team lens aggregates identify complement gaps; hire for fit, not just skill</a:t>
            </a:r>
            <a:endParaRPr lang="en-US" sz="1100" dirty="0"/>
          </a:p>
        </p:txBody>
      </p:sp>
      <p:sp>
        <p:nvSpPr>
          <p:cNvPr id="14" name="Text 12"/>
          <p:cNvSpPr/>
          <p:nvPr/>
        </p:nvSpPr>
        <p:spPr>
          <a:xfrm>
            <a:off x="7132320" y="3026664"/>
            <a:ext cx="1645920" cy="274320"/>
          </a:xfrm>
          <a:prstGeom prst="rect">
            <a:avLst/>
          </a:prstGeom>
          <a:noFill/>
          <a:ln/>
        </p:spPr>
        <p:txBody>
          <a:bodyPr wrap="square" lIns="0" tIns="0" rIns="0" bIns="0" rtlCol="0" anchor="ctr"/>
          <a:lstStyle/>
          <a:p>
            <a:pPr algn="r" indent="0" marL="0">
              <a:buNone/>
            </a:pPr>
            <a:r>
              <a:rPr lang="en-US" sz="1000" dirty="0">
                <a:solidFill>
                  <a:srgbClr val="999999"/>
                </a:solidFill>
                <a:latin typeface="Helvetica Neue" pitchFamily="34" charset="0"/>
                <a:ea typeface="Helvetica Neue" pitchFamily="34" charset="-122"/>
                <a:cs typeface="Helvetica Neue" pitchFamily="34" charset="-120"/>
              </a:rPr>
              <a:t>Adjacent to TA</a:t>
            </a:r>
            <a:endParaRPr lang="en-US" sz="1000" dirty="0"/>
          </a:p>
        </p:txBody>
      </p:sp>
      <p:sp>
        <p:nvSpPr>
          <p:cNvPr id="15" name="Text 13"/>
          <p:cNvSpPr/>
          <p:nvPr/>
        </p:nvSpPr>
        <p:spPr>
          <a:xfrm>
            <a:off x="548640" y="3557016"/>
            <a:ext cx="2011680" cy="274320"/>
          </a:xfrm>
          <a:prstGeom prst="rect">
            <a:avLst/>
          </a:prstGeom>
          <a:noFill/>
          <a:ln/>
        </p:spPr>
        <p:txBody>
          <a:bodyPr wrap="square" lIns="0" tIns="0" rIns="0" bIns="0" rtlCol="0" anchor="ctr"/>
          <a:lstStyle/>
          <a:p>
            <a:pPr indent="0" marL="0">
              <a:buNone/>
            </a:pPr>
            <a:r>
              <a:rPr lang="en-US" sz="1100" b="1" dirty="0">
                <a:solidFill>
                  <a:srgbClr val="D93025"/>
                </a:solidFill>
                <a:latin typeface="Helvetica Neue" pitchFamily="34" charset="0"/>
                <a:ea typeface="Helvetica Neue" pitchFamily="34" charset="-122"/>
                <a:cs typeface="Helvetica Neue" pitchFamily="34" charset="-120"/>
              </a:rPr>
              <a:t>Corporate Outplacement</a:t>
            </a:r>
            <a:endParaRPr lang="en-US" sz="1100" dirty="0"/>
          </a:p>
        </p:txBody>
      </p:sp>
      <p:sp>
        <p:nvSpPr>
          <p:cNvPr id="16" name="Text 14"/>
          <p:cNvSpPr/>
          <p:nvPr/>
        </p:nvSpPr>
        <p:spPr>
          <a:xfrm>
            <a:off x="2651760" y="3557016"/>
            <a:ext cx="438912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Lens document as the deliverable of outplacement services</a:t>
            </a:r>
            <a:endParaRPr lang="en-US" sz="1100" dirty="0"/>
          </a:p>
        </p:txBody>
      </p:sp>
      <p:sp>
        <p:nvSpPr>
          <p:cNvPr id="17" name="Text 15"/>
          <p:cNvSpPr/>
          <p:nvPr/>
        </p:nvSpPr>
        <p:spPr>
          <a:xfrm>
            <a:off x="7132320" y="3557016"/>
            <a:ext cx="1645920" cy="274320"/>
          </a:xfrm>
          <a:prstGeom prst="rect">
            <a:avLst/>
          </a:prstGeom>
          <a:noFill/>
          <a:ln/>
        </p:spPr>
        <p:txBody>
          <a:bodyPr wrap="square" lIns="0" tIns="0" rIns="0" bIns="0" rtlCol="0" anchor="ctr"/>
          <a:lstStyle/>
          <a:p>
            <a:pPr algn="r" indent="0" marL="0">
              <a:buNone/>
            </a:pPr>
            <a:r>
              <a:rPr lang="en-US" sz="1000" dirty="0">
                <a:solidFill>
                  <a:srgbClr val="999999"/>
                </a:solidFill>
                <a:latin typeface="Helvetica Neue" pitchFamily="34" charset="0"/>
                <a:ea typeface="Helvetica Neue" pitchFamily="34" charset="-122"/>
                <a:cs typeface="Helvetica Neue" pitchFamily="34" charset="-120"/>
              </a:rPr>
              <a:t>$2B market</a:t>
            </a:r>
            <a:endParaRPr lang="en-US" sz="1000" dirty="0"/>
          </a:p>
        </p:txBody>
      </p:sp>
      <p:sp>
        <p:nvSpPr>
          <p:cNvPr id="18" name="Text 16"/>
          <p:cNvSpPr/>
          <p:nvPr/>
        </p:nvSpPr>
        <p:spPr>
          <a:xfrm>
            <a:off x="548640" y="4087368"/>
            <a:ext cx="2011680" cy="274320"/>
          </a:xfrm>
          <a:prstGeom prst="rect">
            <a:avLst/>
          </a:prstGeom>
          <a:noFill/>
          <a:ln/>
        </p:spPr>
        <p:txBody>
          <a:bodyPr wrap="square" lIns="0" tIns="0" rIns="0" bIns="0" rtlCol="0" anchor="ctr"/>
          <a:lstStyle/>
          <a:p>
            <a:pPr indent="0" marL="0">
              <a:buNone/>
            </a:pPr>
            <a:r>
              <a:rPr lang="en-US" sz="1100" b="1" dirty="0">
                <a:solidFill>
                  <a:srgbClr val="D93025"/>
                </a:solidFill>
                <a:latin typeface="Helvetica Neue" pitchFamily="34" charset="0"/>
                <a:ea typeface="Helvetica Neue" pitchFamily="34" charset="-122"/>
                <a:cs typeface="Helvetica Neue" pitchFamily="34" charset="-120"/>
              </a:rPr>
              <a:t>Coach-Client Matching</a:t>
            </a:r>
            <a:endParaRPr lang="en-US" sz="1100" dirty="0"/>
          </a:p>
        </p:txBody>
      </p:sp>
      <p:sp>
        <p:nvSpPr>
          <p:cNvPr id="19" name="Text 17"/>
          <p:cNvSpPr/>
          <p:nvPr/>
        </p:nvSpPr>
        <p:spPr>
          <a:xfrm>
            <a:off x="2651760" y="4087368"/>
            <a:ext cx="438912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Coach lenses matched against client need lenses for better pairing</a:t>
            </a:r>
            <a:endParaRPr lang="en-US" sz="1100" dirty="0"/>
          </a:p>
        </p:txBody>
      </p:sp>
      <p:sp>
        <p:nvSpPr>
          <p:cNvPr id="20" name="Text 18"/>
          <p:cNvSpPr/>
          <p:nvPr/>
        </p:nvSpPr>
        <p:spPr>
          <a:xfrm>
            <a:off x="7132320" y="4087368"/>
            <a:ext cx="1645920" cy="274320"/>
          </a:xfrm>
          <a:prstGeom prst="rect">
            <a:avLst/>
          </a:prstGeom>
          <a:noFill/>
          <a:ln/>
        </p:spPr>
        <p:txBody>
          <a:bodyPr wrap="square" lIns="0" tIns="0" rIns="0" bIns="0" rtlCol="0" anchor="ctr"/>
          <a:lstStyle/>
          <a:p>
            <a:pPr algn="r" indent="0" marL="0">
              <a:buNone/>
            </a:pPr>
            <a:r>
              <a:rPr lang="en-US" sz="1000" dirty="0">
                <a:solidFill>
                  <a:srgbClr val="999999"/>
                </a:solidFill>
                <a:latin typeface="Helvetica Neue" pitchFamily="34" charset="0"/>
                <a:ea typeface="Helvetica Neue" pitchFamily="34" charset="-122"/>
                <a:cs typeface="Helvetica Neue" pitchFamily="34" charset="-120"/>
              </a:rPr>
              <a:t>$5.3B coaching</a:t>
            </a:r>
            <a:endParaRPr lang="en-US" sz="1000" dirty="0"/>
          </a:p>
        </p:txBody>
      </p:sp>
      <p:sp>
        <p:nvSpPr>
          <p:cNvPr id="21" name="Shape 19"/>
          <p:cNvSpPr/>
          <p:nvPr/>
        </p:nvSpPr>
        <p:spPr>
          <a:xfrm>
            <a:off x="548640" y="4572000"/>
            <a:ext cx="8046720" cy="0"/>
          </a:xfrm>
          <a:prstGeom prst="line">
            <a:avLst/>
          </a:prstGeom>
          <a:noFill/>
          <a:ln w="6350">
            <a:solidFill>
              <a:srgbClr val="EEEEEE"/>
            </a:solidFill>
            <a:prstDash val="solid"/>
          </a:ln>
        </p:spPr>
      </p:sp>
      <p:sp>
        <p:nvSpPr>
          <p:cNvPr id="22" name="Text 20"/>
          <p:cNvSpPr/>
          <p:nvPr/>
        </p:nvSpPr>
        <p:spPr>
          <a:xfrm>
            <a:off x="548640" y="4663440"/>
            <a:ext cx="7315200" cy="228600"/>
          </a:xfrm>
          <a:prstGeom prst="rect">
            <a:avLst/>
          </a:prstGeom>
          <a:noFill/>
          <a:ln/>
        </p:spPr>
        <p:txBody>
          <a:bodyPr wrap="square" lIns="0" tIns="0" rIns="0" bIns="0" rtlCol="0" anchor="ctr"/>
          <a:lstStyle/>
          <a:p>
            <a:pPr indent="0" marL="0">
              <a:buNone/>
            </a:pPr>
            <a:r>
              <a:rPr lang="en-US" sz="1000" i="1" dirty="0">
                <a:solidFill>
                  <a:srgbClr val="999999"/>
                </a:solidFill>
                <a:latin typeface="Helvetica Neue" pitchFamily="34" charset="0"/>
                <a:ea typeface="Helvetica Neue" pitchFamily="34" charset="-122"/>
                <a:cs typeface="Helvetica Neue" pitchFamily="34" charset="-120"/>
              </a:rPr>
              <a:t>All expansion markets covered in the provisional patent application (filing this week).</a:t>
            </a:r>
            <a:endParaRPr lang="en-US" sz="1000" dirty="0"/>
          </a:p>
        </p:txBody>
      </p:sp>
      <p:sp>
        <p:nvSpPr>
          <p:cNvPr id="23" name="Text 21"/>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12/18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TRACTION</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Built, not conceptual.</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sp>
        <p:nvSpPr>
          <p:cNvPr id="5" name="Text 3"/>
          <p:cNvSpPr/>
          <p:nvPr/>
        </p:nvSpPr>
        <p:spPr>
          <a:xfrm>
            <a:off x="548640" y="1508760"/>
            <a:ext cx="1005840" cy="274320"/>
          </a:xfrm>
          <a:prstGeom prst="rect">
            <a:avLst/>
          </a:prstGeom>
          <a:noFill/>
          <a:ln/>
        </p:spPr>
        <p:txBody>
          <a:bodyPr wrap="square" lIns="0" tIns="0" rIns="0" bIns="0" rtlCol="0" anchor="ctr"/>
          <a:lstStyle/>
          <a:p>
            <a:pPr indent="0" marL="0">
              <a:buNone/>
            </a:pPr>
            <a:r>
              <a:rPr lang="en-US" sz="800" b="1" dirty="0">
                <a:solidFill>
                  <a:srgbClr val="0B8043"/>
                </a:solidFill>
                <a:latin typeface="Helvetica Neue" pitchFamily="34" charset="0"/>
                <a:ea typeface="Helvetica Neue" pitchFamily="34" charset="-122"/>
                <a:cs typeface="Helvetica Neue" pitchFamily="34" charset="-120"/>
              </a:rPr>
              <a:t>RUNNING</a:t>
            </a:r>
            <a:endParaRPr lang="en-US" sz="800" dirty="0"/>
          </a:p>
        </p:txBody>
      </p:sp>
      <p:sp>
        <p:nvSpPr>
          <p:cNvPr id="6" name="Text 4"/>
          <p:cNvSpPr/>
          <p:nvPr/>
        </p:nvSpPr>
        <p:spPr>
          <a:xfrm>
            <a:off x="1645920" y="1508760"/>
            <a:ext cx="685800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AI-guided intake form with 8 discovery sections (live Claude API)</a:t>
            </a:r>
            <a:endParaRPr lang="en-US" sz="1100" dirty="0"/>
          </a:p>
        </p:txBody>
      </p:sp>
      <p:sp>
        <p:nvSpPr>
          <p:cNvPr id="7" name="Text 5"/>
          <p:cNvSpPr/>
          <p:nvPr/>
        </p:nvSpPr>
        <p:spPr>
          <a:xfrm>
            <a:off x="548640" y="1911096"/>
            <a:ext cx="1005840" cy="274320"/>
          </a:xfrm>
          <a:prstGeom prst="rect">
            <a:avLst/>
          </a:prstGeom>
          <a:noFill/>
          <a:ln/>
        </p:spPr>
        <p:txBody>
          <a:bodyPr wrap="square" lIns="0" tIns="0" rIns="0" bIns="0" rtlCol="0" anchor="ctr"/>
          <a:lstStyle/>
          <a:p>
            <a:pPr indent="0" marL="0">
              <a:buNone/>
            </a:pPr>
            <a:r>
              <a:rPr lang="en-US" sz="800" b="1" dirty="0">
                <a:solidFill>
                  <a:srgbClr val="0B8043"/>
                </a:solidFill>
                <a:latin typeface="Helvetica Neue" pitchFamily="34" charset="0"/>
                <a:ea typeface="Helvetica Neue" pitchFamily="34" charset="-122"/>
                <a:cs typeface="Helvetica Neue" pitchFamily="34" charset="-120"/>
              </a:rPr>
              <a:t>RUNNING</a:t>
            </a:r>
            <a:endParaRPr lang="en-US" sz="800" dirty="0"/>
          </a:p>
        </p:txBody>
      </p:sp>
      <p:sp>
        <p:nvSpPr>
          <p:cNvPr id="8" name="Text 6"/>
          <p:cNvSpPr/>
          <p:nvPr/>
        </p:nvSpPr>
        <p:spPr>
          <a:xfrm>
            <a:off x="1645920" y="1911096"/>
            <a:ext cx="685800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Role Lens Scorer with 9 evaluation modes (deployed on Vercel)</a:t>
            </a:r>
            <a:endParaRPr lang="en-US" sz="1100" dirty="0"/>
          </a:p>
        </p:txBody>
      </p:sp>
      <p:sp>
        <p:nvSpPr>
          <p:cNvPr id="9" name="Text 7"/>
          <p:cNvSpPr/>
          <p:nvPr/>
        </p:nvSpPr>
        <p:spPr>
          <a:xfrm>
            <a:off x="548640" y="2313432"/>
            <a:ext cx="1005840" cy="274320"/>
          </a:xfrm>
          <a:prstGeom prst="rect">
            <a:avLst/>
          </a:prstGeom>
          <a:noFill/>
          <a:ln/>
        </p:spPr>
        <p:txBody>
          <a:bodyPr wrap="square" lIns="0" tIns="0" rIns="0" bIns="0" rtlCol="0" anchor="ctr"/>
          <a:lstStyle/>
          <a:p>
            <a:pPr indent="0" marL="0">
              <a:buNone/>
            </a:pPr>
            <a:r>
              <a:rPr lang="en-US" sz="800" b="1" dirty="0">
                <a:solidFill>
                  <a:srgbClr val="0B8043"/>
                </a:solidFill>
                <a:latin typeface="Helvetica Neue" pitchFamily="34" charset="0"/>
                <a:ea typeface="Helvetica Neue" pitchFamily="34" charset="-122"/>
                <a:cs typeface="Helvetica Neue" pitchFamily="34" charset="-120"/>
              </a:rPr>
              <a:t>RUNNING</a:t>
            </a:r>
            <a:endParaRPr lang="en-US" sz="800" dirty="0"/>
          </a:p>
        </p:txBody>
      </p:sp>
      <p:sp>
        <p:nvSpPr>
          <p:cNvPr id="10" name="Text 8"/>
          <p:cNvSpPr/>
          <p:nvPr/>
        </p:nvSpPr>
        <p:spPr>
          <a:xfrm>
            <a:off x="1645920" y="2313432"/>
            <a:ext cx="685800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Candidate Lens Scorer (C→R direction, operational 4+ months)</a:t>
            </a:r>
            <a:endParaRPr lang="en-US" sz="1100" dirty="0"/>
          </a:p>
        </p:txBody>
      </p:sp>
      <p:sp>
        <p:nvSpPr>
          <p:cNvPr id="11" name="Text 9"/>
          <p:cNvSpPr/>
          <p:nvPr/>
        </p:nvSpPr>
        <p:spPr>
          <a:xfrm>
            <a:off x="548640" y="2715768"/>
            <a:ext cx="1005840" cy="274320"/>
          </a:xfrm>
          <a:prstGeom prst="rect">
            <a:avLst/>
          </a:prstGeom>
          <a:noFill/>
          <a:ln/>
        </p:spPr>
        <p:txBody>
          <a:bodyPr wrap="square" lIns="0" tIns="0" rIns="0" bIns="0" rtlCol="0" anchor="ctr"/>
          <a:lstStyle/>
          <a:p>
            <a:pPr indent="0" marL="0">
              <a:buNone/>
            </a:pPr>
            <a:r>
              <a:rPr lang="en-US" sz="800" b="1" dirty="0">
                <a:solidFill>
                  <a:srgbClr val="0B8043"/>
                </a:solidFill>
                <a:latin typeface="Helvetica Neue" pitchFamily="34" charset="0"/>
                <a:ea typeface="Helvetica Neue" pitchFamily="34" charset="-122"/>
                <a:cs typeface="Helvetica Neue" pitchFamily="34" charset="-120"/>
              </a:rPr>
              <a:t>RUNNING</a:t>
            </a:r>
            <a:endParaRPr lang="en-US" sz="800" dirty="0"/>
          </a:p>
        </p:txBody>
      </p:sp>
      <p:sp>
        <p:nvSpPr>
          <p:cNvPr id="12" name="Text 10"/>
          <p:cNvSpPr/>
          <p:nvPr/>
        </p:nvSpPr>
        <p:spPr>
          <a:xfrm>
            <a:off x="1645920" y="2715768"/>
            <a:ext cx="685800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n8n scoring pipeline (job alerts + VC portfolios + enrichment)</a:t>
            </a:r>
            <a:endParaRPr lang="en-US" sz="1100" dirty="0"/>
          </a:p>
        </p:txBody>
      </p:sp>
      <p:sp>
        <p:nvSpPr>
          <p:cNvPr id="13" name="Text 11"/>
          <p:cNvSpPr/>
          <p:nvPr/>
        </p:nvSpPr>
        <p:spPr>
          <a:xfrm>
            <a:off x="548640" y="3118104"/>
            <a:ext cx="1005840" cy="274320"/>
          </a:xfrm>
          <a:prstGeom prst="rect">
            <a:avLst/>
          </a:prstGeom>
          <a:noFill/>
          <a:ln/>
        </p:spPr>
        <p:txBody>
          <a:bodyPr wrap="square" lIns="0" tIns="0" rIns="0" bIns="0" rtlCol="0" anchor="ctr"/>
          <a:lstStyle/>
          <a:p>
            <a:pPr indent="0" marL="0">
              <a:buNone/>
            </a:pPr>
            <a:r>
              <a:rPr lang="en-US" sz="800" b="1" dirty="0">
                <a:solidFill>
                  <a:srgbClr val="1A73E8"/>
                </a:solidFill>
                <a:latin typeface="Helvetica Neue" pitchFamily="34" charset="0"/>
                <a:ea typeface="Helvetica Neue" pitchFamily="34" charset="-122"/>
                <a:cs typeface="Helvetica Neue" pitchFamily="34" charset="-120"/>
              </a:rPr>
              <a:t>SPECIFIED</a:t>
            </a:r>
            <a:endParaRPr lang="en-US" sz="800" dirty="0"/>
          </a:p>
        </p:txBody>
      </p:sp>
      <p:sp>
        <p:nvSpPr>
          <p:cNvPr id="14" name="Text 12"/>
          <p:cNvSpPr/>
          <p:nvPr/>
        </p:nvSpPr>
        <p:spPr>
          <a:xfrm>
            <a:off x="1645920" y="3118104"/>
            <a:ext cx="685800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Bidirectional matching system (full spec, algorithm, match report)</a:t>
            </a:r>
            <a:endParaRPr lang="en-US" sz="1100" dirty="0"/>
          </a:p>
        </p:txBody>
      </p:sp>
      <p:sp>
        <p:nvSpPr>
          <p:cNvPr id="15" name="Text 13"/>
          <p:cNvSpPr/>
          <p:nvPr/>
        </p:nvSpPr>
        <p:spPr>
          <a:xfrm>
            <a:off x="548640" y="3520440"/>
            <a:ext cx="1005840" cy="274320"/>
          </a:xfrm>
          <a:prstGeom prst="rect">
            <a:avLst/>
          </a:prstGeom>
          <a:noFill/>
          <a:ln/>
        </p:spPr>
        <p:txBody>
          <a:bodyPr wrap="square" lIns="0" tIns="0" rIns="0" bIns="0" rtlCol="0" anchor="ctr"/>
          <a:lstStyle/>
          <a:p>
            <a:pPr indent="0" marL="0">
              <a:buNone/>
            </a:pPr>
            <a:r>
              <a:rPr lang="en-US" sz="800" b="1" dirty="0">
                <a:solidFill>
                  <a:srgbClr val="1A73E8"/>
                </a:solidFill>
                <a:latin typeface="Helvetica Neue" pitchFamily="34" charset="0"/>
                <a:ea typeface="Helvetica Neue" pitchFamily="34" charset="-122"/>
                <a:cs typeface="Helvetica Neue" pitchFamily="34" charset="-120"/>
              </a:rPr>
              <a:t>SPECIFIED</a:t>
            </a:r>
            <a:endParaRPr lang="en-US" sz="800" dirty="0"/>
          </a:p>
        </p:txBody>
      </p:sp>
      <p:sp>
        <p:nvSpPr>
          <p:cNvPr id="16" name="Text 14"/>
          <p:cNvSpPr/>
          <p:nvPr/>
        </p:nvSpPr>
        <p:spPr>
          <a:xfrm>
            <a:off x="1645920" y="3520440"/>
            <a:ext cx="685800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Feedback loop learning system (signals, decay, drift detection)</a:t>
            </a:r>
            <a:endParaRPr lang="en-US" sz="1100" dirty="0"/>
          </a:p>
        </p:txBody>
      </p:sp>
      <p:sp>
        <p:nvSpPr>
          <p:cNvPr id="17" name="Text 15"/>
          <p:cNvSpPr/>
          <p:nvPr/>
        </p:nvSpPr>
        <p:spPr>
          <a:xfrm>
            <a:off x="548640" y="3922776"/>
            <a:ext cx="1005840" cy="274320"/>
          </a:xfrm>
          <a:prstGeom prst="rect">
            <a:avLst/>
          </a:prstGeom>
          <a:noFill/>
          <a:ln/>
        </p:spPr>
        <p:txBody>
          <a:bodyPr wrap="square" lIns="0" tIns="0" rIns="0" bIns="0" rtlCol="0" anchor="ctr"/>
          <a:lstStyle/>
          <a:p>
            <a:pPr indent="0" marL="0">
              <a:buNone/>
            </a:pPr>
            <a:r>
              <a:rPr lang="en-US" sz="800" b="1" dirty="0">
                <a:solidFill>
                  <a:srgbClr val="0B8043"/>
                </a:solidFill>
                <a:latin typeface="Helvetica Neue" pitchFamily="34" charset="0"/>
                <a:ea typeface="Helvetica Neue" pitchFamily="34" charset="-122"/>
                <a:cs typeface="Helvetica Neue" pitchFamily="34" charset="-120"/>
              </a:rPr>
              <a:t>RUNNING</a:t>
            </a:r>
            <a:endParaRPr lang="en-US" sz="800" dirty="0"/>
          </a:p>
        </p:txBody>
      </p:sp>
      <p:sp>
        <p:nvSpPr>
          <p:cNvPr id="18" name="Text 16"/>
          <p:cNvSpPr/>
          <p:nvPr/>
        </p:nvSpPr>
        <p:spPr>
          <a:xfrm>
            <a:off x="1645920" y="3922776"/>
            <a:ext cx="685800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Coach persona framework (James Pratt SKILL.md, in testing)</a:t>
            </a:r>
            <a:endParaRPr lang="en-US" sz="1100" dirty="0"/>
          </a:p>
        </p:txBody>
      </p:sp>
      <p:sp>
        <p:nvSpPr>
          <p:cNvPr id="19" name="Text 17"/>
          <p:cNvSpPr/>
          <p:nvPr/>
        </p:nvSpPr>
        <p:spPr>
          <a:xfrm>
            <a:off x="548640" y="4325112"/>
            <a:ext cx="1005840" cy="274320"/>
          </a:xfrm>
          <a:prstGeom prst="rect">
            <a:avLst/>
          </a:prstGeom>
          <a:noFill/>
          <a:ln/>
        </p:spPr>
        <p:txBody>
          <a:bodyPr wrap="square" lIns="0" tIns="0" rIns="0" bIns="0" rtlCol="0" anchor="ctr"/>
          <a:lstStyle/>
          <a:p>
            <a:pPr indent="0" marL="0">
              <a:buNone/>
            </a:pPr>
            <a:r>
              <a:rPr lang="en-US" sz="800" b="1" dirty="0">
                <a:solidFill>
                  <a:srgbClr val="999999"/>
                </a:solidFill>
                <a:latin typeface="Helvetica Neue" pitchFamily="34" charset="0"/>
                <a:ea typeface="Helvetica Neue" pitchFamily="34" charset="-122"/>
                <a:cs typeface="Helvetica Neue" pitchFamily="34" charset="-120"/>
              </a:rPr>
              <a:t>DONE</a:t>
            </a:r>
            <a:endParaRPr lang="en-US" sz="800" dirty="0"/>
          </a:p>
        </p:txBody>
      </p:sp>
      <p:sp>
        <p:nvSpPr>
          <p:cNvPr id="20" name="Text 18"/>
          <p:cNvSpPr/>
          <p:nvPr/>
        </p:nvSpPr>
        <p:spPr>
          <a:xfrm>
            <a:off x="1645920" y="4325112"/>
            <a:ext cx="685800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IP framework (provisional patent ready, NDA, prior art documented)</a:t>
            </a:r>
            <a:endParaRPr lang="en-US" sz="1100" dirty="0"/>
          </a:p>
        </p:txBody>
      </p:sp>
      <p:sp>
        <p:nvSpPr>
          <p:cNvPr id="21" name="Text 19"/>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13/18</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INTELLECTUAL PROPERTY</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Provisional patent filing this week.</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sp>
        <p:nvSpPr>
          <p:cNvPr id="5" name="Text 3"/>
          <p:cNvSpPr/>
          <p:nvPr/>
        </p:nvSpPr>
        <p:spPr>
          <a:xfrm>
            <a:off x="548640" y="1554480"/>
            <a:ext cx="7772400" cy="640080"/>
          </a:xfrm>
          <a:prstGeom prst="rect">
            <a:avLst/>
          </a:prstGeom>
          <a:noFill/>
          <a:ln/>
        </p:spPr>
        <p:txBody>
          <a:bodyPr wrap="square" lIns="0" tIns="0" rIns="0" bIns="0" rtlCol="0" anchor="ctr"/>
          <a:lstStyle/>
          <a:p>
            <a:pPr indent="0" marL="0">
              <a:lnSpc>
                <a:spcPct val="150000"/>
              </a:lnSpc>
              <a:buNone/>
            </a:pPr>
            <a:r>
              <a:rPr lang="en-US" sz="1300" dirty="0">
                <a:solidFill>
                  <a:srgbClr val="1A1A1A"/>
                </a:solidFill>
                <a:latin typeface="Helvetica Neue" pitchFamily="34" charset="0"/>
                <a:ea typeface="Helvetica Neue" pitchFamily="34" charset="-122"/>
                <a:cs typeface="Helvetica Neue" pitchFamily="34" charset="-120"/>
              </a:rPr>
              <a:t>14-page provisional patent application with 10 claims (3 independent methods). Filing this week. Prior art and competitive patent searches completed. Mutual NDA framework signed with all collaborators.</a:t>
            </a:r>
            <a:endParaRPr lang="en-US" sz="1300" dirty="0"/>
          </a:p>
        </p:txBody>
      </p:sp>
      <p:sp>
        <p:nvSpPr>
          <p:cNvPr id="6" name="Shape 4"/>
          <p:cNvSpPr/>
          <p:nvPr/>
        </p:nvSpPr>
        <p:spPr>
          <a:xfrm>
            <a:off x="548640" y="2377440"/>
            <a:ext cx="8046720" cy="0"/>
          </a:xfrm>
          <a:prstGeom prst="line">
            <a:avLst/>
          </a:prstGeom>
          <a:noFill/>
          <a:ln w="6350">
            <a:solidFill>
              <a:srgbClr val="EEEEEE"/>
            </a:solidFill>
            <a:prstDash val="solid"/>
          </a:ln>
        </p:spPr>
      </p:sp>
      <p:sp>
        <p:nvSpPr>
          <p:cNvPr id="7" name="Text 5"/>
          <p:cNvSpPr/>
          <p:nvPr/>
        </p:nvSpPr>
        <p:spPr>
          <a:xfrm>
            <a:off x="548640" y="2560320"/>
            <a:ext cx="7772400" cy="548640"/>
          </a:xfrm>
          <a:prstGeom prst="rect">
            <a:avLst/>
          </a:prstGeom>
          <a:noFill/>
          <a:ln/>
        </p:spPr>
        <p:txBody>
          <a:bodyPr wrap="square" lIns="0" tIns="0" rIns="0" bIns="0" rtlCol="0" anchor="ctr"/>
          <a:lstStyle/>
          <a:p>
            <a:pPr indent="0" marL="0">
              <a:lnSpc>
                <a:spcPct val="150000"/>
              </a:lnSpc>
              <a:buNone/>
            </a:pPr>
            <a:r>
              <a:rPr lang="en-US" sz="1200" dirty="0">
                <a:solidFill>
                  <a:srgbClr val="1A1A1A"/>
                </a:solidFill>
                <a:latin typeface="Helvetica Neue" pitchFamily="34" charset="0"/>
                <a:ea typeface="Helvetica Neue" pitchFamily="34" charset="-122"/>
                <a:cs typeface="Helvetica Neue" pitchFamily="34" charset="-120"/>
              </a:rPr>
              <a:t>Core claims: (1) Identity document as scoring governance, (2) Asymmetric bidirectional matching with structured LLM scoring, (3) Transparent preference drift detection with user-controlled response.</a:t>
            </a:r>
            <a:endParaRPr lang="en-US" sz="1200" dirty="0"/>
          </a:p>
        </p:txBody>
      </p:sp>
      <p:sp>
        <p:nvSpPr>
          <p:cNvPr id="8" name="Text 6"/>
          <p:cNvSpPr/>
          <p:nvPr/>
        </p:nvSpPr>
        <p:spPr>
          <a:xfrm>
            <a:off x="548640" y="3291840"/>
            <a:ext cx="7772400" cy="457200"/>
          </a:xfrm>
          <a:prstGeom prst="rect">
            <a:avLst/>
          </a:prstGeom>
          <a:noFill/>
          <a:ln/>
        </p:spPr>
        <p:txBody>
          <a:bodyPr wrap="square" lIns="0" tIns="0" rIns="0" bIns="0" rtlCol="0" anchor="ctr"/>
          <a:lstStyle/>
          <a:p>
            <a:pPr indent="0" marL="0">
              <a:buNone/>
            </a:pPr>
            <a:r>
              <a:rPr lang="en-US" sz="1200" b="1" dirty="0">
                <a:solidFill>
                  <a:srgbClr val="D93025"/>
                </a:solidFill>
                <a:latin typeface="Helvetica Neue" pitchFamily="34" charset="0"/>
                <a:ea typeface="Helvetica Neue" pitchFamily="34" charset="-122"/>
                <a:cs typeface="Helvetica Neue" pitchFamily="34" charset="-120"/>
              </a:rPr>
              <a:t>No direct competitor has filed patents covering any of these methods. Jack &amp; Jill ($20M) has zero IP protection on their matching system.</a:t>
            </a:r>
            <a:endParaRPr lang="en-US" sz="1200" dirty="0"/>
          </a:p>
        </p:txBody>
      </p:sp>
      <p:sp>
        <p:nvSpPr>
          <p:cNvPr id="9" name="Text 7"/>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14/18</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THE ASK</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$750K seed. Or bootstrap to traction first.</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sp>
        <p:nvSpPr>
          <p:cNvPr id="5" name="Text 3"/>
          <p:cNvSpPr/>
          <p:nvPr/>
        </p:nvSpPr>
        <p:spPr>
          <a:xfrm>
            <a:off x="548640" y="1508760"/>
            <a:ext cx="3657600" cy="228600"/>
          </a:xfrm>
          <a:prstGeom prst="rect">
            <a:avLst/>
          </a:prstGeom>
          <a:noFill/>
          <a:ln/>
        </p:spPr>
        <p:txBody>
          <a:bodyPr wrap="square" lIns="0" tIns="0" rIns="0" bIns="0" rtlCol="0" anchor="ctr"/>
          <a:lstStyle/>
          <a:p>
            <a:pPr indent="0" marL="0">
              <a:buNone/>
            </a:pPr>
            <a:r>
              <a:rPr lang="en-US" sz="900" spc="200" kern="0" dirty="0">
                <a:solidFill>
                  <a:srgbClr val="D93025"/>
                </a:solidFill>
                <a:latin typeface="Helvetica Neue" pitchFamily="34" charset="0"/>
                <a:ea typeface="Helvetica Neue" pitchFamily="34" charset="-122"/>
                <a:cs typeface="Helvetica Neue" pitchFamily="34" charset="-120"/>
              </a:rPr>
              <a:t>BOOTSTRAP PATH (NO RAISE)</a:t>
            </a:r>
            <a:endParaRPr lang="en-US" sz="900" dirty="0"/>
          </a:p>
        </p:txBody>
      </p:sp>
      <p:sp>
        <p:nvSpPr>
          <p:cNvPr id="6" name="Text 4"/>
          <p:cNvSpPr/>
          <p:nvPr/>
        </p:nvSpPr>
        <p:spPr>
          <a:xfrm>
            <a:off x="548640" y="1828800"/>
            <a:ext cx="7772400" cy="640080"/>
          </a:xfrm>
          <a:prstGeom prst="rect">
            <a:avLst/>
          </a:prstGeom>
          <a:noFill/>
          <a:ln/>
        </p:spPr>
        <p:txBody>
          <a:bodyPr wrap="square" lIns="0" tIns="0" rIns="0" bIns="0" rtlCol="0" anchor="ctr"/>
          <a:lstStyle/>
          <a:p>
            <a:pPr indent="0" marL="0">
              <a:lnSpc>
                <a:spcPct val="150000"/>
              </a:lnSpc>
              <a:buNone/>
            </a:pPr>
            <a:r>
              <a:rPr lang="en-US" sz="1200" dirty="0">
                <a:solidFill>
                  <a:srgbClr val="1A1A1A"/>
                </a:solidFill>
                <a:latin typeface="Helvetica Neue" pitchFamily="34" charset="0"/>
                <a:ea typeface="Helvetica Neue" pitchFamily="34" charset="-122"/>
                <a:cs typeface="Helvetica Neue" pitchFamily="34" charset="-120"/>
              </a:rPr>
              <a:t>Launch free tool Q2 2026. First paying subscribers Q3. Revenue-positive by Q4 at ~100 subs ($5K/mo). Prove unit economics, then raise on demonstrated traction. Total investment to breakeven: &lt;$5K (API costs + hosting).</a:t>
            </a:r>
            <a:endParaRPr lang="en-US" sz="1200" dirty="0"/>
          </a:p>
        </p:txBody>
      </p:sp>
      <p:sp>
        <p:nvSpPr>
          <p:cNvPr id="7" name="Shape 5"/>
          <p:cNvSpPr/>
          <p:nvPr/>
        </p:nvSpPr>
        <p:spPr>
          <a:xfrm>
            <a:off x="548640" y="2651760"/>
            <a:ext cx="8046720" cy="0"/>
          </a:xfrm>
          <a:prstGeom prst="line">
            <a:avLst/>
          </a:prstGeom>
          <a:noFill/>
          <a:ln w="6350">
            <a:solidFill>
              <a:srgbClr val="EEEEEE"/>
            </a:solidFill>
            <a:prstDash val="solid"/>
          </a:ln>
        </p:spPr>
      </p:sp>
      <p:sp>
        <p:nvSpPr>
          <p:cNvPr id="8" name="Text 6"/>
          <p:cNvSpPr/>
          <p:nvPr/>
        </p:nvSpPr>
        <p:spPr>
          <a:xfrm>
            <a:off x="548640" y="2788920"/>
            <a:ext cx="3657600" cy="228600"/>
          </a:xfrm>
          <a:prstGeom prst="rect">
            <a:avLst/>
          </a:prstGeom>
          <a:noFill/>
          <a:ln/>
        </p:spPr>
        <p:txBody>
          <a:bodyPr wrap="square" lIns="0" tIns="0" rIns="0" bIns="0" rtlCol="0" anchor="ctr"/>
          <a:lstStyle/>
          <a:p>
            <a:pPr indent="0" marL="0">
              <a:buNone/>
            </a:pPr>
            <a:r>
              <a:rPr lang="en-US" sz="900" spc="200" kern="0" dirty="0">
                <a:solidFill>
                  <a:srgbClr val="D93025"/>
                </a:solidFill>
                <a:latin typeface="Helvetica Neue" pitchFamily="34" charset="0"/>
                <a:ea typeface="Helvetica Neue" pitchFamily="34" charset="-122"/>
                <a:cs typeface="Helvetica Neue" pitchFamily="34" charset="-120"/>
              </a:rPr>
              <a:t>SEED PATH ($750K)</a:t>
            </a:r>
            <a:endParaRPr lang="en-US" sz="900" dirty="0"/>
          </a:p>
        </p:txBody>
      </p:sp>
      <p:sp>
        <p:nvSpPr>
          <p:cNvPr id="9" name="Text 7"/>
          <p:cNvSpPr/>
          <p:nvPr/>
        </p:nvSpPr>
        <p:spPr>
          <a:xfrm>
            <a:off x="548640" y="3108960"/>
            <a:ext cx="731520" cy="274320"/>
          </a:xfrm>
          <a:prstGeom prst="rect">
            <a:avLst/>
          </a:prstGeom>
          <a:noFill/>
          <a:ln/>
        </p:spPr>
        <p:txBody>
          <a:bodyPr wrap="square" lIns="0" tIns="0" rIns="0" bIns="0" rtlCol="0" anchor="ctr"/>
          <a:lstStyle/>
          <a:p>
            <a:pPr indent="0" marL="0">
              <a:buNone/>
            </a:pPr>
            <a:r>
              <a:rPr lang="en-US" sz="1400" b="1" dirty="0">
                <a:solidFill>
                  <a:srgbClr val="D93025"/>
                </a:solidFill>
                <a:latin typeface="Helvetica Neue" pitchFamily="34" charset="0"/>
                <a:ea typeface="Helvetica Neue" pitchFamily="34" charset="-122"/>
                <a:cs typeface="Helvetica Neue" pitchFamily="34" charset="-120"/>
              </a:rPr>
              <a:t>40%</a:t>
            </a:r>
            <a:endParaRPr lang="en-US" sz="1400" dirty="0"/>
          </a:p>
        </p:txBody>
      </p:sp>
      <p:sp>
        <p:nvSpPr>
          <p:cNvPr id="10" name="Text 8"/>
          <p:cNvSpPr/>
          <p:nvPr/>
        </p:nvSpPr>
        <p:spPr>
          <a:xfrm>
            <a:off x="1371600" y="3108960"/>
            <a:ext cx="640080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Engineering (full-stack dev, 12 months)</a:t>
            </a:r>
            <a:endParaRPr lang="en-US" sz="1100" dirty="0"/>
          </a:p>
        </p:txBody>
      </p:sp>
      <p:sp>
        <p:nvSpPr>
          <p:cNvPr id="11" name="Text 9"/>
          <p:cNvSpPr/>
          <p:nvPr/>
        </p:nvSpPr>
        <p:spPr>
          <a:xfrm>
            <a:off x="548640" y="3474720"/>
            <a:ext cx="731520" cy="274320"/>
          </a:xfrm>
          <a:prstGeom prst="rect">
            <a:avLst/>
          </a:prstGeom>
          <a:noFill/>
          <a:ln/>
        </p:spPr>
        <p:txBody>
          <a:bodyPr wrap="square" lIns="0" tIns="0" rIns="0" bIns="0" rtlCol="0" anchor="ctr"/>
          <a:lstStyle/>
          <a:p>
            <a:pPr indent="0" marL="0">
              <a:buNone/>
            </a:pPr>
            <a:r>
              <a:rPr lang="en-US" sz="1400" b="1" dirty="0">
                <a:solidFill>
                  <a:srgbClr val="D93025"/>
                </a:solidFill>
                <a:latin typeface="Helvetica Neue" pitchFamily="34" charset="0"/>
                <a:ea typeface="Helvetica Neue" pitchFamily="34" charset="-122"/>
                <a:cs typeface="Helvetica Neue" pitchFamily="34" charset="-120"/>
              </a:rPr>
              <a:t>25%</a:t>
            </a:r>
            <a:endParaRPr lang="en-US" sz="1400" dirty="0"/>
          </a:p>
        </p:txBody>
      </p:sp>
      <p:sp>
        <p:nvSpPr>
          <p:cNvPr id="12" name="Text 10"/>
          <p:cNvSpPr/>
          <p:nvPr/>
        </p:nvSpPr>
        <p:spPr>
          <a:xfrm>
            <a:off x="1371600" y="3474720"/>
            <a:ext cx="640080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Coach acquisition (5-10 partners with rev share)</a:t>
            </a:r>
            <a:endParaRPr lang="en-US" sz="1100" dirty="0"/>
          </a:p>
        </p:txBody>
      </p:sp>
      <p:sp>
        <p:nvSpPr>
          <p:cNvPr id="13" name="Text 11"/>
          <p:cNvSpPr/>
          <p:nvPr/>
        </p:nvSpPr>
        <p:spPr>
          <a:xfrm>
            <a:off x="548640" y="3840480"/>
            <a:ext cx="731520" cy="274320"/>
          </a:xfrm>
          <a:prstGeom prst="rect">
            <a:avLst/>
          </a:prstGeom>
          <a:noFill/>
          <a:ln/>
        </p:spPr>
        <p:txBody>
          <a:bodyPr wrap="square" lIns="0" tIns="0" rIns="0" bIns="0" rtlCol="0" anchor="ctr"/>
          <a:lstStyle/>
          <a:p>
            <a:pPr indent="0" marL="0">
              <a:buNone/>
            </a:pPr>
            <a:r>
              <a:rPr lang="en-US" sz="1400" b="1" dirty="0">
                <a:solidFill>
                  <a:srgbClr val="D93025"/>
                </a:solidFill>
                <a:latin typeface="Helvetica Neue" pitchFamily="34" charset="0"/>
                <a:ea typeface="Helvetica Neue" pitchFamily="34" charset="-122"/>
                <a:cs typeface="Helvetica Neue" pitchFamily="34" charset="-120"/>
              </a:rPr>
              <a:t>20%</a:t>
            </a:r>
            <a:endParaRPr lang="en-US" sz="1400" dirty="0"/>
          </a:p>
        </p:txBody>
      </p:sp>
      <p:sp>
        <p:nvSpPr>
          <p:cNvPr id="14" name="Text 12"/>
          <p:cNvSpPr/>
          <p:nvPr/>
        </p:nvSpPr>
        <p:spPr>
          <a:xfrm>
            <a:off x="1371600" y="3840480"/>
            <a:ext cx="640080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Operations (API, hosting, legal)</a:t>
            </a:r>
            <a:endParaRPr lang="en-US" sz="1100" dirty="0"/>
          </a:p>
        </p:txBody>
      </p:sp>
      <p:sp>
        <p:nvSpPr>
          <p:cNvPr id="15" name="Text 13"/>
          <p:cNvSpPr/>
          <p:nvPr/>
        </p:nvSpPr>
        <p:spPr>
          <a:xfrm>
            <a:off x="548640" y="4206240"/>
            <a:ext cx="731520" cy="274320"/>
          </a:xfrm>
          <a:prstGeom prst="rect">
            <a:avLst/>
          </a:prstGeom>
          <a:noFill/>
          <a:ln/>
        </p:spPr>
        <p:txBody>
          <a:bodyPr wrap="square" lIns="0" tIns="0" rIns="0" bIns="0" rtlCol="0" anchor="ctr"/>
          <a:lstStyle/>
          <a:p>
            <a:pPr indent="0" marL="0">
              <a:buNone/>
            </a:pPr>
            <a:r>
              <a:rPr lang="en-US" sz="1400" b="1" dirty="0">
                <a:solidFill>
                  <a:srgbClr val="D93025"/>
                </a:solidFill>
                <a:latin typeface="Helvetica Neue" pitchFamily="34" charset="0"/>
                <a:ea typeface="Helvetica Neue" pitchFamily="34" charset="-122"/>
                <a:cs typeface="Helvetica Neue" pitchFamily="34" charset="-120"/>
              </a:rPr>
              <a:t>15%</a:t>
            </a:r>
            <a:endParaRPr lang="en-US" sz="1400" dirty="0"/>
          </a:p>
        </p:txBody>
      </p:sp>
      <p:sp>
        <p:nvSpPr>
          <p:cNvPr id="16" name="Text 14"/>
          <p:cNvSpPr/>
          <p:nvPr/>
        </p:nvSpPr>
        <p:spPr>
          <a:xfrm>
            <a:off x="1371600" y="4206240"/>
            <a:ext cx="6400800" cy="274320"/>
          </a:xfrm>
          <a:prstGeom prst="rect">
            <a:avLst/>
          </a:prstGeom>
          <a:noFill/>
          <a:ln/>
        </p:spPr>
        <p:txBody>
          <a:bodyPr wrap="square" lIns="0" tIns="0" rIns="0" bIns="0" rtlCol="0" anchor="ctr"/>
          <a:lstStyle/>
          <a:p>
            <a:pPr indent="0" marL="0">
              <a:buNone/>
            </a:pPr>
            <a:r>
              <a:rPr lang="en-US" sz="1100" dirty="0">
                <a:solidFill>
                  <a:srgbClr val="1A1A1A"/>
                </a:solidFill>
                <a:latin typeface="Helvetica Neue" pitchFamily="34" charset="0"/>
                <a:ea typeface="Helvetica Neue" pitchFamily="34" charset="-122"/>
                <a:cs typeface="Helvetica Neue" pitchFamily="34" charset="-120"/>
              </a:rPr>
              <a:t>Marketing (content, community, referral program)</a:t>
            </a:r>
            <a:endParaRPr lang="en-US" sz="1100" dirty="0"/>
          </a:p>
        </p:txBody>
      </p:sp>
      <p:sp>
        <p:nvSpPr>
          <p:cNvPr id="17" name="Text 15"/>
          <p:cNvSpPr/>
          <p:nvPr/>
        </p:nvSpPr>
        <p:spPr>
          <a:xfrm>
            <a:off x="548640" y="4572000"/>
            <a:ext cx="7772400" cy="274320"/>
          </a:xfrm>
          <a:prstGeom prst="rect">
            <a:avLst/>
          </a:prstGeom>
          <a:noFill/>
          <a:ln/>
        </p:spPr>
        <p:txBody>
          <a:bodyPr wrap="square" lIns="0" tIns="0" rIns="0" bIns="0" rtlCol="0" anchor="ctr"/>
          <a:lstStyle/>
          <a:p>
            <a:pPr indent="0" marL="0">
              <a:buNone/>
            </a:pPr>
            <a:r>
              <a:rPr lang="en-US" sz="1100" dirty="0">
                <a:solidFill>
                  <a:srgbClr val="999999"/>
                </a:solidFill>
                <a:latin typeface="Helvetica Neue" pitchFamily="34" charset="0"/>
                <a:ea typeface="Helvetica Neue" pitchFamily="34" charset="-122"/>
                <a:cs typeface="Helvetica Neue" pitchFamily="34" charset="-120"/>
              </a:rPr>
              <a:t>Seed accelerates timeline by 12 months. Target: 500 subs + 10 coaches + 3 enterprise clients by M18 = $300K+ ARR.</a:t>
            </a:r>
            <a:endParaRPr lang="en-US" sz="1100" dirty="0"/>
          </a:p>
        </p:txBody>
      </p:sp>
      <p:sp>
        <p:nvSpPr>
          <p:cNvPr id="18" name="Text 16"/>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15/18</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GO-TO-MARKET</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Four phases.</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sp>
        <p:nvSpPr>
          <p:cNvPr id="5" name="Text 3"/>
          <p:cNvSpPr/>
          <p:nvPr/>
        </p:nvSpPr>
        <p:spPr>
          <a:xfrm>
            <a:off x="548640" y="1554480"/>
            <a:ext cx="822960" cy="274320"/>
          </a:xfrm>
          <a:prstGeom prst="rect">
            <a:avLst/>
          </a:prstGeom>
          <a:noFill/>
          <a:ln/>
        </p:spPr>
        <p:txBody>
          <a:bodyPr wrap="square" lIns="0" tIns="0" rIns="0" bIns="0" rtlCol="0" anchor="ctr"/>
          <a:lstStyle/>
          <a:p>
            <a:pPr indent="0" marL="0">
              <a:buNone/>
            </a:pPr>
            <a:r>
              <a:rPr lang="en-US" sz="1000" b="1" dirty="0">
                <a:solidFill>
                  <a:srgbClr val="E8590C"/>
                </a:solidFill>
                <a:latin typeface="Helvetica Neue" pitchFamily="34" charset="0"/>
                <a:ea typeface="Helvetica Neue" pitchFamily="34" charset="-122"/>
                <a:cs typeface="Helvetica Neue" pitchFamily="34" charset="-120"/>
              </a:rPr>
              <a:t>NOW</a:t>
            </a:r>
            <a:endParaRPr lang="en-US" sz="1000" dirty="0"/>
          </a:p>
        </p:txBody>
      </p:sp>
      <p:sp>
        <p:nvSpPr>
          <p:cNvPr id="6" name="Text 4"/>
          <p:cNvSpPr/>
          <p:nvPr/>
        </p:nvSpPr>
        <p:spPr>
          <a:xfrm>
            <a:off x="1554480" y="1554480"/>
            <a:ext cx="2743200" cy="274320"/>
          </a:xfrm>
          <a:prstGeom prst="rect">
            <a:avLst/>
          </a:prstGeom>
          <a:noFill/>
          <a:ln/>
        </p:spPr>
        <p:txBody>
          <a:bodyPr wrap="square" lIns="0" tIns="0" rIns="0" bIns="0" rtlCol="0" anchor="ctr"/>
          <a:lstStyle/>
          <a:p>
            <a:pPr indent="0" marL="0">
              <a:buNone/>
            </a:pPr>
            <a:r>
              <a:rPr lang="en-US" sz="1400" b="1" dirty="0">
                <a:solidFill>
                  <a:srgbClr val="1A1A1A"/>
                </a:solidFill>
                <a:latin typeface="Helvetica Neue" pitchFamily="34" charset="0"/>
                <a:ea typeface="Helvetica Neue" pitchFamily="34" charset="-122"/>
                <a:cs typeface="Helvetica Neue" pitchFamily="34" charset="-120"/>
              </a:rPr>
              <a:t>Validate</a:t>
            </a:r>
            <a:endParaRPr lang="en-US" sz="1400" dirty="0"/>
          </a:p>
        </p:txBody>
      </p:sp>
      <p:sp>
        <p:nvSpPr>
          <p:cNvPr id="7" name="Text 5"/>
          <p:cNvSpPr/>
          <p:nvPr/>
        </p:nvSpPr>
        <p:spPr>
          <a:xfrm>
            <a:off x="1554480" y="1874520"/>
            <a:ext cx="6858000" cy="320040"/>
          </a:xfrm>
          <a:prstGeom prst="rect">
            <a:avLst/>
          </a:prstGeom>
          <a:noFill/>
          <a:ln/>
        </p:spPr>
        <p:txBody>
          <a:bodyPr wrap="square" lIns="0" tIns="0" rIns="0" bIns="0" rtlCol="0" anchor="ctr"/>
          <a:lstStyle/>
          <a:p>
            <a:pPr indent="0" marL="0">
              <a:buNone/>
            </a:pPr>
            <a:r>
              <a:rPr lang="en-US" sz="1100" dirty="0">
                <a:solidFill>
                  <a:srgbClr val="999999"/>
                </a:solidFill>
                <a:latin typeface="Helvetica Neue" pitchFamily="34" charset="0"/>
                <a:ea typeface="Helvetica Neue" pitchFamily="34" charset="-122"/>
                <a:cs typeface="Helvetica Neue" pitchFamily="34" charset="-120"/>
              </a:rPr>
              <a:t>Intake form + feedback collection. Testing with Nathan + James. File patent.</a:t>
            </a:r>
            <a:endParaRPr lang="en-US" sz="1100" dirty="0"/>
          </a:p>
        </p:txBody>
      </p:sp>
      <p:sp>
        <p:nvSpPr>
          <p:cNvPr id="8" name="Text 6"/>
          <p:cNvSpPr/>
          <p:nvPr/>
        </p:nvSpPr>
        <p:spPr>
          <a:xfrm>
            <a:off x="548640" y="2377440"/>
            <a:ext cx="822960" cy="274320"/>
          </a:xfrm>
          <a:prstGeom prst="rect">
            <a:avLst/>
          </a:prstGeom>
          <a:noFill/>
          <a:ln/>
        </p:spPr>
        <p:txBody>
          <a:bodyPr wrap="square" lIns="0" tIns="0" rIns="0" bIns="0" rtlCol="0" anchor="ctr"/>
          <a:lstStyle/>
          <a:p>
            <a:pPr indent="0" marL="0">
              <a:buNone/>
            </a:pPr>
            <a:r>
              <a:rPr lang="en-US" sz="1000" b="1" dirty="0">
                <a:solidFill>
                  <a:srgbClr val="E8590C"/>
                </a:solidFill>
                <a:latin typeface="Helvetica Neue" pitchFamily="34" charset="0"/>
                <a:ea typeface="Helvetica Neue" pitchFamily="34" charset="-122"/>
                <a:cs typeface="Helvetica Neue" pitchFamily="34" charset="-120"/>
              </a:rPr>
              <a:t>Q2</a:t>
            </a:r>
            <a:endParaRPr lang="en-US" sz="1000" dirty="0"/>
          </a:p>
        </p:txBody>
      </p:sp>
      <p:sp>
        <p:nvSpPr>
          <p:cNvPr id="9" name="Text 7"/>
          <p:cNvSpPr/>
          <p:nvPr/>
        </p:nvSpPr>
        <p:spPr>
          <a:xfrm>
            <a:off x="1554480" y="2377440"/>
            <a:ext cx="2743200" cy="274320"/>
          </a:xfrm>
          <a:prstGeom prst="rect">
            <a:avLst/>
          </a:prstGeom>
          <a:noFill/>
          <a:ln/>
        </p:spPr>
        <p:txBody>
          <a:bodyPr wrap="square" lIns="0" tIns="0" rIns="0" bIns="0" rtlCol="0" anchor="ctr"/>
          <a:lstStyle/>
          <a:p>
            <a:pPr indent="0" marL="0">
              <a:buNone/>
            </a:pPr>
            <a:r>
              <a:rPr lang="en-US" sz="1400" b="1" dirty="0">
                <a:solidFill>
                  <a:srgbClr val="1A1A1A"/>
                </a:solidFill>
                <a:latin typeface="Helvetica Neue" pitchFamily="34" charset="0"/>
                <a:ea typeface="Helvetica Neue" pitchFamily="34" charset="-122"/>
                <a:cs typeface="Helvetica Neue" pitchFamily="34" charset="-120"/>
              </a:rPr>
              <a:t>Free tool launch</a:t>
            </a:r>
            <a:endParaRPr lang="en-US" sz="1400" dirty="0"/>
          </a:p>
        </p:txBody>
      </p:sp>
      <p:sp>
        <p:nvSpPr>
          <p:cNvPr id="10" name="Text 8"/>
          <p:cNvSpPr/>
          <p:nvPr/>
        </p:nvSpPr>
        <p:spPr>
          <a:xfrm>
            <a:off x="1554480" y="2697480"/>
            <a:ext cx="6858000" cy="320040"/>
          </a:xfrm>
          <a:prstGeom prst="rect">
            <a:avLst/>
          </a:prstGeom>
          <a:noFill/>
          <a:ln/>
        </p:spPr>
        <p:txBody>
          <a:bodyPr wrap="square" lIns="0" tIns="0" rIns="0" bIns="0" rtlCol="0" anchor="ctr"/>
          <a:lstStyle/>
          <a:p>
            <a:pPr indent="0" marL="0">
              <a:buNone/>
            </a:pPr>
            <a:r>
              <a:rPr lang="en-US" sz="1100" dirty="0">
                <a:solidFill>
                  <a:srgbClr val="999999"/>
                </a:solidFill>
                <a:latin typeface="Helvetica Neue" pitchFamily="34" charset="0"/>
                <a:ea typeface="Helvetica Neue" pitchFamily="34" charset="-122"/>
                <a:cs typeface="Helvetica Neue" pitchFamily="34" charset="-120"/>
              </a:rPr>
              <a:t>Domain TBD. Free lens generation. Email waitlist. Content marketing begins.</a:t>
            </a:r>
            <a:endParaRPr lang="en-US" sz="1100" dirty="0"/>
          </a:p>
        </p:txBody>
      </p:sp>
      <p:sp>
        <p:nvSpPr>
          <p:cNvPr id="11" name="Text 9"/>
          <p:cNvSpPr/>
          <p:nvPr/>
        </p:nvSpPr>
        <p:spPr>
          <a:xfrm>
            <a:off x="548640" y="3200400"/>
            <a:ext cx="822960" cy="274320"/>
          </a:xfrm>
          <a:prstGeom prst="rect">
            <a:avLst/>
          </a:prstGeom>
          <a:noFill/>
          <a:ln/>
        </p:spPr>
        <p:txBody>
          <a:bodyPr wrap="square" lIns="0" tIns="0" rIns="0" bIns="0" rtlCol="0" anchor="ctr"/>
          <a:lstStyle/>
          <a:p>
            <a:pPr indent="0" marL="0">
              <a:buNone/>
            </a:pPr>
            <a:r>
              <a:rPr lang="en-US" sz="1000" b="1" dirty="0">
                <a:solidFill>
                  <a:srgbClr val="E8590C"/>
                </a:solidFill>
                <a:latin typeface="Helvetica Neue" pitchFamily="34" charset="0"/>
                <a:ea typeface="Helvetica Neue" pitchFamily="34" charset="-122"/>
                <a:cs typeface="Helvetica Neue" pitchFamily="34" charset="-120"/>
              </a:rPr>
              <a:t>Q3</a:t>
            </a:r>
            <a:endParaRPr lang="en-US" sz="1000" dirty="0"/>
          </a:p>
        </p:txBody>
      </p:sp>
      <p:sp>
        <p:nvSpPr>
          <p:cNvPr id="12" name="Text 10"/>
          <p:cNvSpPr/>
          <p:nvPr/>
        </p:nvSpPr>
        <p:spPr>
          <a:xfrm>
            <a:off x="1554480" y="3200400"/>
            <a:ext cx="2743200" cy="274320"/>
          </a:xfrm>
          <a:prstGeom prst="rect">
            <a:avLst/>
          </a:prstGeom>
          <a:noFill/>
          <a:ln/>
        </p:spPr>
        <p:txBody>
          <a:bodyPr wrap="square" lIns="0" tIns="0" rIns="0" bIns="0" rtlCol="0" anchor="ctr"/>
          <a:lstStyle/>
          <a:p>
            <a:pPr indent="0" marL="0">
              <a:buNone/>
            </a:pPr>
            <a:r>
              <a:rPr lang="en-US" sz="1400" b="1" dirty="0">
                <a:solidFill>
                  <a:srgbClr val="1A1A1A"/>
                </a:solidFill>
                <a:latin typeface="Helvetica Neue" pitchFamily="34" charset="0"/>
                <a:ea typeface="Helvetica Neue" pitchFamily="34" charset="-122"/>
                <a:cs typeface="Helvetica Neue" pitchFamily="34" charset="-120"/>
              </a:rPr>
              <a:t>Paid product</a:t>
            </a:r>
            <a:endParaRPr lang="en-US" sz="1400" dirty="0"/>
          </a:p>
        </p:txBody>
      </p:sp>
      <p:sp>
        <p:nvSpPr>
          <p:cNvPr id="13" name="Text 11"/>
          <p:cNvSpPr/>
          <p:nvPr/>
        </p:nvSpPr>
        <p:spPr>
          <a:xfrm>
            <a:off x="1554480" y="3520440"/>
            <a:ext cx="6858000" cy="320040"/>
          </a:xfrm>
          <a:prstGeom prst="rect">
            <a:avLst/>
          </a:prstGeom>
          <a:noFill/>
          <a:ln/>
        </p:spPr>
        <p:txBody>
          <a:bodyPr wrap="square" lIns="0" tIns="0" rIns="0" bIns="0" rtlCol="0" anchor="ctr"/>
          <a:lstStyle/>
          <a:p>
            <a:pPr indent="0" marL="0">
              <a:buNone/>
            </a:pPr>
            <a:r>
              <a:rPr lang="en-US" sz="1100" dirty="0">
                <a:solidFill>
                  <a:srgbClr val="999999"/>
                </a:solidFill>
                <a:latin typeface="Helvetica Neue" pitchFamily="34" charset="0"/>
                <a:ea typeface="Helvetica Neue" pitchFamily="34" charset="-122"/>
                <a:cs typeface="Helvetica Neue" pitchFamily="34" charset="-120"/>
              </a:rPr>
              <a:t>Scoring pipeline. Daily briefings. $50/mo. First 50 subscribers. First 2 coach partners.</a:t>
            </a:r>
            <a:endParaRPr lang="en-US" sz="1100" dirty="0"/>
          </a:p>
        </p:txBody>
      </p:sp>
      <p:sp>
        <p:nvSpPr>
          <p:cNvPr id="14" name="Text 12"/>
          <p:cNvSpPr/>
          <p:nvPr/>
        </p:nvSpPr>
        <p:spPr>
          <a:xfrm>
            <a:off x="548640" y="4023360"/>
            <a:ext cx="822960" cy="274320"/>
          </a:xfrm>
          <a:prstGeom prst="rect">
            <a:avLst/>
          </a:prstGeom>
          <a:noFill/>
          <a:ln/>
        </p:spPr>
        <p:txBody>
          <a:bodyPr wrap="square" lIns="0" tIns="0" rIns="0" bIns="0" rtlCol="0" anchor="ctr"/>
          <a:lstStyle/>
          <a:p>
            <a:pPr indent="0" marL="0">
              <a:buNone/>
            </a:pPr>
            <a:r>
              <a:rPr lang="en-US" sz="1000" b="1" dirty="0">
                <a:solidFill>
                  <a:srgbClr val="E8590C"/>
                </a:solidFill>
                <a:latin typeface="Helvetica Neue" pitchFamily="34" charset="0"/>
                <a:ea typeface="Helvetica Neue" pitchFamily="34" charset="-122"/>
                <a:cs typeface="Helvetica Neue" pitchFamily="34" charset="-120"/>
              </a:rPr>
              <a:t>Q4+</a:t>
            </a:r>
            <a:endParaRPr lang="en-US" sz="1000" dirty="0"/>
          </a:p>
        </p:txBody>
      </p:sp>
      <p:sp>
        <p:nvSpPr>
          <p:cNvPr id="15" name="Text 13"/>
          <p:cNvSpPr/>
          <p:nvPr/>
        </p:nvSpPr>
        <p:spPr>
          <a:xfrm>
            <a:off x="1554480" y="4023360"/>
            <a:ext cx="2743200" cy="274320"/>
          </a:xfrm>
          <a:prstGeom prst="rect">
            <a:avLst/>
          </a:prstGeom>
          <a:noFill/>
          <a:ln/>
        </p:spPr>
        <p:txBody>
          <a:bodyPr wrap="square" lIns="0" tIns="0" rIns="0" bIns="0" rtlCol="0" anchor="ctr"/>
          <a:lstStyle/>
          <a:p>
            <a:pPr indent="0" marL="0">
              <a:buNone/>
            </a:pPr>
            <a:r>
              <a:rPr lang="en-US" sz="1400" b="1" dirty="0">
                <a:solidFill>
                  <a:srgbClr val="1A1A1A"/>
                </a:solidFill>
                <a:latin typeface="Helvetica Neue" pitchFamily="34" charset="0"/>
                <a:ea typeface="Helvetica Neue" pitchFamily="34" charset="-122"/>
                <a:cs typeface="Helvetica Neue" pitchFamily="34" charset="-120"/>
              </a:rPr>
              <a:t>Scale</a:t>
            </a:r>
            <a:endParaRPr lang="en-US" sz="1400" dirty="0"/>
          </a:p>
        </p:txBody>
      </p:sp>
      <p:sp>
        <p:nvSpPr>
          <p:cNvPr id="16" name="Text 14"/>
          <p:cNvSpPr/>
          <p:nvPr/>
        </p:nvSpPr>
        <p:spPr>
          <a:xfrm>
            <a:off x="1554480" y="4343400"/>
            <a:ext cx="6858000" cy="320040"/>
          </a:xfrm>
          <a:prstGeom prst="rect">
            <a:avLst/>
          </a:prstGeom>
          <a:noFill/>
          <a:ln/>
        </p:spPr>
        <p:txBody>
          <a:bodyPr wrap="square" lIns="0" tIns="0" rIns="0" bIns="0" rtlCol="0" anchor="ctr"/>
          <a:lstStyle/>
          <a:p>
            <a:pPr indent="0" marL="0">
              <a:buNone/>
            </a:pPr>
            <a:r>
              <a:rPr lang="en-US" sz="1100" dirty="0">
                <a:solidFill>
                  <a:srgbClr val="999999"/>
                </a:solidFill>
                <a:latin typeface="Helvetica Neue" pitchFamily="34" charset="0"/>
                <a:ea typeface="Helvetica Neue" pitchFamily="34" charset="-122"/>
                <a:cs typeface="Helvetica Neue" pitchFamily="34" charset="-120"/>
              </a:rPr>
              <a:t>Enterprise demos. 5+ coaches. Seed raise on traction. $300K+ ARR target by M18.</a:t>
            </a:r>
            <a:endParaRPr lang="en-US" sz="1100" dirty="0"/>
          </a:p>
        </p:txBody>
      </p:sp>
      <p:sp>
        <p:nvSpPr>
          <p:cNvPr id="17" name="Text 15"/>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16/18</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228600"/>
          </a:xfrm>
          <a:prstGeom prst="rect">
            <a:avLst/>
          </a:prstGeom>
          <a:noFill/>
          <a:ln/>
        </p:spPr>
        <p:txBody>
          <a:bodyPr wrap="square" rtlCol="0" anchor="ctr"/>
          <a:lstStyle/>
          <a:p>
            <a:pPr indent="0" marL="0">
              <a:buNone/>
            </a:pPr>
            <a:r>
              <a:rPr lang="en-US" sz="800" spc="300" kern="0" dirty="0">
                <a:solidFill>
                  <a:srgbClr val="999999"/>
                </a:solidFill>
                <a:latin typeface="Helvetica Neue" pitchFamily="34" charset="0"/>
                <a:ea typeface="Helvetica Neue" pitchFamily="34" charset="-122"/>
                <a:cs typeface="Helvetica Neue" pitchFamily="34" charset="-120"/>
              </a:rPr>
              <a:t>TEAM</a:t>
            </a:r>
            <a:endParaRPr lang="en-US" sz="800" dirty="0"/>
          </a:p>
        </p:txBody>
      </p:sp>
      <p:sp>
        <p:nvSpPr>
          <p:cNvPr id="3" name="Text 1"/>
          <p:cNvSpPr/>
          <p:nvPr/>
        </p:nvSpPr>
        <p:spPr>
          <a:xfrm>
            <a:off x="548640" y="731520"/>
            <a:ext cx="7315200" cy="548640"/>
          </a:xfrm>
          <a:prstGeom prst="rect">
            <a:avLst/>
          </a:prstGeom>
          <a:noFill/>
          <a:ln/>
        </p:spPr>
        <p:txBody>
          <a:bodyPr wrap="square" lIns="0" tIns="0" rIns="0" bIns="0" rtlCol="0" anchor="ctr"/>
          <a:lstStyle/>
          <a:p>
            <a:pPr indent="0" marL="0">
              <a:buNone/>
            </a:pPr>
            <a:r>
              <a:rPr lang="en-US" sz="2800" b="1" dirty="0">
                <a:solidFill>
                  <a:srgbClr val="1A1A1A"/>
                </a:solidFill>
                <a:latin typeface="Helvetica Neue" pitchFamily="34" charset="0"/>
                <a:ea typeface="Helvetica Neue" pitchFamily="34" charset="-122"/>
                <a:cs typeface="Helvetica Neue" pitchFamily="34" charset="-120"/>
              </a:rPr>
              <a:t>Eric Zelman, Founder.</a:t>
            </a:r>
            <a:endParaRPr lang="en-US" sz="2800" dirty="0"/>
          </a:p>
        </p:txBody>
      </p:sp>
      <p:sp>
        <p:nvSpPr>
          <p:cNvPr id="4" name="Shape 2"/>
          <p:cNvSpPr/>
          <p:nvPr/>
        </p:nvSpPr>
        <p:spPr>
          <a:xfrm>
            <a:off x="548640" y="1371600"/>
            <a:ext cx="8046720" cy="0"/>
          </a:xfrm>
          <a:prstGeom prst="line">
            <a:avLst/>
          </a:prstGeom>
          <a:noFill/>
          <a:ln w="6350">
            <a:solidFill>
              <a:srgbClr val="1A1A1A"/>
            </a:solidFill>
            <a:prstDash val="solid"/>
          </a:ln>
        </p:spPr>
      </p:sp>
      <p:sp>
        <p:nvSpPr>
          <p:cNvPr id="5" name="Text 3"/>
          <p:cNvSpPr/>
          <p:nvPr/>
        </p:nvSpPr>
        <p:spPr>
          <a:xfrm>
            <a:off x="548640" y="1554480"/>
            <a:ext cx="7772400" cy="731520"/>
          </a:xfrm>
          <a:prstGeom prst="rect">
            <a:avLst/>
          </a:prstGeom>
          <a:noFill/>
          <a:ln/>
        </p:spPr>
        <p:txBody>
          <a:bodyPr wrap="square" lIns="0" tIns="0" rIns="0" bIns="0" rtlCol="0" anchor="ctr"/>
          <a:lstStyle/>
          <a:p>
            <a:pPr indent="0" marL="0">
              <a:lnSpc>
                <a:spcPct val="150000"/>
              </a:lnSpc>
              <a:buNone/>
            </a:pPr>
            <a:r>
              <a:rPr lang="en-US" sz="1300" dirty="0">
                <a:solidFill>
                  <a:srgbClr val="1A1A1A"/>
                </a:solidFill>
                <a:latin typeface="Helvetica Neue" pitchFamily="34" charset="0"/>
                <a:ea typeface="Helvetica Neue" pitchFamily="34" charset="-122"/>
                <a:cs typeface="Helvetica Neue" pitchFamily="34" charset="-120"/>
              </a:rPr>
              <a:t>15+ years building and leading Customer Success and Support teams at B2B SaaS companies. Most recently VP of Customer Support at Bigtincan — built the global support organization from zero.</a:t>
            </a:r>
            <a:endParaRPr lang="en-US" sz="1300" dirty="0"/>
          </a:p>
        </p:txBody>
      </p:sp>
      <p:sp>
        <p:nvSpPr>
          <p:cNvPr id="6" name="Shape 4"/>
          <p:cNvSpPr/>
          <p:nvPr/>
        </p:nvSpPr>
        <p:spPr>
          <a:xfrm>
            <a:off x="548640" y="2468880"/>
            <a:ext cx="8046720" cy="0"/>
          </a:xfrm>
          <a:prstGeom prst="line">
            <a:avLst/>
          </a:prstGeom>
          <a:noFill/>
          <a:ln w="6350">
            <a:solidFill>
              <a:srgbClr val="EEEEEE"/>
            </a:solidFill>
            <a:prstDash val="solid"/>
          </a:ln>
        </p:spPr>
      </p:sp>
      <p:sp>
        <p:nvSpPr>
          <p:cNvPr id="7" name="Text 5"/>
          <p:cNvSpPr/>
          <p:nvPr/>
        </p:nvSpPr>
        <p:spPr>
          <a:xfrm>
            <a:off x="548640" y="2651760"/>
            <a:ext cx="7772400" cy="640080"/>
          </a:xfrm>
          <a:prstGeom prst="rect">
            <a:avLst/>
          </a:prstGeom>
          <a:noFill/>
          <a:ln/>
        </p:spPr>
        <p:txBody>
          <a:bodyPr wrap="square" lIns="0" tIns="0" rIns="0" bIns="0" rtlCol="0" anchor="ctr"/>
          <a:lstStyle/>
          <a:p>
            <a:pPr indent="0" marL="0">
              <a:lnSpc>
                <a:spcPct val="150000"/>
              </a:lnSpc>
              <a:buNone/>
            </a:pPr>
            <a:r>
              <a:rPr lang="en-US" sz="1300" i="1" dirty="0">
                <a:solidFill>
                  <a:srgbClr val="1A1A1A"/>
                </a:solidFill>
                <a:latin typeface="Helvetica Neue" pitchFamily="34" charset="0"/>
                <a:ea typeface="Helvetica Neue" pitchFamily="34" charset="-122"/>
                <a:cs typeface="Helvetica Neue" pitchFamily="34" charset="-120"/>
              </a:rPr>
              <a:t>The personal system that powers my own job search is the working proof of concept. I built the pipelines, the scoring, the lens document, and the feedback loops. This product is about making it work for everyone.</a:t>
            </a:r>
            <a:endParaRPr lang="en-US" sz="1300" dirty="0"/>
          </a:p>
        </p:txBody>
      </p:sp>
      <p:sp>
        <p:nvSpPr>
          <p:cNvPr id="8" name="Text 6"/>
          <p:cNvSpPr/>
          <p:nvPr/>
        </p:nvSpPr>
        <p:spPr>
          <a:xfrm>
            <a:off x="548640" y="3474720"/>
            <a:ext cx="7772400" cy="365760"/>
          </a:xfrm>
          <a:prstGeom prst="rect">
            <a:avLst/>
          </a:prstGeom>
          <a:noFill/>
          <a:ln/>
        </p:spPr>
        <p:txBody>
          <a:bodyPr wrap="square" lIns="0" tIns="0" rIns="0" bIns="0" rtlCol="0" anchor="ctr"/>
          <a:lstStyle/>
          <a:p>
            <a:pPr indent="0" marL="0">
              <a:buNone/>
            </a:pPr>
            <a:r>
              <a:rPr lang="en-US" sz="1100" dirty="0">
                <a:solidFill>
                  <a:srgbClr val="999999"/>
                </a:solidFill>
                <a:latin typeface="Helvetica Neue" pitchFamily="34" charset="0"/>
                <a:ea typeface="Helvetica Neue" pitchFamily="34" charset="-122"/>
                <a:cs typeface="Helvetica Neue" pitchFamily="34" charset="-120"/>
              </a:rPr>
              <a:t>Advisory: Todd Gerspach (C-level network, freemium GTM), James Pratt (first coach partner), Nathan Fierley (co-builder candidate).</a:t>
            </a:r>
            <a:endParaRPr lang="en-US" sz="1100" dirty="0"/>
          </a:p>
        </p:txBody>
      </p:sp>
      <p:sp>
        <p:nvSpPr>
          <p:cNvPr id="9" name="Text 7"/>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17/18</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70348"/>
            <a:ext cx="9144000" cy="73152"/>
          </a:xfrm>
          <a:prstGeom prst="rectangle">
            <a:avLst/>
          </a:prstGeom>
          <a:solidFill>
            <a:srgbClr val="D93025"/>
          </a:solidFill>
          <a:ln/>
        </p:spPr>
      </p:sp>
      <p:sp>
        <p:nvSpPr>
          <p:cNvPr id="3" name="Text 1"/>
          <p:cNvSpPr/>
          <p:nvPr/>
        </p:nvSpPr>
        <p:spPr>
          <a:xfrm>
            <a:off x="548640" y="1463040"/>
            <a:ext cx="7315200" cy="731520"/>
          </a:xfrm>
          <a:prstGeom prst="rect">
            <a:avLst/>
          </a:prstGeom>
          <a:noFill/>
          <a:ln/>
        </p:spPr>
        <p:txBody>
          <a:bodyPr wrap="square" lIns="0" tIns="0" rIns="0" bIns="0" rtlCol="0" anchor="ctr"/>
          <a:lstStyle/>
          <a:p>
            <a:pPr indent="0" marL="0">
              <a:buNone/>
            </a:pPr>
            <a:r>
              <a:rPr lang="en-US" sz="3600" b="1" dirty="0">
                <a:solidFill>
                  <a:srgbClr val="1A1A1A"/>
                </a:solidFill>
                <a:latin typeface="Helvetica Neue" pitchFamily="34" charset="0"/>
                <a:ea typeface="Helvetica Neue" pitchFamily="34" charset="-122"/>
                <a:cs typeface="Helvetica Neue" pitchFamily="34" charset="-120"/>
              </a:rPr>
              <a:t>Lens Project</a:t>
            </a:r>
            <a:endParaRPr lang="en-US" sz="3600" dirty="0"/>
          </a:p>
        </p:txBody>
      </p:sp>
      <p:sp>
        <p:nvSpPr>
          <p:cNvPr id="4" name="Text 2"/>
          <p:cNvSpPr/>
          <p:nvPr/>
        </p:nvSpPr>
        <p:spPr>
          <a:xfrm>
            <a:off x="548640" y="2194560"/>
            <a:ext cx="5486400" cy="365760"/>
          </a:xfrm>
          <a:prstGeom prst="rect">
            <a:avLst/>
          </a:prstGeom>
          <a:noFill/>
          <a:ln/>
        </p:spPr>
        <p:txBody>
          <a:bodyPr wrap="square" lIns="0" tIns="0" rIns="0" bIns="0" rtlCol="0" anchor="ctr"/>
          <a:lstStyle/>
          <a:p>
            <a:pPr indent="0" marL="0">
              <a:buNone/>
            </a:pPr>
            <a:r>
              <a:rPr lang="en-US" sz="1600" i="1" dirty="0">
                <a:solidFill>
                  <a:srgbClr val="999999"/>
                </a:solidFill>
                <a:latin typeface="Helvetica Neue" pitchFamily="34" charset="0"/>
                <a:ea typeface="Helvetica Neue" pitchFamily="34" charset="-122"/>
                <a:cs typeface="Helvetica Neue" pitchFamily="34" charset="-120"/>
              </a:rPr>
              <a:t>Signal matching over keyword matching.</a:t>
            </a:r>
            <a:endParaRPr lang="en-US" sz="1600" dirty="0"/>
          </a:p>
        </p:txBody>
      </p:sp>
      <p:sp>
        <p:nvSpPr>
          <p:cNvPr id="5" name="Shape 3"/>
          <p:cNvSpPr/>
          <p:nvPr/>
        </p:nvSpPr>
        <p:spPr>
          <a:xfrm>
            <a:off x="548640" y="2651760"/>
            <a:ext cx="8046720" cy="0"/>
          </a:xfrm>
          <a:prstGeom prst="line">
            <a:avLst/>
          </a:prstGeom>
          <a:noFill/>
          <a:ln w="6350">
            <a:solidFill>
              <a:srgbClr val="1A1A1A"/>
            </a:solidFill>
            <a:prstDash val="solid"/>
          </a:ln>
        </p:spPr>
      </p:sp>
      <p:sp>
        <p:nvSpPr>
          <p:cNvPr id="6" name="Text 4"/>
          <p:cNvSpPr/>
          <p:nvPr/>
        </p:nvSpPr>
        <p:spPr>
          <a:xfrm>
            <a:off x="548640" y="2926080"/>
            <a:ext cx="7315200" cy="320040"/>
          </a:xfrm>
          <a:prstGeom prst="rect">
            <a:avLst/>
          </a:prstGeom>
          <a:noFill/>
          <a:ln/>
        </p:spPr>
        <p:txBody>
          <a:bodyPr wrap="square" lIns="0" tIns="0" rIns="0" bIns="0" rtlCol="0" anchor="ctr"/>
          <a:lstStyle/>
          <a:p>
            <a:pPr indent="0" marL="0">
              <a:buNone/>
            </a:pPr>
            <a:r>
              <a:rPr lang="en-US" sz="1200" dirty="0">
                <a:solidFill>
                  <a:srgbClr val="1A1A1A"/>
                </a:solidFill>
                <a:latin typeface="Helvetica Neue" pitchFamily="34" charset="0"/>
                <a:ea typeface="Helvetica Neue" pitchFamily="34" charset="-122"/>
                <a:cs typeface="Helvetica Neue" pitchFamily="34" charset="-120"/>
              </a:rPr>
              <a:t>Working product  |  Provisional patent filing this week  |  Three revenue streams  |  $35B TAM</a:t>
            </a:r>
            <a:endParaRPr lang="en-US" sz="1200" dirty="0"/>
          </a:p>
        </p:txBody>
      </p:sp>
      <p:sp>
        <p:nvSpPr>
          <p:cNvPr id="7" name="Text 5"/>
          <p:cNvSpPr/>
          <p:nvPr/>
        </p:nvSpPr>
        <p:spPr>
          <a:xfrm>
            <a:off x="548640" y="3474720"/>
            <a:ext cx="7315200" cy="274320"/>
          </a:xfrm>
          <a:prstGeom prst="rect">
            <a:avLst/>
          </a:prstGeom>
          <a:noFill/>
          <a:ln/>
        </p:spPr>
        <p:txBody>
          <a:bodyPr wrap="square" lIns="0" tIns="0" rIns="0" bIns="0" rtlCol="0" anchor="ctr"/>
          <a:lstStyle/>
          <a:p>
            <a:pPr indent="0" marL="0">
              <a:buNone/>
            </a:pPr>
            <a:r>
              <a:rPr lang="en-US" sz="1200" dirty="0">
                <a:solidFill>
                  <a:srgbClr val="1A1A1A"/>
                </a:solidFill>
                <a:latin typeface="Helvetica Neue" pitchFamily="34" charset="0"/>
                <a:ea typeface="Helvetica Neue" pitchFamily="34" charset="-122"/>
                <a:cs typeface="Helvetica Neue" pitchFamily="34" charset="-120"/>
              </a:rPr>
              <a:t>Eric Zelman  |  zelman@gmail.com  |  Providence, RI</a:t>
            </a:r>
            <a:endParaRPr lang="en-US" sz="1200" dirty="0"/>
          </a:p>
        </p:txBody>
      </p:sp>
      <p:sp>
        <p:nvSpPr>
          <p:cNvPr id="8" name="Text 6"/>
          <p:cNvSpPr/>
          <p:nvPr/>
        </p:nvSpPr>
        <p:spPr>
          <a:xfrm>
            <a:off x="548640" y="4389120"/>
            <a:ext cx="4572000" cy="274320"/>
          </a:xfrm>
          <a:prstGeom prst="rect">
            <a:avLst/>
          </a:prstGeom>
          <a:noFill/>
          <a:ln/>
        </p:spPr>
        <p:txBody>
          <a:bodyPr wrap="square" lIns="0" tIns="0" rIns="0" bIns="0" rtlCol="0" anchor="ctr"/>
          <a:lstStyle/>
          <a:p>
            <a:pPr indent="0" marL="0">
              <a:buNone/>
            </a:pPr>
            <a:r>
              <a:rPr lang="en-US" sz="1000" dirty="0">
                <a:solidFill>
                  <a:srgbClr val="D93025"/>
                </a:solidFill>
                <a:latin typeface="Helvetica Neue" pitchFamily="34" charset="0"/>
                <a:ea typeface="Helvetica Neue" pitchFamily="34" charset="-122"/>
                <a:cs typeface="Helvetica Neue" pitchFamily="34" charset="-120"/>
              </a:rPr>
              <a:t>CONFIDENTIAL — Subject to Mutual NDA</a:t>
            </a:r>
            <a:endParaRPr lang="en-US" sz="1000" dirty="0"/>
          </a:p>
        </p:txBody>
      </p:sp>
      <p:sp>
        <p:nvSpPr>
          <p:cNvPr id="9" name="Text 7"/>
          <p:cNvSpPr/>
          <p:nvPr/>
        </p:nvSpPr>
        <p:spPr>
          <a:xfrm>
            <a:off x="8229600" y="4709160"/>
            <a:ext cx="548640" cy="274320"/>
          </a:xfrm>
          <a:prstGeom prst="rect">
            <a:avLst/>
          </a:prstGeom>
          <a:noFill/>
          <a:ln/>
        </p:spPr>
        <p:txBody>
          <a:bodyPr wrap="square" rtlCol="0" anchor="ctr"/>
          <a:lstStyle/>
          <a:p>
            <a:pPr algn="r" indent="0" marL="0">
              <a:buNone/>
            </a:pPr>
            <a:r>
              <a:rPr lang="en-US" sz="800" dirty="0">
                <a:solidFill>
                  <a:srgbClr val="999999"/>
                </a:solidFill>
                <a:latin typeface="Helvetica Neue" pitchFamily="34" charset="0"/>
                <a:ea typeface="Helvetica Neue" pitchFamily="34" charset="-122"/>
                <a:cs typeface="Helvetica Neue" pitchFamily="34" charset="-120"/>
              </a:rPr>
              <a:t>18/18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Lens Project — Investor Deck v5</dc:title>
  <dc:subject>PptxGenJS Presentation</dc:subject>
  <dc:creator>Eric Zelman</dc:creator>
  <cp:lastModifiedBy>Eric Zelman</cp:lastModifiedBy>
  <cp:revision>1</cp:revision>
  <dcterms:created xsi:type="dcterms:W3CDTF">2026-03-22T14:12:23Z</dcterms:created>
  <dcterms:modified xsi:type="dcterms:W3CDTF">2026-03-22T14:12:23Z</dcterms:modified>
</cp:coreProperties>
</file>